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OF 2 — 90 minutes.
ASSUMES ONLY SESSION 1 — nothing from any earlier Git module.
WHAT THEY CAN DO BY THE END:
- Raise a Pull Request and respond to review comments professionally
- Resolve a merge conflict calmly, without deleting anyone's work
- Follow the daily routine a real team expects from day one
BEFORE CLASS — the repo must be in the exact state Session 1 left it:
  ~/gitdemo/TL_campuscart   on feature/order-history, 1 commit, pushed
  ~/gitdemo/DEV_campuscart  on feature/product-search, 1 commit, pushed
  GitHub shows 3 branches, main has only the initial commit
  git config --global pull.rebase false   &lt;-- WITHOUT THIS, 'git pull' ABORTS in DEMO 12
If your Session 1 repo is gone, rebuild it in 5 minutes from the Session 1 demo notes.
OPENING LINE:
"Last time we split one project into two branches. Today we put it back together —
and I promise you it will break in the middle. That is the point."
PACING — this session is tight (~89 min of content in a 90 min slot).
The conflict sequence (slides 14-19) is the reason this session exists. Protect it.
If you are behind by the time you reach slide 12, drop in this order:
  1. Slide 12  Merge vs squash        (awareness only, costs nothing to skip)
  2. Slide 25  CLI vs IDE             (you can say it in one sentence instead)
  3. Slide 24  Who does what table    (it repeats Session 1 slide 9)
Never cut: 14 (predict), 16 (markers), 17 (resolve), 19 (merge --abort).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up the actual GitHub repo and the branch dropdown while this slide is on screen.
Seeing the real three branches re-anchors anyone who missed Session 1.
Quick recall questions to the room (do not answer them yourself):
- "Which branch does the customer actually see?" -&gt; main
- "Whose laptop has Arjun's search code right now?" -&gt; Arjun's, and GitHub. Not Meera's.
- "What is the rule about committing to main?" -&gt; never directly
If someone missed Session 1, the one-line catch-up:
"Two developers each made their own copy-line off the shared project, worked separately,
and uploaded those lines. Nothing has been combined yet."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the shortcut WORKS technically — students respect that more than pretending
it is impossible:
"Those three commands would genuinely put Arjun's code into main. Git would not stop him.
The reason he doesn't is not technical. It is that software is a team sport, and main
belongs to the team."
The line that reframes it from rule to benefit:
"Code review is not a test you pass. It is the team sharing responsibility. Once your code
is reviewed and merged, it is not YOUR bug any more — it is the team's. That protects you
more than it restricts you."
Number 4 matters for their future job: in most companies automated tests run on the PR.
Merging locally skips them completely.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 QUESTION. Say so.
Deal with the confusing name head-on, because every fresher trips on it:
"The name is backwards and it confuses everybody. You are not pulling anything.
You are REQUESTING that the maintainer pull YOUR branch into theirs. GitLab calls the same
thing a 'Merge Request', which honestly makes more sense."
Prove the Git-vs-GitHub point live if you have a terminal open:
  git pull-request
  -&gt; git: 'pull-request' is not a git command.
That single error is the clearest evidence of the distinction from Session 1.
Also mention: you will hear people say "raise a PR", "open a PR", "send a PR" — same thing.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from the slide. Open a REAL Pull Request on GitHub and walk the tabs
with your mouse. The slide is their reference for revision later.
Best option: open a PR on a well-known open-source repo so they see a busy, real one with
dozens of comments — it makes the point that this is how professional software is actually
built, not a classroom exercise.
Tab to spend time on: FILES CHANGED. Explain the diff colours:
  green / + = lines you added
  red / -   = lines you removed
"The reviewer does not read your whole project. They read only what changed. That is why
small PRs get reviewed in ten minutes and huge ones sit for three days."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DEV tab, then the browser. Say "I am Arjun" as you switch.
  git push        # shows "Everything up-to-date" — he already pushed in Session 1
Then on GitHub:
- The yellow "Compare &amp; pull request" banner appears for recently pushed branches.
  If it is gone: Pull requests -&gt; New pull request -&gt; pick the branches manually.
- CHECK base and compare carefully on the projector. Point at the arrow with the mouse.
- Title: "Add product search to catalog"
- Description: use the template on the next slide
- Reviewers -&gt; meera
- Create pull request
Then STOP and look at it together:
"Nothing has been merged. main has not changed. This is a proposal, sitting and waiting
for a human. Arjun can keep pushing to this branch and the PR keeps updating."
COMMON STUDENT QUESTION: "Can I close a PR?" Yes, any time, without merging. Nothing is lost —
the branch and commits stay.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save this template somewhere they will find it — it is genuinely the single
easiest way for a fresher to look professional in their first week.
"Your TL reviews six PRs a day. The one with a clear description gets reviewed first,
because it takes the least energy. That is not politics, that is just human."
THE 'HOW TO TEST' SECTION IS THE ONE THEY WILL SKIP. Push back on it now:
"Without this, the reviewer has to reverse-engineer how to even run your feature.
Three lines here saves them fifteen minutes. Do it every time."
Mention: many companies put this template in a file called
.github/PULL_REQUEST_TEMPLATE.md so it appears automatically in every new PR.
Nice detail to know — and a nice thing to add to their capstone repo.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on GitHub, as Meera. Switch accounts or just announce the switch.
  PR -&gt; Files changed -&gt; hover the line number -&gt; blue + -&gt; write the comment
  -&gt; Start a review -&gt; Review changes -&gt; Request changes -&gt; Submit review
Show that the comment attaches to THAT EXACT LINE. That specificity is the whole value:
"She is not saying 'your code is bad'. She is saying 'line 2, here is a concrete improvement.'
That is what a good review looks like."
MODEL A GOOD COMMENT — read it out and dissect it:
- It is about the code, never the person
- It says WHY (change without a deploy), not just what
- It ends with something positive ("Rest looks good!")
CONTRAST with a bad review comment: "this is wrong, fix it". Ask the class which one they
would rather receive at 6 PM. They will get the point immediately.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freshers genuinely lose confidence over their first
"Request changes", and some stop raising PRs at all. Head it off directly.
SAY THIS — it lands every time:
"Your first PR will get comments. Your tenth PR will get comments. My PRs get comments.
If a PR gets zero comments, usually it means nobody read it properly — that is the bad outcome,
not the good one."
Tell a short story of a review comment you received that made your code better.
A trainer admitting they get review comments does more than any slide here.
Also give them permission to push back:
"If you think the reviewer is wrong, say so politely with your reasoning. Reviews are a
discussion, not an order. Sometimes the author wins — and that is a healthy team."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SURPRISES STUDENTS EVERY SINGLE TIME. Build it up. ***
Before you push, ASK THE ROOM:
"Arjun has fixed the code. Does he now close this PR and open a new one?"
Most will say yes, or look unsure. Then push, refresh the PR in the browser, and let them
watch the new commit appear inside the SAME PR.
  [DEV tab]
  # edit campuscart/search.py
  git add campuscart/search.py
  git commit -m "Move page size to settings"
  git push
THE SENTENCE: "A Pull Request points at a branch. Keep pushing to the branch and the PR
follows you. You will fix review comments five times on one PR — it is always the same PR."
Then do the etiquette bit on GitHub, it matters in a real job:
- Reply to the comment: "Good catch — moved to settings.PAGE_SIZE"
- Resolve conversation
- Re-request review (the circular arrow next to the reviewer's name)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Meera's branch (order-history) FIRST — this is what sets up the conflict later.
Merge order matters for the rest of the session.
On GitHub: Approve -&gt; Merge pull request -&gt; Confirm -&gt; Delete branch.
Then in the TL terminal:
  git switch main
  git pull
  git log --oneline
VERIFIED OUTPUT:
  deb9467 Merge pull request #1 from feature/order-history
  8974ca0 Add order history view and route
  de088a3 Initial commit: CampusCart skeleton with gitignore
POINT AT THE MERGE COMMIT: "That top line is the record. It says which PR this was, so in two
years someone can open that PR and read the entire discussion behind this code."
REASSURE ON DELETION: "Deleting a merged branch deletes nothing real. The commits live in
main. The branch name was just a label, and the label's job is finished."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 is a "be aware" slide, not a deep dive. Do not let it turn into a
rebase discussion; that is a later module.
The argument that makes it click:
"Your branch history is honest and messy — 'wip', 'fix typo', 'actually fix typo'.
Nobody in the future needs that. They need one line: 'Add product search to catalog'.
Squash gives main the clean story and leaves the mess on your branch."
If asked "which will my company use?" — say honestly: it varies, the team decides once and
everyone follows it. Ask your TL on day one; it is a normal question.
DO NOT go into rebase today. If someone asks, one line: "Another way to combine branches,
you will meet it later. Merge is what teams start with."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REAL, VERIFIED GIT BEHAVIOUR — and a brilliant teaching moment. Do it live. ***
  [DEV tab]
  git switch main
  # Git says: "Your branch is up to date with 'origin/main'."   &lt;-- point at this
  git pull
  # Updating de088a3..deb9467 / Fast-forward
Stop on the contradiction and ask the room:
"Git just told me I am up to date. Then I pulled and got new code. Was Git lying?"
THE EXPLANATION:
"Git is offline by default. 'origin/main' is Git's memory of GitHub from the last time it
looked. It is up to date with its MEMORY, not with reality. Only fetch and pull go to the
network."
WHY THIS MATTERS PRACTICALLY: this is how students branch off a week-old main and then
wonder why they get conflicts. Connect it to Session 1 Rule 3.
THE HABIT — make them repeat it: "Pull main before you branch. Every time."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 NOT SKIP THIS SLIDE. Predict-then-reveal is what makes conflicts stick. ***
Take an actual show of hands for each of the three options. Count them out loud.
Usually the room splits, and a few will guess "Arjun's work is lost" — that fear is
exactly what you are about to cure.
Let 2-3 students explain their reasoning before you reveal anything. Do not correct them yet.
Remind them of the seed you planted in Session 1 Demo 4:
"Remember I told you to hold that thought — both of them added a line to urls.py.
This is the moment."
THE ANSWER (next slide): GitHub blocks the merge and says there are conflicts.
Nothing is lost. Nothing is broken. Git just refuses to guess.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 the real PR page. Scroll to the merge box so they see the grey, disabled button.
SAY THIS FIRST, before any explanation — it is the single most useful sentence about conflicts:
"A merge conflict is not a mistake. It is not an error. It is Git refusing to guess."
Reframe it as a compliment to the tool:
"Imagine the alternative. Imagine Git silently picked one version and threw the other away.
THAT would be a disaster — exactly the zip-file problem from Session 1. Stopping is the
feature, not the bug."
Answer the fear directly, out loud:
"Arjun's work is not lost. It is safe on his branch, exactly as he wrote it. Meera's work is
safe in main. Both exist. We just have to say what the combined file should look like."
Note honestly: conflicts happen maybe once a week in a real team. Common enough to learn
properly, not common enough to fear.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captured from this exact scenario. Type it on screen if you can.
Walk the file top to bottom with your finger. Say each part out loud:
  &lt;&lt;&lt;&lt;&lt;&lt;&lt; HEAD        "mine starts here"
  =======             "divider"
  &gt;&gt;&gt;&gt;&gt;&gt;&gt; origin/main "theirs ended here"
MAKE THEM SEE IT IS JUST TEXT:
"Git has not done anything magic. It edited your file and put these markers in as plain text.
Your editor will highlight them, but they are just characters. You delete them by hand,
like any other typing."
Now ask the important question: "Looking at this file — what SHOULD the final version be?"
Answer: BOTH routes. The orders route AND the search route. CampusCart needs both features.
Warn them about the classic panic move:
"Under pressure people delete one whole block to make the red go away. That silently throws
away a teammate's feature. Never do that — read both sides first."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the DEV tab. Go slowly — this is the skill they are actually here for.
  git switch feature/product-search
  git fetch origin
  git merge origin/main
  git status --short          # UU campuscart/urls.py
  # open urls.py, keep BOTH imports and BOTH routes, delete &lt;&lt;&lt;&lt;&lt;&lt;&lt; ======= &gt;&gt;&gt;&gt;&gt;&gt;&gt;
  git add campuscart/urls.py
  git commit -m "Merge main into feature/product-search; keep both routes"
  git push
Then REFRESH THE PR: the red banner is gone, the merge button is green. Big moment — pause on it.
*** WHY fetch + merge AND NOT 'git pull origin main' ***
On Git 2.34+ with no pull.rebase configured, 'git pull origin main' does NOT merge. It aborts:
  fatal: Need to specify how to reconcile divergent branches.
Two ways to avoid embarrassing yourself live:
  (a) teach fetch + merge, as on this slide — always works, and it is clearer anyway
      (fetch = download, merge = combine; pull is just those two in one command), or
  (b) run once: git config --global pull.rebase false
Do (b) before class AND teach (a). Then either command works if a student types the other.
NOTE the extra merge commit this creates on the branch — that is normal and expected.
TIME: 8 min. This is the longest demo. Budget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write these three questions down. They will use them in their first month at work.
The red box is the real lesson of this slide. Say it as a story:
"Under pressure, a fresher sees red markers, panics, deletes everything that is not theirs,
commits, and the file is 'fixed'. Two days later a senior developer asks why their feature
disappeared from main. Nobody can explain it. Do not be that person — read both sides."
WHEN YOU ARE GENUINELY UNSURE — give them the professional answer:
"If you cannot tell what the combined file should be, do not guess. Run git merge --abort,
then walk over and ask the person who wrote the other half. Thirty seconds of asking beats
an hour of archaeology."
Mention VS Code / PyCharm show 'Accept Current / Accept Incoming / Accept Both' buttons —
Accept Both is usually what you want, but only after you have READ both.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pure confidence-building. It converts "conflicts are scary" into
"conflicts are a thing I can back out of".
Demo it live — it takes 20 seconds and it is worth it:
  git merge origin/main     # conflict appears, markers in the file
  git status                # UU
  git merge --abort
  git status                # clean
  cat campuscart/urls.py    # markers GONE, file back to normal
VERIFIED: the file returns to exactly its pre-merge state.
THE SENTENCE THEY SHOULD LEAVE WITH:
"You cannot break anything by STARTING a merge. You are never trapped. Type merge --abort
and you are back where you began."
Mention git reflog exists as the deeper safety net for 'I destroyed everything' moments —
name it only, do not teach it today. Just plant that recovery is possible so they know to
search for it instead of panicking.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it live on the real repo: Settings -&gt; Branches -&gt; Add rule.
Demo the payoff if you have two minutes — it is very satisfying:
  git switch main
  # make any small edit
  git commit -am "sneaky direct commit"
  git push
  -&gt; ! [remote rejected] main -&gt; main (protected branch hook declined)
"The rule is now physics. It does not matter how sure you are, or how small the change is,
or how late it is. GitHub says no."
THE POINT TO LAND: "This is why professional teams are not nervous. It is not that everyone
is careful all the time — it is that the dangerous paths are closed."
PORTFOLIO TIP, say it explicitly: turning on branch protection and using PRs on your own
capstone repo makes a fresher's GitHub look like a professional's. It costs one minute.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these as stories, not as a list. If you have your own versions from real projects,
use yours — they are always better than mine.
Number 1 is the one with real consequences. Be blunt:
"A student pushed a repo with live AWS keys in it. Bots scan public GitHub for exactly that,
constantly. The keys were being used to mine cryptocurrency within minutes, and the bill
was real money."
Number 3 — explain WHY force-push is destructive: it rewrites history on the remote, so
commits other people already pulled simply vanish from the shared timeline.
Number 4 is the one THEY will commit. Say it directly:
"You will want to finish the whole feature and raise one giant PR. Do not. Small PRs get
reviewed today. Big PRs get reviewed on Friday, if at all."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back to Demo 1 in Session 1, where you wrote .gitignore BEFORE the first commit.
That was not housekeeping — it was this.
THE ORDER OF OPERATIONS MATTERS. Say it clearly:
"If you leak a password, your FIRST action is to change the password. Not to delete the
commit. Not to make the repo private. Change the credential — because you must assume a bot
already has it. Cleaning history comes after, and it is the easy part."
Why 'delete the file' does not work — make it concrete:
"Git's entire purpose is to remember every version. You are asking the tool whose one job
is 'never forget' to forget. It will not."
Mention .env.example properly: commit the KEYS with blank values so teammates know what
variables they need, never the values themselves.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Literally ask them to take a photo. This is the slide they will look at during their first
week on the job.
Walk it once, fast, pointing at each box. Then walk it again and ask THEM to call out the
next step. That repetition is what turns it into muscle memory.
THE TWO STEPS PEOPLE SKIP — call them out by name:
- Step 2 (pull before branching). Skipping it is how you create conflicts for yourself.
- Step 9 (pull main after merging). Skipping it is how you start tomorrow on stale code.
Both mistakes are the same mistake: working against a version of the project that no longer
exists.
Note that step 4 — writing the actual code — is ONE box out of nine. Say it with a smile:
"Eight of these nine steps are collaboration, not typing code. That is what a software job
actually is."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LAST line of the TL column — it matters more than the rest:
"The TL is not a person who only reviews. They write features on branches and raise PRs
exactly like you do, and their PRs get reviewed too. The difference is responsibility for
main, not privilege."
Then point at the DEV column: "Every line here is something you can start doing this week
on your capstone. None of it needs a job title."
Good moment for a question: "Which of these six DEV items do you think you will find hardest?"
Usually the honest answer is "fixing review comments without ego" — worth discussing for a
minute if it comes up.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can tell them the reason you made them suffer through the terminal:
"Every one of those buttons runs exactly the command on the left. Nothing more. You have
spent two sessions learning what the buttons DO — so the GUI will feel obvious instead of
magical."
The honest professional framing:
"Most developers use the IDE for day-to-day commits and the terminal when something goes
wrong. You now have both. Starting with the GUI would have given you only half."
PREVIEW NEXT SESSION: PyCharm / VS Code Git panel — branch switching, staging individual
lines (a genuinely nice GUI advantage), the visual three-way merge editor for conflicts,
and the history/graph view.
Tell them to keep using the CLI for another week or two before switching. The commands need
to be in their fingers first.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quiz, not a reading. Cover the right-hand column with a sheet of paper or a
PowerPoint shape, ask the question, let students answer, then reveal.
BONUS QUESTIONS you will get in real interviews:
- "Difference between git merge and git rebase?" -&gt; Merge keeps both histories and adds a
  merge commit. Rebase replays your commits on top of the other branch for a straight line.
  Freshers: know the difference exists, say you have used merge.
- "What does git clone do that downloading a zip does not?" -&gt; brings the entire history and
  a live connection to the remote.
- "Two people edit the same file — is that a conflict?" -&gt; Not necessarily. Only if they
  changed the SAME LINES. Different parts of a file merge automatically. This one catches
  a lot of candidates.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is deliberately designed so the conflict is UNAVOIDABLE — both partners
must edit the same line. Students will not seek out a conflict voluntarily; this forces the
practice while they still have you to ask.
Warn them about the sequencing, or half the class will get stuck:
"Both of you raise your PR BEFORE either one is merged. If you merge the first one and only
then create the second branch, there is no conflict and you have missed the whole point."
Marking guide, if you need one:
  3 marks  both PRs merged with an approval
  3 marks  conflict genuinely resolved with BOTH changes kept
  2 marks  branch protection enabled
  2 marks  clean repo — .gitignore correct, no venv, no .env, readable commit messages
CLOSING LINE FOR THE WHOLE MODULE:
"Two sessions ago you were emailing zip files. You can now share a codebase with another
person, review their work, and recover when it collides. That is not a student skill.
That is the job."
TIME: 3 min +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640080" y="1051560"/>
            <a:ext cx="5486400" cy="274320"/>
          </a:xfrm>
          <a:prstGeom prst="rect">
            <a:avLst/>
          </a:prstGeom>
          <a:noFill/>
          <a:ln/>
        </p:spPr>
        <p:txBody>
          <a:bodyPr wrap="square" lIns="0" tIns="0" rIns="0" bIns="0" rtlCol="0" anchor="ctr"/>
          <a:lstStyle/>
          <a:p>
            <a:pPr indent="0" marL="0">
              <a:buNone/>
            </a:pPr>
            <a:r>
              <a:rPr lang="en-US" sz="1100" b="1" spc="250" kern="0" dirty="0">
                <a:solidFill>
                  <a:srgbClr val="7B3FD4"/>
                </a:solidFill>
                <a:latin typeface="Arial" pitchFamily="34" charset="0"/>
                <a:ea typeface="Arial" pitchFamily="34" charset="-122"/>
                <a:cs typeface="Arial" pitchFamily="34" charset="-120"/>
              </a:rPr>
              <a:t>SESSION 2 OF 2</a:t>
            </a:r>
            <a:endParaRPr lang="en-US" sz="1100" dirty="0"/>
          </a:p>
        </p:txBody>
      </p:sp>
      <p:sp>
        <p:nvSpPr>
          <p:cNvPr id="3" name="Text 1"/>
          <p:cNvSpPr txBox="1"/>
          <p:nvPr/>
        </p:nvSpPr>
        <p:spPr>
          <a:xfrm>
            <a:off x="640080" y="1371600"/>
            <a:ext cx="5120640" cy="137160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Getting the work</a:t>
            </a:r>
            <a:endParaRPr lang="en-US" sz="3800" dirty="0"/>
          </a:p>
          <a:p>
            <a:pPr indent="0" marL="0">
              <a:lnSpc>
                <a:spcPct val="105000"/>
              </a:lnSpc>
              <a:buNone/>
            </a:pPr>
            <a:r>
              <a:rPr lang="en-US" sz="3800" b="1" dirty="0">
                <a:solidFill>
                  <a:srgbClr val="FFFFFF"/>
                </a:solidFill>
                <a:latin typeface="Arial" pitchFamily="34" charset="0"/>
                <a:ea typeface="Arial" pitchFamily="34" charset="-122"/>
                <a:cs typeface="Arial" pitchFamily="34" charset="-120"/>
              </a:rPr>
              <a:t>back into main</a:t>
            </a:r>
            <a:endParaRPr lang="en-US" sz="3800" dirty="0"/>
          </a:p>
        </p:txBody>
      </p:sp>
      <p:sp>
        <p:nvSpPr>
          <p:cNvPr id="4" name="Text 2"/>
          <p:cNvSpPr txBox="1"/>
          <p:nvPr/>
        </p:nvSpPr>
        <p:spPr>
          <a:xfrm>
            <a:off x="640080" y="2834640"/>
            <a:ext cx="4937760" cy="548640"/>
          </a:xfrm>
          <a:prstGeom prst="rect">
            <a:avLst/>
          </a:prstGeom>
          <a:noFill/>
          <a:ln/>
        </p:spPr>
        <p:txBody>
          <a:bodyPr wrap="square" lIns="0" tIns="0" rIns="0" bIns="0" rtlCol="0" anchor="ctr"/>
          <a:lstStyle/>
          <a:p>
            <a:pPr indent="0" marL="0">
              <a:lnSpc>
                <a:spcPct val="120000"/>
              </a:lnSpc>
              <a:buNone/>
            </a:pPr>
            <a:r>
              <a:rPr lang="en-US" sz="1400" dirty="0">
                <a:solidFill>
                  <a:srgbClr val="8B949E"/>
                </a:solidFill>
                <a:latin typeface="Calibri" pitchFamily="34" charset="0"/>
                <a:ea typeface="Calibri" pitchFamily="34" charset="-122"/>
                <a:cs typeface="Calibri" pitchFamily="34" charset="-120"/>
              </a:rPr>
              <a:t>Pull Requests, code review, and the day two people edit the same file.</a:t>
            </a:r>
            <a:endParaRPr lang="en-US" sz="1400" dirty="0"/>
          </a:p>
        </p:txBody>
      </p:sp>
      <p:sp>
        <p:nvSpPr>
          <p:cNvPr id="5" name="Shape 3"/>
          <p:cNvSpPr/>
          <p:nvPr/>
        </p:nvSpPr>
        <p:spPr>
          <a:xfrm>
            <a:off x="5897880" y="1143000"/>
            <a:ext cx="2743200" cy="2788920"/>
          </a:xfrm>
          <a:prstGeom prst="roundRect">
            <a:avLst>
              <a:gd name="adj" fmla="val 1667"/>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6" name="Shape 4"/>
          <p:cNvSpPr/>
          <p:nvPr/>
        </p:nvSpPr>
        <p:spPr>
          <a:xfrm>
            <a:off x="6035040" y="1275588"/>
            <a:ext cx="77724" cy="77724"/>
          </a:xfrm>
          <a:prstGeom prst="ellipse">
            <a:avLst/>
          </a:prstGeom>
          <a:solidFill>
            <a:srgbClr val="FF5F56"/>
          </a:solidFill>
          <a:ln w="12700">
            <a:solidFill>
              <a:srgbClr val="FF5F56"/>
            </a:solidFill>
            <a:prstDash val="solid"/>
          </a:ln>
        </p:spPr>
      </p:sp>
      <p:sp>
        <p:nvSpPr>
          <p:cNvPr id="7" name="Shape 5"/>
          <p:cNvSpPr/>
          <p:nvPr/>
        </p:nvSpPr>
        <p:spPr>
          <a:xfrm>
            <a:off x="6176772" y="1275588"/>
            <a:ext cx="77724" cy="77724"/>
          </a:xfrm>
          <a:prstGeom prst="ellipse">
            <a:avLst/>
          </a:prstGeom>
          <a:solidFill>
            <a:srgbClr val="FFBD2E"/>
          </a:solidFill>
          <a:ln w="12700">
            <a:solidFill>
              <a:srgbClr val="FFBD2E"/>
            </a:solidFill>
            <a:prstDash val="solid"/>
          </a:ln>
        </p:spPr>
      </p:sp>
      <p:sp>
        <p:nvSpPr>
          <p:cNvPr id="8" name="Shape 6"/>
          <p:cNvSpPr/>
          <p:nvPr/>
        </p:nvSpPr>
        <p:spPr>
          <a:xfrm>
            <a:off x="6318504" y="1275588"/>
            <a:ext cx="77724" cy="77724"/>
          </a:xfrm>
          <a:prstGeom prst="ellipse">
            <a:avLst/>
          </a:prstGeom>
          <a:solidFill>
            <a:srgbClr val="27C93F"/>
          </a:solidFill>
          <a:ln w="12700">
            <a:solidFill>
              <a:srgbClr val="27C93F"/>
            </a:solidFill>
            <a:prstDash val="solid"/>
          </a:ln>
        </p:spPr>
      </p:sp>
      <p:sp>
        <p:nvSpPr>
          <p:cNvPr id="9" name="Text 7"/>
          <p:cNvSpPr txBox="1"/>
          <p:nvPr/>
        </p:nvSpPr>
        <p:spPr>
          <a:xfrm>
            <a:off x="6464808" y="1220724"/>
            <a:ext cx="20574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urls.py</a:t>
            </a:r>
            <a:endParaRPr lang="en-US" sz="850" dirty="0"/>
          </a:p>
        </p:txBody>
      </p:sp>
      <p:sp>
        <p:nvSpPr>
          <p:cNvPr id="10" name="Text 8"/>
          <p:cNvSpPr txBox="1"/>
          <p:nvPr/>
        </p:nvSpPr>
        <p:spPr>
          <a:xfrm>
            <a:off x="6099048" y="1508760"/>
            <a:ext cx="2340864" cy="2286000"/>
          </a:xfrm>
          <a:prstGeom prst="rect">
            <a:avLst/>
          </a:prstGeom>
          <a:noFill/>
          <a:ln/>
        </p:spPr>
        <p:txBody>
          <a:bodyPr wrap="square" lIns="0" tIns="0" rIns="0" bIns="0" rtlCol="0" anchor="t"/>
          <a:lstStyle/>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&lt;&lt;&lt;&lt;&lt;&lt;&lt; HEAD</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path("search/",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search.product_search)</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path("orders/",</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orders.order_history)</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&gt;&gt;&gt;&gt;&gt;&gt;&gt; origin/main</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Do not panic.</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Nothing is lost.</a:t>
            </a:r>
            <a:endParaRPr lang="en-US" sz="950" dirty="0"/>
          </a:p>
        </p:txBody>
      </p:sp>
      <p:sp>
        <p:nvSpPr>
          <p:cNvPr id="11" name="Text 9"/>
          <p:cNvSpPr txBox="1"/>
          <p:nvPr/>
        </p:nvSpPr>
        <p:spPr>
          <a:xfrm>
            <a:off x="640080" y="4389120"/>
            <a:ext cx="5486400" cy="274320"/>
          </a:xfrm>
          <a:prstGeom prst="rect">
            <a:avLst/>
          </a:prstGeom>
          <a:noFill/>
          <a:ln/>
        </p:spPr>
        <p:txBody>
          <a:bodyPr wrap="square" lIns="0" tIns="0" rIns="0" bIns="0" rtlCol="0" anchor="ctr"/>
          <a:lstStyle/>
          <a:p>
            <a:pPr indent="0" marL="0">
              <a:buNone/>
            </a:pPr>
            <a:r>
              <a:rPr lang="en-US" sz="1000" i="1" dirty="0">
                <a:solidFill>
                  <a:srgbClr val="5A6572"/>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WHERE WE STOPPED</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Two branches, both pushed, main untouched</a:t>
            </a:r>
            <a:endParaRPr lang="en-US" sz="2900" dirty="0"/>
          </a:p>
        </p:txBody>
      </p:sp>
      <p:sp>
        <p:nvSpPr>
          <p:cNvPr id="4" name="Shape 2"/>
          <p:cNvSpPr/>
          <p:nvPr/>
        </p:nvSpPr>
        <p:spPr>
          <a:xfrm>
            <a:off x="1097280" y="2743200"/>
            <a:ext cx="2011680" cy="0"/>
          </a:xfrm>
          <a:prstGeom prst="line">
            <a:avLst/>
          </a:prstGeom>
          <a:noFill/>
          <a:ln w="38100">
            <a:solidFill>
              <a:srgbClr val="D5DCE3"/>
            </a:solidFill>
            <a:prstDash val="solid"/>
          </a:ln>
        </p:spPr>
      </p:sp>
      <p:sp>
        <p:nvSpPr>
          <p:cNvPr id="5" name="Shape 3"/>
          <p:cNvSpPr/>
          <p:nvPr/>
        </p:nvSpPr>
        <p:spPr>
          <a:xfrm>
            <a:off x="1234440" y="2578608"/>
            <a:ext cx="329184" cy="329184"/>
          </a:xfrm>
          <a:prstGeom prst="ellipse">
            <a:avLst/>
          </a:prstGeom>
          <a:solidFill>
            <a:srgbClr val="5A6572"/>
          </a:solidFill>
          <a:ln w="12700">
            <a:solidFill>
              <a:srgbClr val="5A6572"/>
            </a:solidFill>
            <a:prstDash val="solid"/>
          </a:ln>
        </p:spPr>
      </p:sp>
      <p:sp>
        <p:nvSpPr>
          <p:cNvPr id="6" name="Shape 4"/>
          <p:cNvSpPr/>
          <p:nvPr/>
        </p:nvSpPr>
        <p:spPr>
          <a:xfrm>
            <a:off x="3108960" y="2743200"/>
            <a:ext cx="2194560" cy="-731520"/>
          </a:xfrm>
          <a:prstGeom prst="line">
            <a:avLst/>
          </a:prstGeom>
          <a:noFill/>
          <a:ln w="38100">
            <a:solidFill>
              <a:srgbClr val="E04A29"/>
            </a:solidFill>
            <a:prstDash val="solid"/>
          </a:ln>
        </p:spPr>
      </p:sp>
      <p:sp>
        <p:nvSpPr>
          <p:cNvPr id="7" name="Shape 5"/>
          <p:cNvSpPr/>
          <p:nvPr/>
        </p:nvSpPr>
        <p:spPr>
          <a:xfrm>
            <a:off x="3108960" y="2743200"/>
            <a:ext cx="2194560" cy="731520"/>
          </a:xfrm>
          <a:prstGeom prst="line">
            <a:avLst/>
          </a:prstGeom>
          <a:noFill/>
          <a:ln w="38100">
            <a:solidFill>
              <a:srgbClr val="7B3FD4"/>
            </a:solidFill>
            <a:prstDash val="solid"/>
          </a:ln>
        </p:spPr>
      </p:sp>
      <p:sp>
        <p:nvSpPr>
          <p:cNvPr id="8" name="Shape 6"/>
          <p:cNvSpPr/>
          <p:nvPr/>
        </p:nvSpPr>
        <p:spPr>
          <a:xfrm>
            <a:off x="5138928" y="1847088"/>
            <a:ext cx="329184" cy="329184"/>
          </a:xfrm>
          <a:prstGeom prst="ellipse">
            <a:avLst/>
          </a:prstGeom>
          <a:solidFill>
            <a:srgbClr val="E04A29"/>
          </a:solidFill>
          <a:ln w="12700">
            <a:solidFill>
              <a:srgbClr val="E04A29"/>
            </a:solidFill>
            <a:prstDash val="solid"/>
          </a:ln>
        </p:spPr>
      </p:sp>
      <p:sp>
        <p:nvSpPr>
          <p:cNvPr id="9" name="Shape 7"/>
          <p:cNvSpPr/>
          <p:nvPr/>
        </p:nvSpPr>
        <p:spPr>
          <a:xfrm>
            <a:off x="5138928" y="3310128"/>
            <a:ext cx="329184" cy="329184"/>
          </a:xfrm>
          <a:prstGeom prst="ellipse">
            <a:avLst/>
          </a:prstGeom>
          <a:solidFill>
            <a:srgbClr val="7B3FD4"/>
          </a:solidFill>
          <a:ln w="12700">
            <a:solidFill>
              <a:srgbClr val="7B3FD4"/>
            </a:solidFill>
            <a:prstDash val="solid"/>
          </a:ln>
        </p:spPr>
      </p:sp>
      <p:sp>
        <p:nvSpPr>
          <p:cNvPr id="10" name="Shape 8"/>
          <p:cNvSpPr/>
          <p:nvPr/>
        </p:nvSpPr>
        <p:spPr>
          <a:xfrm>
            <a:off x="5715000" y="1828800"/>
            <a:ext cx="2103120" cy="365760"/>
          </a:xfrm>
          <a:prstGeom prst="roundRect">
            <a:avLst>
              <a:gd name="adj" fmla="val 20000"/>
            </a:avLst>
          </a:prstGeom>
          <a:solidFill>
            <a:srgbClr val="E04A29"/>
          </a:solidFill>
          <a:ln w="12700">
            <a:solidFill>
              <a:srgbClr val="E04A29"/>
            </a:solidFill>
            <a:prstDash val="solid"/>
          </a:ln>
        </p:spPr>
      </p:sp>
      <p:sp>
        <p:nvSpPr>
          <p:cNvPr id="11" name="Text 9"/>
          <p:cNvSpPr txBox="1"/>
          <p:nvPr/>
        </p:nvSpPr>
        <p:spPr>
          <a:xfrm>
            <a:off x="5715000" y="1828800"/>
            <a:ext cx="210312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feature/order-history</a:t>
            </a:r>
            <a:endParaRPr lang="en-US" sz="900" dirty="0"/>
          </a:p>
        </p:txBody>
      </p:sp>
      <p:sp>
        <p:nvSpPr>
          <p:cNvPr id="12" name="Shape 10"/>
          <p:cNvSpPr/>
          <p:nvPr/>
        </p:nvSpPr>
        <p:spPr>
          <a:xfrm>
            <a:off x="5715000" y="3291840"/>
            <a:ext cx="2103120" cy="365760"/>
          </a:xfrm>
          <a:prstGeom prst="roundRect">
            <a:avLst>
              <a:gd name="adj" fmla="val 20000"/>
            </a:avLst>
          </a:prstGeom>
          <a:solidFill>
            <a:srgbClr val="7B3FD4"/>
          </a:solidFill>
          <a:ln w="12700">
            <a:solidFill>
              <a:srgbClr val="7B3FD4"/>
            </a:solidFill>
            <a:prstDash val="solid"/>
          </a:ln>
        </p:spPr>
      </p:sp>
      <p:sp>
        <p:nvSpPr>
          <p:cNvPr id="13" name="Text 11"/>
          <p:cNvSpPr txBox="1"/>
          <p:nvPr/>
        </p:nvSpPr>
        <p:spPr>
          <a:xfrm>
            <a:off x="5715000" y="3291840"/>
            <a:ext cx="210312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feature/product-search</a:t>
            </a:r>
            <a:endParaRPr lang="en-US" sz="900" dirty="0"/>
          </a:p>
        </p:txBody>
      </p:sp>
      <p:sp>
        <p:nvSpPr>
          <p:cNvPr id="14" name="Shape 12"/>
          <p:cNvSpPr/>
          <p:nvPr/>
        </p:nvSpPr>
        <p:spPr>
          <a:xfrm>
            <a:off x="3200400" y="2560320"/>
            <a:ext cx="914400" cy="365760"/>
          </a:xfrm>
          <a:prstGeom prst="roundRect">
            <a:avLst>
              <a:gd name="adj" fmla="val 20000"/>
            </a:avLst>
          </a:prstGeom>
          <a:solidFill>
            <a:srgbClr val="1F8A42"/>
          </a:solidFill>
          <a:ln w="12700">
            <a:solidFill>
              <a:srgbClr val="1F8A42"/>
            </a:solidFill>
            <a:prstDash val="solid"/>
          </a:ln>
        </p:spPr>
      </p:sp>
      <p:sp>
        <p:nvSpPr>
          <p:cNvPr id="15" name="Text 13"/>
          <p:cNvSpPr txBox="1"/>
          <p:nvPr/>
        </p:nvSpPr>
        <p:spPr>
          <a:xfrm>
            <a:off x="3200400" y="2560320"/>
            <a:ext cx="9144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main</a:t>
            </a:r>
            <a:endParaRPr lang="en-US" sz="1050" dirty="0"/>
          </a:p>
        </p:txBody>
      </p:sp>
      <p:sp>
        <p:nvSpPr>
          <p:cNvPr id="16" name="Text 14"/>
          <p:cNvSpPr txBox="1"/>
          <p:nvPr/>
        </p:nvSpPr>
        <p:spPr>
          <a:xfrm>
            <a:off x="502920" y="1417320"/>
            <a:ext cx="8183880" cy="274320"/>
          </a:xfrm>
          <a:prstGeom prst="rect">
            <a:avLst/>
          </a:prstGeom>
          <a:noFill/>
          <a:ln/>
        </p:spPr>
        <p:txBody>
          <a:bodyPr wrap="square" lIns="0" tIns="0" rIns="0" bIns="0" rtlCol="0" anchor="ctr"/>
          <a:lstStyle/>
          <a:p>
            <a:pPr algn="ctr" indent="0" marL="0">
              <a:buNone/>
            </a:pPr>
            <a:r>
              <a:rPr lang="en-US" sz="1300" dirty="0">
                <a:solidFill>
                  <a:srgbClr val="5A6572"/>
                </a:solidFill>
                <a:latin typeface="Calibri" pitchFamily="34" charset="0"/>
                <a:ea typeface="Calibri" pitchFamily="34" charset="-122"/>
                <a:cs typeface="Calibri" pitchFamily="34" charset="-120"/>
              </a:rPr>
              <a:t>Meera finished order history. Arjun finished product search. Both work. Neither is in the product yet.</a:t>
            </a:r>
            <a:endParaRPr lang="en-US" sz="1300" dirty="0"/>
          </a:p>
        </p:txBody>
      </p:sp>
      <p:sp>
        <p:nvSpPr>
          <p:cNvPr id="17" name="Shape 15"/>
          <p:cNvSpPr/>
          <p:nvPr/>
        </p:nvSpPr>
        <p:spPr>
          <a:xfrm>
            <a:off x="502920" y="4023360"/>
            <a:ext cx="8183880" cy="548640"/>
          </a:xfrm>
          <a:prstGeom prst="roundRect">
            <a:avLst>
              <a:gd name="adj" fmla="val 10000"/>
            </a:avLst>
          </a:prstGeom>
          <a:solidFill>
            <a:srgbClr val="16191D"/>
          </a:solidFill>
          <a:ln w="12700">
            <a:solidFill>
              <a:srgbClr val="16191D"/>
            </a:solidFill>
            <a:prstDash val="solid"/>
          </a:ln>
        </p:spPr>
      </p:sp>
      <p:sp>
        <p:nvSpPr>
          <p:cNvPr id="18" name="Text 16"/>
          <p:cNvSpPr txBox="1"/>
          <p:nvPr/>
        </p:nvSpPr>
        <p:spPr>
          <a:xfrm>
            <a:off x="777240" y="4023360"/>
            <a:ext cx="777240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Today's question: how do those two lines become one project again — safely?</a:t>
            </a:r>
            <a:endParaRPr lang="en-US" sz="1400" dirty="0"/>
          </a:p>
        </p:txBody>
      </p:sp>
      <p:sp>
        <p:nvSpPr>
          <p:cNvPr id="19" name="Text 17"/>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THE TEMPTING SHORTCUT</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"I will just merge it into main myself"</a:t>
            </a:r>
            <a:endParaRPr lang="en-US" sz="2900" dirty="0"/>
          </a:p>
        </p:txBody>
      </p:sp>
      <p:sp>
        <p:nvSpPr>
          <p:cNvPr id="4" name="Shape 2"/>
          <p:cNvSpPr/>
          <p:nvPr/>
        </p:nvSpPr>
        <p:spPr>
          <a:xfrm>
            <a:off x="502920" y="1371600"/>
            <a:ext cx="3977640" cy="1371600"/>
          </a:xfrm>
          <a:prstGeom prst="roundRect">
            <a:avLst>
              <a:gd name="adj" fmla="val 3333"/>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329184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technically possible...</a:t>
            </a:r>
            <a:endParaRPr lang="en-US" sz="850" dirty="0"/>
          </a:p>
        </p:txBody>
      </p:sp>
      <p:sp>
        <p:nvSpPr>
          <p:cNvPr id="9" name="Text 7"/>
          <p:cNvSpPr txBox="1"/>
          <p:nvPr/>
        </p:nvSpPr>
        <p:spPr>
          <a:xfrm>
            <a:off x="704088" y="1737360"/>
            <a:ext cx="3575304" cy="868680"/>
          </a:xfrm>
          <a:prstGeom prst="rect">
            <a:avLst/>
          </a:prstGeom>
          <a:noFill/>
          <a:ln/>
        </p:spPr>
        <p:txBody>
          <a:bodyPr wrap="square" lIns="0" tIns="0" rIns="0" bIns="0" rtlCol="0" anchor="t"/>
          <a:lstStyle/>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switch main</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merge feature/product-search</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push</a:t>
            </a:r>
            <a:endParaRPr lang="en-US" sz="1000" dirty="0"/>
          </a:p>
          <a:p>
            <a:pPr indent="0" marL="0">
              <a:lnSpc>
                <a:spcPct val="122000"/>
              </a:lnSpc>
              <a:buNone/>
            </a:pPr>
            <a:r>
              <a:rPr lang="en-US" sz="1000" i="1" dirty="0">
                <a:solidFill>
                  <a:srgbClr val="6E7681"/>
                </a:solidFill>
                <a:latin typeface="Courier New" pitchFamily="34" charset="0"/>
                <a:ea typeface="Courier New" pitchFamily="34" charset="-122"/>
                <a:cs typeface="Courier New" pitchFamily="34" charset="-120"/>
              </a:rPr>
              <a:t># done in 5 seconds</a:t>
            </a:r>
            <a:endParaRPr lang="en-US" sz="1000" dirty="0"/>
          </a:p>
        </p:txBody>
      </p:sp>
      <p:sp>
        <p:nvSpPr>
          <p:cNvPr id="10" name="Shape 8"/>
          <p:cNvSpPr/>
          <p:nvPr/>
        </p:nvSpPr>
        <p:spPr>
          <a:xfrm>
            <a:off x="4709160" y="1371600"/>
            <a:ext cx="3977640" cy="1371600"/>
          </a:xfrm>
          <a:prstGeom prst="roundRect">
            <a:avLst>
              <a:gd name="adj" fmla="val 4000"/>
            </a:avLst>
          </a:prstGeom>
          <a:solidFill>
            <a:srgbClr val="FBECEC"/>
          </a:solidFill>
          <a:ln w="12700">
            <a:solidFill>
              <a:srgbClr val="F0C9C9"/>
            </a:solidFill>
            <a:prstDash val="solid"/>
          </a:ln>
        </p:spPr>
      </p:sp>
      <p:sp>
        <p:nvSpPr>
          <p:cNvPr id="11" name="Text 9"/>
          <p:cNvSpPr txBox="1"/>
          <p:nvPr/>
        </p:nvSpPr>
        <p:spPr>
          <a:xfrm>
            <a:off x="4983480" y="1508760"/>
            <a:ext cx="3474720" cy="1097280"/>
          </a:xfrm>
          <a:prstGeom prst="rect">
            <a:avLst/>
          </a:prstGeom>
          <a:noFill/>
          <a:ln/>
        </p:spPr>
        <p:txBody>
          <a:bodyPr wrap="square" lIns="0" tIns="0" rIns="0" bIns="0" rtlCol="0" anchor="ctr"/>
          <a:lstStyle/>
          <a:p>
            <a:pPr indent="0" marL="0">
              <a:lnSpc>
                <a:spcPct val="125000"/>
              </a:lnSpc>
              <a:buNone/>
            </a:pPr>
            <a:r>
              <a:rPr lang="en-US" sz="1500" b="1" dirty="0">
                <a:solidFill>
                  <a:srgbClr val="C1211F"/>
                </a:solidFill>
                <a:latin typeface="Arial" pitchFamily="34" charset="0"/>
                <a:ea typeface="Arial" pitchFamily="34" charset="-122"/>
                <a:cs typeface="Arial" pitchFamily="34" charset="-120"/>
              </a:rPr>
              <a:t>...and in a real team, this gets you a very serious conversation.</a:t>
            </a:r>
            <a:endParaRPr lang="en-US" sz="1500" dirty="0"/>
          </a:p>
        </p:txBody>
      </p:sp>
      <p:sp>
        <p:nvSpPr>
          <p:cNvPr id="12" name="Shape 10"/>
          <p:cNvSpPr/>
          <p:nvPr/>
        </p:nvSpPr>
        <p:spPr>
          <a:xfrm>
            <a:off x="502920" y="2926080"/>
            <a:ext cx="3977640" cy="749808"/>
          </a:xfrm>
          <a:prstGeom prst="roundRect">
            <a:avLst>
              <a:gd name="adj" fmla="val 7317"/>
            </a:avLst>
          </a:prstGeom>
          <a:solidFill>
            <a:srgbClr val="F3F5F7"/>
          </a:solidFill>
          <a:ln w="12700">
            <a:solidFill>
              <a:srgbClr val="D5DCE3"/>
            </a:solidFill>
            <a:prstDash val="solid"/>
          </a:ln>
        </p:spPr>
      </p:sp>
      <p:sp>
        <p:nvSpPr>
          <p:cNvPr id="13" name="Text 11"/>
          <p:cNvSpPr txBox="1"/>
          <p:nvPr/>
        </p:nvSpPr>
        <p:spPr>
          <a:xfrm>
            <a:off x="685800" y="3008376"/>
            <a:ext cx="3657600" cy="256032"/>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Nobody read your code</a:t>
            </a:r>
            <a:endParaRPr lang="en-US" sz="1250" dirty="0"/>
          </a:p>
        </p:txBody>
      </p:sp>
      <p:sp>
        <p:nvSpPr>
          <p:cNvPr id="14" name="Text 12"/>
          <p:cNvSpPr txBox="1"/>
          <p:nvPr/>
        </p:nvSpPr>
        <p:spPr>
          <a:xfrm>
            <a:off x="685800" y="3273552"/>
            <a:ext cx="3657600" cy="347472"/>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Bugs that a second pair of eyes catches in 30 seconds go straight to customers.</a:t>
            </a:r>
            <a:endParaRPr lang="en-US" sz="1050" dirty="0"/>
          </a:p>
        </p:txBody>
      </p:sp>
      <p:sp>
        <p:nvSpPr>
          <p:cNvPr id="15" name="Shape 13"/>
          <p:cNvSpPr/>
          <p:nvPr/>
        </p:nvSpPr>
        <p:spPr>
          <a:xfrm>
            <a:off x="4709160" y="2926080"/>
            <a:ext cx="3977640" cy="749808"/>
          </a:xfrm>
          <a:prstGeom prst="roundRect">
            <a:avLst>
              <a:gd name="adj" fmla="val 7317"/>
            </a:avLst>
          </a:prstGeom>
          <a:solidFill>
            <a:srgbClr val="F3F5F7"/>
          </a:solidFill>
          <a:ln w="12700">
            <a:solidFill>
              <a:srgbClr val="D5DCE3"/>
            </a:solidFill>
            <a:prstDash val="solid"/>
          </a:ln>
        </p:spPr>
      </p:sp>
      <p:sp>
        <p:nvSpPr>
          <p:cNvPr id="16" name="Text 14"/>
          <p:cNvSpPr txBox="1"/>
          <p:nvPr/>
        </p:nvSpPr>
        <p:spPr>
          <a:xfrm>
            <a:off x="4892040" y="3008376"/>
            <a:ext cx="3657600" cy="256032"/>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No record of the decision</a:t>
            </a:r>
            <a:endParaRPr lang="en-US" sz="1250" dirty="0"/>
          </a:p>
        </p:txBody>
      </p:sp>
      <p:sp>
        <p:nvSpPr>
          <p:cNvPr id="17" name="Text 15"/>
          <p:cNvSpPr txBox="1"/>
          <p:nvPr/>
        </p:nvSpPr>
        <p:spPr>
          <a:xfrm>
            <a:off x="4892040" y="3273552"/>
            <a:ext cx="3657600" cy="347472"/>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Six months later nobody can say why this approach was chosen.</a:t>
            </a:r>
            <a:endParaRPr lang="en-US" sz="1050" dirty="0"/>
          </a:p>
        </p:txBody>
      </p:sp>
      <p:sp>
        <p:nvSpPr>
          <p:cNvPr id="18" name="Shape 16"/>
          <p:cNvSpPr/>
          <p:nvPr/>
        </p:nvSpPr>
        <p:spPr>
          <a:xfrm>
            <a:off x="502920" y="3794760"/>
            <a:ext cx="3977640" cy="749808"/>
          </a:xfrm>
          <a:prstGeom prst="roundRect">
            <a:avLst>
              <a:gd name="adj" fmla="val 7317"/>
            </a:avLst>
          </a:prstGeom>
          <a:solidFill>
            <a:srgbClr val="F3F5F7"/>
          </a:solidFill>
          <a:ln w="12700">
            <a:solidFill>
              <a:srgbClr val="D5DCE3"/>
            </a:solidFill>
            <a:prstDash val="solid"/>
          </a:ln>
        </p:spPr>
      </p:sp>
      <p:sp>
        <p:nvSpPr>
          <p:cNvPr id="19" name="Text 17"/>
          <p:cNvSpPr txBox="1"/>
          <p:nvPr/>
        </p:nvSpPr>
        <p:spPr>
          <a:xfrm>
            <a:off x="685800" y="3877056"/>
            <a:ext cx="3657600" cy="256032"/>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No chance to discuss</a:t>
            </a:r>
            <a:endParaRPr lang="en-US" sz="1250" dirty="0"/>
          </a:p>
        </p:txBody>
      </p:sp>
      <p:sp>
        <p:nvSpPr>
          <p:cNvPr id="20" name="Text 18"/>
          <p:cNvSpPr txBox="1"/>
          <p:nvPr/>
        </p:nvSpPr>
        <p:spPr>
          <a:xfrm>
            <a:off x="685800" y="4142232"/>
            <a:ext cx="3657600" cy="347472"/>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The TL may know this duplicates a helper that already exists.</a:t>
            </a:r>
            <a:endParaRPr lang="en-US" sz="1050" dirty="0"/>
          </a:p>
        </p:txBody>
      </p:sp>
      <p:sp>
        <p:nvSpPr>
          <p:cNvPr id="21" name="Shape 19"/>
          <p:cNvSpPr/>
          <p:nvPr/>
        </p:nvSpPr>
        <p:spPr>
          <a:xfrm>
            <a:off x="4709160" y="3794760"/>
            <a:ext cx="3977640" cy="749808"/>
          </a:xfrm>
          <a:prstGeom prst="roundRect">
            <a:avLst>
              <a:gd name="adj" fmla="val 7317"/>
            </a:avLst>
          </a:prstGeom>
          <a:solidFill>
            <a:srgbClr val="F3F5F7"/>
          </a:solidFill>
          <a:ln w="12700">
            <a:solidFill>
              <a:srgbClr val="D5DCE3"/>
            </a:solidFill>
            <a:prstDash val="solid"/>
          </a:ln>
        </p:spPr>
      </p:sp>
      <p:sp>
        <p:nvSpPr>
          <p:cNvPr id="22" name="Text 20"/>
          <p:cNvSpPr txBox="1"/>
          <p:nvPr/>
        </p:nvSpPr>
        <p:spPr>
          <a:xfrm>
            <a:off x="4892040" y="3877056"/>
            <a:ext cx="3657600" cy="256032"/>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No safety gate</a:t>
            </a:r>
            <a:endParaRPr lang="en-US" sz="1250" dirty="0"/>
          </a:p>
        </p:txBody>
      </p:sp>
      <p:sp>
        <p:nvSpPr>
          <p:cNvPr id="23" name="Text 21"/>
          <p:cNvSpPr txBox="1"/>
          <p:nvPr/>
        </p:nvSpPr>
        <p:spPr>
          <a:xfrm>
            <a:off x="4892040" y="4142232"/>
            <a:ext cx="3657600" cy="347472"/>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Tests, checks and QA are skipped entirely. main can break for everyone.</a:t>
            </a:r>
            <a:endParaRPr lang="en-US" sz="1050" dirty="0"/>
          </a:p>
        </p:txBody>
      </p:sp>
      <p:sp>
        <p:nvSpPr>
          <p:cNvPr id="24" name="Text 22"/>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THE SINGLE MOST IMPORTANT WORD TODAY</a:t>
            </a:r>
            <a:endParaRPr lang="en-US" sz="1000" dirty="0"/>
          </a:p>
        </p:txBody>
      </p:sp>
      <p:sp>
        <p:nvSpPr>
          <p:cNvPr id="3" name="Text 1"/>
          <p:cNvSpPr txBox="1"/>
          <p:nvPr/>
        </p:nvSpPr>
        <p:spPr>
          <a:xfrm>
            <a:off x="640080" y="1188720"/>
            <a:ext cx="7863840" cy="1600200"/>
          </a:xfrm>
          <a:prstGeom prst="rect">
            <a:avLst/>
          </a:prstGeom>
          <a:noFill/>
          <a:ln/>
        </p:spPr>
        <p:txBody>
          <a:bodyPr wrap="square" lIns="0" tIns="0" rIns="0" bIns="0" rtlCol="0" anchor="ctr"/>
          <a:lstStyle/>
          <a:p>
            <a:pPr indent="0" marL="0">
              <a:lnSpc>
                <a:spcPct val="125000"/>
              </a:lnSpc>
              <a:buNone/>
            </a:pPr>
            <a:r>
              <a:rPr lang="en-US" sz="2400" b="1" dirty="0">
                <a:solidFill>
                  <a:srgbClr val="FFFFFF"/>
                </a:solidFill>
                <a:latin typeface="Arial" pitchFamily="34" charset="0"/>
                <a:ea typeface="Arial" pitchFamily="34" charset="-122"/>
                <a:cs typeface="Arial" pitchFamily="34" charset="-120"/>
              </a:rPr>
              <a:t>A Pull Request is you asking the team:</a:t>
            </a:r>
            <a:endParaRPr lang="en-US" sz="2400" dirty="0"/>
          </a:p>
          <a:p>
            <a:pPr indent="0" marL="0">
              <a:lnSpc>
                <a:spcPct val="125000"/>
              </a:lnSpc>
              <a:buNone/>
            </a:pPr>
            <a:r>
              <a:rPr lang="en-US" sz="2400" b="1" dirty="0">
                <a:solidFill>
                  <a:srgbClr val="FFFFFF"/>
                </a:solidFill>
                <a:latin typeface="Arial" pitchFamily="34" charset="0"/>
                <a:ea typeface="Arial" pitchFamily="34" charset="-122"/>
                <a:cs typeface="Arial" pitchFamily="34" charset="-120"/>
              </a:rPr>
              <a:t>"Please review my branch and,</a:t>
            </a:r>
            <a:endParaRPr lang="en-US" sz="2400" dirty="0"/>
          </a:p>
          <a:p>
            <a:pPr indent="0" marL="0">
              <a:lnSpc>
                <a:spcPct val="125000"/>
              </a:lnSpc>
              <a:buNone/>
            </a:pPr>
            <a:r>
              <a:rPr lang="en-US" sz="2400" b="1" dirty="0">
                <a:solidFill>
                  <a:srgbClr val="FFFFFF"/>
                </a:solidFill>
                <a:latin typeface="Arial" pitchFamily="34" charset="0"/>
                <a:ea typeface="Arial" pitchFamily="34" charset="-122"/>
                <a:cs typeface="Arial" pitchFamily="34" charset="-120"/>
              </a:rPr>
              <a:t>if you agree, put it into main."</a:t>
            </a:r>
            <a:endParaRPr lang="en-US" sz="2400" dirty="0"/>
          </a:p>
        </p:txBody>
      </p:sp>
      <p:sp>
        <p:nvSpPr>
          <p:cNvPr id="4" name="Shape 2"/>
          <p:cNvSpPr/>
          <p:nvPr/>
        </p:nvSpPr>
        <p:spPr>
          <a:xfrm>
            <a:off x="640080" y="3017520"/>
            <a:ext cx="2468880" cy="1051560"/>
          </a:xfrm>
          <a:prstGeom prst="roundRect">
            <a:avLst>
              <a:gd name="adj" fmla="val 5217"/>
            </a:avLst>
          </a:prstGeom>
          <a:solidFill>
            <a:srgbClr val="20252B"/>
          </a:solidFill>
          <a:ln w="12700">
            <a:solidFill>
              <a:srgbClr val="3A424C"/>
            </a:solidFill>
            <a:prstDash val="solid"/>
          </a:ln>
        </p:spPr>
      </p:sp>
      <p:sp>
        <p:nvSpPr>
          <p:cNvPr id="5" name="Text 3"/>
          <p:cNvSpPr txBox="1"/>
          <p:nvPr/>
        </p:nvSpPr>
        <p:spPr>
          <a:xfrm>
            <a:off x="841248" y="3154680"/>
            <a:ext cx="2103120" cy="274320"/>
          </a:xfrm>
          <a:prstGeom prst="rect">
            <a:avLst/>
          </a:prstGeom>
          <a:noFill/>
          <a:ln/>
        </p:spPr>
        <p:txBody>
          <a:bodyPr wrap="square" lIns="0" tIns="0" rIns="0" bIns="0" rtlCol="0" anchor="ctr"/>
          <a:lstStyle/>
          <a:p>
            <a:pPr indent="0" marL="0">
              <a:buNone/>
            </a:pPr>
            <a:r>
              <a:rPr lang="en-US" sz="1350" b="1" dirty="0">
                <a:solidFill>
                  <a:srgbClr val="C4A5F5"/>
                </a:solidFill>
                <a:latin typeface="Arial" pitchFamily="34" charset="0"/>
                <a:ea typeface="Arial" pitchFamily="34" charset="-122"/>
                <a:cs typeface="Arial" pitchFamily="34" charset="-120"/>
              </a:rPr>
              <a:t>A request</a:t>
            </a:r>
            <a:endParaRPr lang="en-US" sz="1350" dirty="0"/>
          </a:p>
        </p:txBody>
      </p:sp>
      <p:sp>
        <p:nvSpPr>
          <p:cNvPr id="6" name="Text 4"/>
          <p:cNvSpPr txBox="1"/>
          <p:nvPr/>
        </p:nvSpPr>
        <p:spPr>
          <a:xfrm>
            <a:off x="841248" y="3456432"/>
            <a:ext cx="2103120" cy="502920"/>
          </a:xfrm>
          <a:prstGeom prst="rect">
            <a:avLst/>
          </a:prstGeom>
          <a:noFill/>
          <a:ln/>
        </p:spPr>
        <p:txBody>
          <a:bodyPr wrap="square" lIns="0" tIns="0" rIns="0" bIns="0" rtlCol="0" anchor="ctr"/>
          <a:lstStyle/>
          <a:p>
            <a:pPr indent="0" marL="0">
              <a:lnSpc>
                <a:spcPct val="120000"/>
              </a:lnSpc>
              <a:buNone/>
            </a:pPr>
            <a:r>
              <a:rPr lang="en-US" sz="1100" dirty="0">
                <a:solidFill>
                  <a:srgbClr val="C9D1D9"/>
                </a:solidFill>
                <a:latin typeface="Calibri" pitchFamily="34" charset="0"/>
                <a:ea typeface="Calibri" pitchFamily="34" charset="-122"/>
                <a:cs typeface="Calibri" pitchFamily="34" charset="-120"/>
              </a:rPr>
              <a:t>Merge my branch into main</a:t>
            </a:r>
            <a:endParaRPr lang="en-US" sz="1100" dirty="0"/>
          </a:p>
        </p:txBody>
      </p:sp>
      <p:sp>
        <p:nvSpPr>
          <p:cNvPr id="7" name="Shape 5"/>
          <p:cNvSpPr/>
          <p:nvPr/>
        </p:nvSpPr>
        <p:spPr>
          <a:xfrm>
            <a:off x="3337560" y="3017520"/>
            <a:ext cx="2468880" cy="1051560"/>
          </a:xfrm>
          <a:prstGeom prst="roundRect">
            <a:avLst>
              <a:gd name="adj" fmla="val 5217"/>
            </a:avLst>
          </a:prstGeom>
          <a:solidFill>
            <a:srgbClr val="20252B"/>
          </a:solidFill>
          <a:ln w="12700">
            <a:solidFill>
              <a:srgbClr val="3A424C"/>
            </a:solidFill>
            <a:prstDash val="solid"/>
          </a:ln>
        </p:spPr>
      </p:sp>
      <p:sp>
        <p:nvSpPr>
          <p:cNvPr id="8" name="Text 6"/>
          <p:cNvSpPr txBox="1"/>
          <p:nvPr/>
        </p:nvSpPr>
        <p:spPr>
          <a:xfrm>
            <a:off x="3538728" y="3154680"/>
            <a:ext cx="2103120" cy="274320"/>
          </a:xfrm>
          <a:prstGeom prst="rect">
            <a:avLst/>
          </a:prstGeom>
          <a:noFill/>
          <a:ln/>
        </p:spPr>
        <p:txBody>
          <a:bodyPr wrap="square" lIns="0" tIns="0" rIns="0" bIns="0" rtlCol="0" anchor="ctr"/>
          <a:lstStyle/>
          <a:p>
            <a:pPr indent="0" marL="0">
              <a:buNone/>
            </a:pPr>
            <a:r>
              <a:rPr lang="en-US" sz="1350" b="1" dirty="0">
                <a:solidFill>
                  <a:srgbClr val="C4A5F5"/>
                </a:solidFill>
                <a:latin typeface="Arial" pitchFamily="34" charset="0"/>
                <a:ea typeface="Arial" pitchFamily="34" charset="-122"/>
                <a:cs typeface="Arial" pitchFamily="34" charset="-120"/>
              </a:rPr>
              <a:t>A conversation</a:t>
            </a:r>
            <a:endParaRPr lang="en-US" sz="1350" dirty="0"/>
          </a:p>
        </p:txBody>
      </p:sp>
      <p:sp>
        <p:nvSpPr>
          <p:cNvPr id="9" name="Text 7"/>
          <p:cNvSpPr txBox="1"/>
          <p:nvPr/>
        </p:nvSpPr>
        <p:spPr>
          <a:xfrm>
            <a:off x="3538728" y="3456432"/>
            <a:ext cx="2103120" cy="502920"/>
          </a:xfrm>
          <a:prstGeom prst="rect">
            <a:avLst/>
          </a:prstGeom>
          <a:noFill/>
          <a:ln/>
        </p:spPr>
        <p:txBody>
          <a:bodyPr wrap="square" lIns="0" tIns="0" rIns="0" bIns="0" rtlCol="0" anchor="ctr"/>
          <a:lstStyle/>
          <a:p>
            <a:pPr indent="0" marL="0">
              <a:lnSpc>
                <a:spcPct val="120000"/>
              </a:lnSpc>
              <a:buNone/>
            </a:pPr>
            <a:r>
              <a:rPr lang="en-US" sz="1100" dirty="0">
                <a:solidFill>
                  <a:srgbClr val="C9D1D9"/>
                </a:solidFill>
                <a:latin typeface="Calibri" pitchFamily="34" charset="0"/>
                <a:ea typeface="Calibri" pitchFamily="34" charset="-122"/>
                <a:cs typeface="Calibri" pitchFamily="34" charset="-120"/>
              </a:rPr>
              <a:t>Comments, questions, changes</a:t>
            </a:r>
            <a:endParaRPr lang="en-US" sz="1100" dirty="0"/>
          </a:p>
        </p:txBody>
      </p:sp>
      <p:sp>
        <p:nvSpPr>
          <p:cNvPr id="10" name="Shape 8"/>
          <p:cNvSpPr/>
          <p:nvPr/>
        </p:nvSpPr>
        <p:spPr>
          <a:xfrm>
            <a:off x="6035040" y="3017520"/>
            <a:ext cx="2468880" cy="1051560"/>
          </a:xfrm>
          <a:prstGeom prst="roundRect">
            <a:avLst>
              <a:gd name="adj" fmla="val 5217"/>
            </a:avLst>
          </a:prstGeom>
          <a:solidFill>
            <a:srgbClr val="20252B"/>
          </a:solidFill>
          <a:ln w="12700">
            <a:solidFill>
              <a:srgbClr val="3A424C"/>
            </a:solidFill>
            <a:prstDash val="solid"/>
          </a:ln>
        </p:spPr>
      </p:sp>
      <p:sp>
        <p:nvSpPr>
          <p:cNvPr id="11" name="Text 9"/>
          <p:cNvSpPr txBox="1"/>
          <p:nvPr/>
        </p:nvSpPr>
        <p:spPr>
          <a:xfrm>
            <a:off x="6236208" y="3154680"/>
            <a:ext cx="2103120" cy="274320"/>
          </a:xfrm>
          <a:prstGeom prst="rect">
            <a:avLst/>
          </a:prstGeom>
          <a:noFill/>
          <a:ln/>
        </p:spPr>
        <p:txBody>
          <a:bodyPr wrap="square" lIns="0" tIns="0" rIns="0" bIns="0" rtlCol="0" anchor="ctr"/>
          <a:lstStyle/>
          <a:p>
            <a:pPr indent="0" marL="0">
              <a:buNone/>
            </a:pPr>
            <a:r>
              <a:rPr lang="en-US" sz="1350" b="1" dirty="0">
                <a:solidFill>
                  <a:srgbClr val="C4A5F5"/>
                </a:solidFill>
                <a:latin typeface="Arial" pitchFamily="34" charset="0"/>
                <a:ea typeface="Arial" pitchFamily="34" charset="-122"/>
                <a:cs typeface="Arial" pitchFamily="34" charset="-120"/>
              </a:rPr>
              <a:t>A permanent record</a:t>
            </a:r>
            <a:endParaRPr lang="en-US" sz="1350" dirty="0"/>
          </a:p>
        </p:txBody>
      </p:sp>
      <p:sp>
        <p:nvSpPr>
          <p:cNvPr id="12" name="Text 10"/>
          <p:cNvSpPr txBox="1"/>
          <p:nvPr/>
        </p:nvSpPr>
        <p:spPr>
          <a:xfrm>
            <a:off x="6236208" y="3456432"/>
            <a:ext cx="2103120" cy="502920"/>
          </a:xfrm>
          <a:prstGeom prst="rect">
            <a:avLst/>
          </a:prstGeom>
          <a:noFill/>
          <a:ln/>
        </p:spPr>
        <p:txBody>
          <a:bodyPr wrap="square" lIns="0" tIns="0" rIns="0" bIns="0" rtlCol="0" anchor="ctr"/>
          <a:lstStyle/>
          <a:p>
            <a:pPr indent="0" marL="0">
              <a:lnSpc>
                <a:spcPct val="120000"/>
              </a:lnSpc>
              <a:buNone/>
            </a:pPr>
            <a:r>
              <a:rPr lang="en-US" sz="1100" dirty="0">
                <a:solidFill>
                  <a:srgbClr val="C9D1D9"/>
                </a:solidFill>
                <a:latin typeface="Calibri" pitchFamily="34" charset="0"/>
                <a:ea typeface="Calibri" pitchFamily="34" charset="-122"/>
                <a:cs typeface="Calibri" pitchFamily="34" charset="-120"/>
              </a:rPr>
              <a:t>Who approved what, and when</a:t>
            </a:r>
            <a:endParaRPr lang="en-US" sz="1100" dirty="0"/>
          </a:p>
        </p:txBody>
      </p:sp>
      <p:sp>
        <p:nvSpPr>
          <p:cNvPr id="13" name="Text 11"/>
          <p:cNvSpPr txBox="1"/>
          <p:nvPr/>
        </p:nvSpPr>
        <p:spPr>
          <a:xfrm>
            <a:off x="640080" y="4206240"/>
            <a:ext cx="7863840" cy="292608"/>
          </a:xfrm>
          <a:prstGeom prst="rect">
            <a:avLst/>
          </a:prstGeom>
          <a:noFill/>
          <a:ln/>
        </p:spPr>
        <p:txBody>
          <a:bodyPr wrap="square" lIns="0" tIns="0" rIns="0" bIns="0" rtlCol="0" anchor="ctr"/>
          <a:lstStyle/>
          <a:p>
            <a:pPr indent="0" marL="0">
              <a:buNone/>
            </a:pPr>
            <a:r>
              <a:rPr lang="en-US" sz="1250" b="1" dirty="0">
                <a:solidFill>
                  <a:srgbClr val="FFAA64"/>
                </a:solidFill>
                <a:latin typeface="Calibri" pitchFamily="34" charset="0"/>
                <a:ea typeface="Calibri" pitchFamily="34" charset="-122"/>
                <a:cs typeface="Calibri" pitchFamily="34" charset="-120"/>
              </a:rPr>
              <a:t>There is no "git pull-request" command. A PR is a GitHub feature, not a Git feature.</a:t>
            </a:r>
            <a:endParaRPr lang="en-US" sz="1250" dirty="0"/>
          </a:p>
        </p:txBody>
      </p:sp>
      <p:sp>
        <p:nvSpPr>
          <p:cNvPr id="14" name="Text 12"/>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WHAT YOU WILL BE LOOKING AT</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Anatomy of a Pull Request</a:t>
            </a:r>
            <a:endParaRPr lang="en-US" sz="3000" dirty="0"/>
          </a:p>
        </p:txBody>
      </p:sp>
      <p:sp>
        <p:nvSpPr>
          <p:cNvPr id="4" name="Shape 2"/>
          <p:cNvSpPr/>
          <p:nvPr/>
        </p:nvSpPr>
        <p:spPr>
          <a:xfrm>
            <a:off x="502920" y="1325880"/>
            <a:ext cx="8183880" cy="3154680"/>
          </a:xfrm>
          <a:prstGeom prst="roundRect">
            <a:avLst>
              <a:gd name="adj" fmla="val 1739"/>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5" name="Text 3"/>
          <p:cNvSpPr txBox="1"/>
          <p:nvPr/>
        </p:nvSpPr>
        <p:spPr>
          <a:xfrm>
            <a:off x="777240" y="1463040"/>
            <a:ext cx="5029200" cy="320040"/>
          </a:xfrm>
          <a:prstGeom prst="rect">
            <a:avLst/>
          </a:prstGeom>
          <a:noFill/>
          <a:ln/>
        </p:spPr>
        <p:txBody>
          <a:bodyPr wrap="square" lIns="0" tIns="0" rIns="0" bIns="0" rtlCol="0" anchor="ctr"/>
          <a:lstStyle/>
          <a:p>
            <a:pPr indent="0" marL="0">
              <a:buNone/>
            </a:pPr>
            <a:r>
              <a:rPr lang="en-US" sz="1600" b="1" dirty="0">
                <a:solidFill>
                  <a:srgbClr val="16191D"/>
                </a:solidFill>
                <a:latin typeface="Arial" pitchFamily="34" charset="0"/>
                <a:ea typeface="Arial" pitchFamily="34" charset="-122"/>
                <a:cs typeface="Arial" pitchFamily="34" charset="-120"/>
              </a:rPr>
              <a:t>Add product search to catalog</a:t>
            </a:r>
            <a:endParaRPr lang="en-US" sz="1600" dirty="0"/>
          </a:p>
        </p:txBody>
      </p:sp>
      <p:sp>
        <p:nvSpPr>
          <p:cNvPr id="6" name="Shape 4"/>
          <p:cNvSpPr/>
          <p:nvPr/>
        </p:nvSpPr>
        <p:spPr>
          <a:xfrm>
            <a:off x="6035040" y="1481328"/>
            <a:ext cx="777240" cy="274320"/>
          </a:xfrm>
          <a:prstGeom prst="roundRect">
            <a:avLst>
              <a:gd name="adj" fmla="val 26667"/>
            </a:avLst>
          </a:prstGeom>
          <a:solidFill>
            <a:srgbClr val="1F8A42"/>
          </a:solidFill>
          <a:ln w="12700">
            <a:solidFill>
              <a:srgbClr val="1F8A42"/>
            </a:solidFill>
            <a:prstDash val="solid"/>
          </a:ln>
        </p:spPr>
      </p:sp>
      <p:sp>
        <p:nvSpPr>
          <p:cNvPr id="7" name="Text 5"/>
          <p:cNvSpPr txBox="1"/>
          <p:nvPr/>
        </p:nvSpPr>
        <p:spPr>
          <a:xfrm>
            <a:off x="6035040" y="1481328"/>
            <a:ext cx="777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Open</a:t>
            </a:r>
            <a:endParaRPr lang="en-US" sz="1000" dirty="0"/>
          </a:p>
        </p:txBody>
      </p:sp>
      <p:sp>
        <p:nvSpPr>
          <p:cNvPr id="8" name="Text 6"/>
          <p:cNvSpPr txBox="1"/>
          <p:nvPr/>
        </p:nvSpPr>
        <p:spPr>
          <a:xfrm>
            <a:off x="777240" y="1828800"/>
            <a:ext cx="3108960" cy="256032"/>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arjun wants to merge 1 commit into</a:t>
            </a:r>
            <a:endParaRPr lang="en-US" sz="1050" dirty="0"/>
          </a:p>
        </p:txBody>
      </p:sp>
      <p:sp>
        <p:nvSpPr>
          <p:cNvPr id="9" name="Shape 7"/>
          <p:cNvSpPr/>
          <p:nvPr/>
        </p:nvSpPr>
        <p:spPr>
          <a:xfrm>
            <a:off x="3840480" y="1810512"/>
            <a:ext cx="685800" cy="274320"/>
          </a:xfrm>
          <a:prstGeom prst="roundRect">
            <a:avLst>
              <a:gd name="adj" fmla="val 26667"/>
            </a:avLst>
          </a:prstGeom>
          <a:solidFill>
            <a:srgbClr val="E9EDF1"/>
          </a:solidFill>
          <a:ln w="12700">
            <a:solidFill>
              <a:srgbClr val="E9EDF1"/>
            </a:solidFill>
            <a:prstDash val="solid"/>
          </a:ln>
        </p:spPr>
      </p:sp>
      <p:sp>
        <p:nvSpPr>
          <p:cNvPr id="10" name="Text 8"/>
          <p:cNvSpPr txBox="1"/>
          <p:nvPr/>
        </p:nvSpPr>
        <p:spPr>
          <a:xfrm>
            <a:off x="3840480" y="1810512"/>
            <a:ext cx="685800" cy="274320"/>
          </a:xfrm>
          <a:prstGeom prst="rect">
            <a:avLst/>
          </a:prstGeom>
          <a:noFill/>
          <a:ln/>
        </p:spPr>
        <p:txBody>
          <a:bodyPr wrap="square" lIns="0" tIns="0" rIns="0" bIns="0" rtlCol="0" anchor="ctr"/>
          <a:lstStyle/>
          <a:p>
            <a:pPr algn="ctr" indent="0" marL="0">
              <a:buNone/>
            </a:pPr>
            <a:r>
              <a:rPr lang="en-US" sz="1000" dirty="0">
                <a:solidFill>
                  <a:srgbClr val="16191D"/>
                </a:solidFill>
                <a:latin typeface="Courier New" pitchFamily="34" charset="0"/>
                <a:ea typeface="Courier New" pitchFamily="34" charset="-122"/>
                <a:cs typeface="Courier New" pitchFamily="34" charset="-120"/>
              </a:rPr>
              <a:t>main</a:t>
            </a:r>
            <a:endParaRPr lang="en-US" sz="1000" dirty="0"/>
          </a:p>
        </p:txBody>
      </p:sp>
      <p:sp>
        <p:nvSpPr>
          <p:cNvPr id="11" name="Text 9"/>
          <p:cNvSpPr txBox="1"/>
          <p:nvPr/>
        </p:nvSpPr>
        <p:spPr>
          <a:xfrm>
            <a:off x="4572000" y="1828800"/>
            <a:ext cx="457200" cy="256032"/>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from</a:t>
            </a:r>
            <a:endParaRPr lang="en-US" sz="1050" dirty="0"/>
          </a:p>
        </p:txBody>
      </p:sp>
      <p:sp>
        <p:nvSpPr>
          <p:cNvPr id="12" name="Shape 10"/>
          <p:cNvSpPr/>
          <p:nvPr/>
        </p:nvSpPr>
        <p:spPr>
          <a:xfrm>
            <a:off x="4983480" y="1810512"/>
            <a:ext cx="1783080" cy="274320"/>
          </a:xfrm>
          <a:prstGeom prst="roundRect">
            <a:avLst>
              <a:gd name="adj" fmla="val 26667"/>
            </a:avLst>
          </a:prstGeom>
          <a:solidFill>
            <a:srgbClr val="E9EDF1"/>
          </a:solidFill>
          <a:ln w="12700">
            <a:solidFill>
              <a:srgbClr val="E9EDF1"/>
            </a:solidFill>
            <a:prstDash val="solid"/>
          </a:ln>
        </p:spPr>
      </p:sp>
      <p:sp>
        <p:nvSpPr>
          <p:cNvPr id="13" name="Text 11"/>
          <p:cNvSpPr txBox="1"/>
          <p:nvPr/>
        </p:nvSpPr>
        <p:spPr>
          <a:xfrm>
            <a:off x="4983480" y="1810512"/>
            <a:ext cx="1783080" cy="274320"/>
          </a:xfrm>
          <a:prstGeom prst="rect">
            <a:avLst/>
          </a:prstGeom>
          <a:noFill/>
          <a:ln/>
        </p:spPr>
        <p:txBody>
          <a:bodyPr wrap="square" lIns="0" tIns="0" rIns="0" bIns="0" rtlCol="0" anchor="ctr"/>
          <a:lstStyle/>
          <a:p>
            <a:pPr algn="ctr" indent="0" marL="0">
              <a:buNone/>
            </a:pPr>
            <a:r>
              <a:rPr lang="en-US" sz="900" dirty="0">
                <a:solidFill>
                  <a:srgbClr val="16191D"/>
                </a:solidFill>
                <a:latin typeface="Courier New" pitchFamily="34" charset="0"/>
                <a:ea typeface="Courier New" pitchFamily="34" charset="-122"/>
                <a:cs typeface="Courier New" pitchFamily="34" charset="-120"/>
              </a:rPr>
              <a:t>feature/product-search</a:t>
            </a:r>
            <a:endParaRPr lang="en-US" sz="900" dirty="0"/>
          </a:p>
        </p:txBody>
      </p:sp>
      <p:sp>
        <p:nvSpPr>
          <p:cNvPr id="14" name="Shape 12"/>
          <p:cNvSpPr/>
          <p:nvPr/>
        </p:nvSpPr>
        <p:spPr>
          <a:xfrm>
            <a:off x="777240" y="2212848"/>
            <a:ext cx="1325880" cy="310896"/>
          </a:xfrm>
          <a:prstGeom prst="roundRect">
            <a:avLst>
              <a:gd name="adj" fmla="val 23529"/>
            </a:avLst>
          </a:prstGeom>
          <a:solidFill>
            <a:srgbClr val="F3F5F7"/>
          </a:solidFill>
          <a:ln w="12700">
            <a:solidFill>
              <a:srgbClr val="F3F5F7"/>
            </a:solidFill>
            <a:prstDash val="solid"/>
          </a:ln>
        </p:spPr>
      </p:sp>
      <p:sp>
        <p:nvSpPr>
          <p:cNvPr id="15" name="Text 13"/>
          <p:cNvSpPr txBox="1"/>
          <p:nvPr/>
        </p:nvSpPr>
        <p:spPr>
          <a:xfrm>
            <a:off x="777240" y="2212848"/>
            <a:ext cx="1325880" cy="310896"/>
          </a:xfrm>
          <a:prstGeom prst="rect">
            <a:avLst/>
          </a:prstGeom>
          <a:noFill/>
          <a:ln/>
        </p:spPr>
        <p:txBody>
          <a:bodyPr wrap="square" lIns="0" tIns="0" rIns="0" bIns="0" rtlCol="0" anchor="ctr"/>
          <a:lstStyle/>
          <a:p>
            <a:pPr algn="ctr" indent="0" marL="0">
              <a:buNone/>
            </a:pPr>
            <a:r>
              <a:rPr lang="en-US" sz="1000" dirty="0">
                <a:solidFill>
                  <a:srgbClr val="5A6572"/>
                </a:solidFill>
                <a:latin typeface="Calibri" pitchFamily="34" charset="0"/>
                <a:ea typeface="Calibri" pitchFamily="34" charset="-122"/>
                <a:cs typeface="Calibri" pitchFamily="34" charset="-120"/>
              </a:rPr>
              <a:t>Conversation</a:t>
            </a:r>
            <a:endParaRPr lang="en-US" sz="1000" dirty="0"/>
          </a:p>
        </p:txBody>
      </p:sp>
      <p:sp>
        <p:nvSpPr>
          <p:cNvPr id="16" name="Shape 14"/>
          <p:cNvSpPr/>
          <p:nvPr/>
        </p:nvSpPr>
        <p:spPr>
          <a:xfrm>
            <a:off x="2194560" y="2212848"/>
            <a:ext cx="1325880" cy="310896"/>
          </a:xfrm>
          <a:prstGeom prst="roundRect">
            <a:avLst>
              <a:gd name="adj" fmla="val 23529"/>
            </a:avLst>
          </a:prstGeom>
          <a:solidFill>
            <a:srgbClr val="F3F5F7"/>
          </a:solidFill>
          <a:ln w="12700">
            <a:solidFill>
              <a:srgbClr val="F3F5F7"/>
            </a:solidFill>
            <a:prstDash val="solid"/>
          </a:ln>
        </p:spPr>
      </p:sp>
      <p:sp>
        <p:nvSpPr>
          <p:cNvPr id="17" name="Text 15"/>
          <p:cNvSpPr txBox="1"/>
          <p:nvPr/>
        </p:nvSpPr>
        <p:spPr>
          <a:xfrm>
            <a:off x="2194560" y="2212848"/>
            <a:ext cx="1325880" cy="310896"/>
          </a:xfrm>
          <a:prstGeom prst="rect">
            <a:avLst/>
          </a:prstGeom>
          <a:noFill/>
          <a:ln/>
        </p:spPr>
        <p:txBody>
          <a:bodyPr wrap="square" lIns="0" tIns="0" rIns="0" bIns="0" rtlCol="0" anchor="ctr"/>
          <a:lstStyle/>
          <a:p>
            <a:pPr algn="ctr" indent="0" marL="0">
              <a:buNone/>
            </a:pPr>
            <a:r>
              <a:rPr lang="en-US" sz="1000" dirty="0">
                <a:solidFill>
                  <a:srgbClr val="5A6572"/>
                </a:solidFill>
                <a:latin typeface="Calibri" pitchFamily="34" charset="0"/>
                <a:ea typeface="Calibri" pitchFamily="34" charset="-122"/>
                <a:cs typeface="Calibri" pitchFamily="34" charset="-120"/>
              </a:rPr>
              <a:t>Commits</a:t>
            </a:r>
            <a:endParaRPr lang="en-US" sz="1000" dirty="0"/>
          </a:p>
        </p:txBody>
      </p:sp>
      <p:sp>
        <p:nvSpPr>
          <p:cNvPr id="18" name="Shape 16"/>
          <p:cNvSpPr/>
          <p:nvPr/>
        </p:nvSpPr>
        <p:spPr>
          <a:xfrm>
            <a:off x="3611880" y="2212848"/>
            <a:ext cx="1325880" cy="310896"/>
          </a:xfrm>
          <a:prstGeom prst="roundRect">
            <a:avLst>
              <a:gd name="adj" fmla="val 23529"/>
            </a:avLst>
          </a:prstGeom>
          <a:solidFill>
            <a:srgbClr val="F3F5F7"/>
          </a:solidFill>
          <a:ln w="12700">
            <a:solidFill>
              <a:srgbClr val="F3F5F7"/>
            </a:solidFill>
            <a:prstDash val="solid"/>
          </a:ln>
        </p:spPr>
      </p:sp>
      <p:sp>
        <p:nvSpPr>
          <p:cNvPr id="19" name="Text 17"/>
          <p:cNvSpPr txBox="1"/>
          <p:nvPr/>
        </p:nvSpPr>
        <p:spPr>
          <a:xfrm>
            <a:off x="3611880" y="2212848"/>
            <a:ext cx="1325880" cy="310896"/>
          </a:xfrm>
          <a:prstGeom prst="rect">
            <a:avLst/>
          </a:prstGeom>
          <a:noFill/>
          <a:ln/>
        </p:spPr>
        <p:txBody>
          <a:bodyPr wrap="square" lIns="0" tIns="0" rIns="0" bIns="0" rtlCol="0" anchor="ctr"/>
          <a:lstStyle/>
          <a:p>
            <a:pPr algn="ctr" indent="0" marL="0">
              <a:buNone/>
            </a:pPr>
            <a:r>
              <a:rPr lang="en-US" sz="1000" dirty="0">
                <a:solidFill>
                  <a:srgbClr val="5A6572"/>
                </a:solidFill>
                <a:latin typeface="Calibri" pitchFamily="34" charset="0"/>
                <a:ea typeface="Calibri" pitchFamily="34" charset="-122"/>
                <a:cs typeface="Calibri" pitchFamily="34" charset="-120"/>
              </a:rPr>
              <a:t>Checks</a:t>
            </a:r>
            <a:endParaRPr lang="en-US" sz="1000" dirty="0"/>
          </a:p>
        </p:txBody>
      </p:sp>
      <p:sp>
        <p:nvSpPr>
          <p:cNvPr id="20" name="Shape 18"/>
          <p:cNvSpPr/>
          <p:nvPr/>
        </p:nvSpPr>
        <p:spPr>
          <a:xfrm>
            <a:off x="5029200" y="2212848"/>
            <a:ext cx="1325880" cy="310896"/>
          </a:xfrm>
          <a:prstGeom prst="roundRect">
            <a:avLst>
              <a:gd name="adj" fmla="val 23529"/>
            </a:avLst>
          </a:prstGeom>
          <a:solidFill>
            <a:srgbClr val="7B3FD4"/>
          </a:solidFill>
          <a:ln w="12700">
            <a:solidFill>
              <a:srgbClr val="7B3FD4"/>
            </a:solidFill>
            <a:prstDash val="solid"/>
          </a:ln>
        </p:spPr>
      </p:sp>
      <p:sp>
        <p:nvSpPr>
          <p:cNvPr id="21" name="Text 19"/>
          <p:cNvSpPr txBox="1"/>
          <p:nvPr/>
        </p:nvSpPr>
        <p:spPr>
          <a:xfrm>
            <a:off x="5029200" y="2212848"/>
            <a:ext cx="13258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Files changed</a:t>
            </a:r>
            <a:endParaRPr lang="en-US" sz="1000" dirty="0"/>
          </a:p>
        </p:txBody>
      </p:sp>
      <p:sp>
        <p:nvSpPr>
          <p:cNvPr id="22" name="Text 20"/>
          <p:cNvSpPr txBox="1"/>
          <p:nvPr/>
        </p:nvSpPr>
        <p:spPr>
          <a:xfrm>
            <a:off x="777240" y="2697480"/>
            <a:ext cx="1280160" cy="457200"/>
          </a:xfrm>
          <a:prstGeom prst="rect">
            <a:avLst/>
          </a:prstGeom>
          <a:noFill/>
          <a:ln/>
        </p:spPr>
        <p:txBody>
          <a:bodyPr wrap="square" lIns="0" tIns="0" rIns="0" bIns="0" rtlCol="0" anchor="ctr"/>
          <a:lstStyle/>
          <a:p>
            <a:pPr indent="0" marL="0">
              <a:buNone/>
            </a:pPr>
            <a:r>
              <a:rPr lang="en-US" sz="1150" b="1" dirty="0">
                <a:solidFill>
                  <a:srgbClr val="7B3FD4"/>
                </a:solidFill>
                <a:latin typeface="Arial" pitchFamily="34" charset="0"/>
                <a:ea typeface="Arial" pitchFamily="34" charset="-122"/>
                <a:cs typeface="Arial" pitchFamily="34" charset="-120"/>
              </a:rPr>
              <a:t>Title</a:t>
            </a:r>
            <a:endParaRPr lang="en-US" sz="1150" dirty="0"/>
          </a:p>
        </p:txBody>
      </p:sp>
      <p:sp>
        <p:nvSpPr>
          <p:cNvPr id="23" name="Text 21"/>
          <p:cNvSpPr txBox="1"/>
          <p:nvPr/>
        </p:nvSpPr>
        <p:spPr>
          <a:xfrm>
            <a:off x="2103120" y="2697480"/>
            <a:ext cx="2560320" cy="457200"/>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What this change does, in one line</a:t>
            </a:r>
            <a:endParaRPr lang="en-US" sz="1050" dirty="0"/>
          </a:p>
        </p:txBody>
      </p:sp>
      <p:sp>
        <p:nvSpPr>
          <p:cNvPr id="24" name="Text 22"/>
          <p:cNvSpPr txBox="1"/>
          <p:nvPr/>
        </p:nvSpPr>
        <p:spPr>
          <a:xfrm>
            <a:off x="4754880" y="2697480"/>
            <a:ext cx="1280160" cy="457200"/>
          </a:xfrm>
          <a:prstGeom prst="rect">
            <a:avLst/>
          </a:prstGeom>
          <a:noFill/>
          <a:ln/>
        </p:spPr>
        <p:txBody>
          <a:bodyPr wrap="square" lIns="0" tIns="0" rIns="0" bIns="0" rtlCol="0" anchor="ctr"/>
          <a:lstStyle/>
          <a:p>
            <a:pPr indent="0" marL="0">
              <a:buNone/>
            </a:pPr>
            <a:r>
              <a:rPr lang="en-US" sz="1150" b="1" dirty="0">
                <a:solidFill>
                  <a:srgbClr val="7B3FD4"/>
                </a:solidFill>
                <a:latin typeface="Arial" pitchFamily="34" charset="0"/>
                <a:ea typeface="Arial" pitchFamily="34" charset="-122"/>
                <a:cs typeface="Arial" pitchFamily="34" charset="-120"/>
              </a:rPr>
              <a:t>Description</a:t>
            </a:r>
            <a:endParaRPr lang="en-US" sz="1150" dirty="0"/>
          </a:p>
        </p:txBody>
      </p:sp>
      <p:sp>
        <p:nvSpPr>
          <p:cNvPr id="25" name="Text 23"/>
          <p:cNvSpPr txBox="1"/>
          <p:nvPr/>
        </p:nvSpPr>
        <p:spPr>
          <a:xfrm>
            <a:off x="6080760" y="2697480"/>
            <a:ext cx="2560320" cy="457200"/>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Why, and how the reviewer should test it</a:t>
            </a:r>
            <a:endParaRPr lang="en-US" sz="1050" dirty="0"/>
          </a:p>
        </p:txBody>
      </p:sp>
      <p:sp>
        <p:nvSpPr>
          <p:cNvPr id="26" name="Text 24"/>
          <p:cNvSpPr txBox="1"/>
          <p:nvPr/>
        </p:nvSpPr>
        <p:spPr>
          <a:xfrm>
            <a:off x="777240" y="3246120"/>
            <a:ext cx="1280160" cy="457200"/>
          </a:xfrm>
          <a:prstGeom prst="rect">
            <a:avLst/>
          </a:prstGeom>
          <a:noFill/>
          <a:ln/>
        </p:spPr>
        <p:txBody>
          <a:bodyPr wrap="square" lIns="0" tIns="0" rIns="0" bIns="0" rtlCol="0" anchor="ctr"/>
          <a:lstStyle/>
          <a:p>
            <a:pPr indent="0" marL="0">
              <a:buNone/>
            </a:pPr>
            <a:r>
              <a:rPr lang="en-US" sz="1150" b="1" dirty="0">
                <a:solidFill>
                  <a:srgbClr val="7B3FD4"/>
                </a:solidFill>
                <a:latin typeface="Arial" pitchFamily="34" charset="0"/>
                <a:ea typeface="Arial" pitchFamily="34" charset="-122"/>
                <a:cs typeface="Arial" pitchFamily="34" charset="-120"/>
              </a:rPr>
              <a:t>Files changed</a:t>
            </a:r>
            <a:endParaRPr lang="en-US" sz="1150" dirty="0"/>
          </a:p>
        </p:txBody>
      </p:sp>
      <p:sp>
        <p:nvSpPr>
          <p:cNvPr id="27" name="Text 25"/>
          <p:cNvSpPr txBox="1"/>
          <p:nvPr/>
        </p:nvSpPr>
        <p:spPr>
          <a:xfrm>
            <a:off x="2103120" y="3246120"/>
            <a:ext cx="2560320" cy="457200"/>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Line-by-line diff — green added, red removed</a:t>
            </a:r>
            <a:endParaRPr lang="en-US" sz="1050" dirty="0"/>
          </a:p>
        </p:txBody>
      </p:sp>
      <p:sp>
        <p:nvSpPr>
          <p:cNvPr id="28" name="Text 26"/>
          <p:cNvSpPr txBox="1"/>
          <p:nvPr/>
        </p:nvSpPr>
        <p:spPr>
          <a:xfrm>
            <a:off x="4754880" y="3246120"/>
            <a:ext cx="1280160" cy="457200"/>
          </a:xfrm>
          <a:prstGeom prst="rect">
            <a:avLst/>
          </a:prstGeom>
          <a:noFill/>
          <a:ln/>
        </p:spPr>
        <p:txBody>
          <a:bodyPr wrap="square" lIns="0" tIns="0" rIns="0" bIns="0" rtlCol="0" anchor="ctr"/>
          <a:lstStyle/>
          <a:p>
            <a:pPr indent="0" marL="0">
              <a:buNone/>
            </a:pPr>
            <a:r>
              <a:rPr lang="en-US" sz="1150" b="1" dirty="0">
                <a:solidFill>
                  <a:srgbClr val="7B3FD4"/>
                </a:solidFill>
                <a:latin typeface="Arial" pitchFamily="34" charset="0"/>
                <a:ea typeface="Arial" pitchFamily="34" charset="-122"/>
                <a:cs typeface="Arial" pitchFamily="34" charset="-120"/>
              </a:rPr>
              <a:t>Reviewers</a:t>
            </a:r>
            <a:endParaRPr lang="en-US" sz="1150" dirty="0"/>
          </a:p>
        </p:txBody>
      </p:sp>
      <p:sp>
        <p:nvSpPr>
          <p:cNvPr id="29" name="Text 27"/>
          <p:cNvSpPr txBox="1"/>
          <p:nvPr/>
        </p:nvSpPr>
        <p:spPr>
          <a:xfrm>
            <a:off x="6080760" y="3246120"/>
            <a:ext cx="2560320" cy="457200"/>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The people who must approve before merge</a:t>
            </a:r>
            <a:endParaRPr lang="en-US" sz="1050" dirty="0"/>
          </a:p>
        </p:txBody>
      </p:sp>
      <p:sp>
        <p:nvSpPr>
          <p:cNvPr id="30" name="Text 28"/>
          <p:cNvSpPr txBox="1"/>
          <p:nvPr/>
        </p:nvSpPr>
        <p:spPr>
          <a:xfrm>
            <a:off x="777240" y="3794760"/>
            <a:ext cx="1280160" cy="457200"/>
          </a:xfrm>
          <a:prstGeom prst="rect">
            <a:avLst/>
          </a:prstGeom>
          <a:noFill/>
          <a:ln/>
        </p:spPr>
        <p:txBody>
          <a:bodyPr wrap="square" lIns="0" tIns="0" rIns="0" bIns="0" rtlCol="0" anchor="ctr"/>
          <a:lstStyle/>
          <a:p>
            <a:pPr indent="0" marL="0">
              <a:buNone/>
            </a:pPr>
            <a:r>
              <a:rPr lang="en-US" sz="1150" b="1" dirty="0">
                <a:solidFill>
                  <a:srgbClr val="7B3FD4"/>
                </a:solidFill>
                <a:latin typeface="Arial" pitchFamily="34" charset="0"/>
                <a:ea typeface="Arial" pitchFamily="34" charset="-122"/>
                <a:cs typeface="Arial" pitchFamily="34" charset="-120"/>
              </a:rPr>
              <a:t>Checks</a:t>
            </a:r>
            <a:endParaRPr lang="en-US" sz="1150" dirty="0"/>
          </a:p>
        </p:txBody>
      </p:sp>
      <p:sp>
        <p:nvSpPr>
          <p:cNvPr id="31" name="Text 29"/>
          <p:cNvSpPr txBox="1"/>
          <p:nvPr/>
        </p:nvSpPr>
        <p:spPr>
          <a:xfrm>
            <a:off x="2103120" y="3794760"/>
            <a:ext cx="2560320" cy="457200"/>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Automated tests that run on your branch</a:t>
            </a:r>
            <a:endParaRPr lang="en-US" sz="1050" dirty="0"/>
          </a:p>
        </p:txBody>
      </p:sp>
      <p:sp>
        <p:nvSpPr>
          <p:cNvPr id="32" name="Text 30"/>
          <p:cNvSpPr txBox="1"/>
          <p:nvPr/>
        </p:nvSpPr>
        <p:spPr>
          <a:xfrm>
            <a:off x="4754880" y="3794760"/>
            <a:ext cx="1280160" cy="457200"/>
          </a:xfrm>
          <a:prstGeom prst="rect">
            <a:avLst/>
          </a:prstGeom>
          <a:noFill/>
          <a:ln/>
        </p:spPr>
        <p:txBody>
          <a:bodyPr wrap="square" lIns="0" tIns="0" rIns="0" bIns="0" rtlCol="0" anchor="ctr"/>
          <a:lstStyle/>
          <a:p>
            <a:pPr indent="0" marL="0">
              <a:buNone/>
            </a:pPr>
            <a:r>
              <a:rPr lang="en-US" sz="1150" b="1" dirty="0">
                <a:solidFill>
                  <a:srgbClr val="7B3FD4"/>
                </a:solidFill>
                <a:latin typeface="Arial" pitchFamily="34" charset="0"/>
                <a:ea typeface="Arial" pitchFamily="34" charset="-122"/>
                <a:cs typeface="Arial" pitchFamily="34" charset="-120"/>
              </a:rPr>
              <a:t>Conversation</a:t>
            </a:r>
            <a:endParaRPr lang="en-US" sz="1150" dirty="0"/>
          </a:p>
        </p:txBody>
      </p:sp>
      <p:sp>
        <p:nvSpPr>
          <p:cNvPr id="33" name="Text 31"/>
          <p:cNvSpPr txBox="1"/>
          <p:nvPr/>
        </p:nvSpPr>
        <p:spPr>
          <a:xfrm>
            <a:off x="6080760" y="3794760"/>
            <a:ext cx="2560320" cy="457200"/>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Every comment and decision, kept forever</a:t>
            </a:r>
            <a:endParaRPr lang="en-US" sz="1050" dirty="0"/>
          </a:p>
        </p:txBody>
      </p:sp>
      <p:sp>
        <p:nvSpPr>
          <p:cNvPr id="34" name="Text 32"/>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DEMO 6 · DEVELOPER</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Arjun raises his Pull Request</a:t>
            </a:r>
            <a:endParaRPr lang="en-US" sz="2900" dirty="0"/>
          </a:p>
        </p:txBody>
      </p:sp>
      <p:sp>
        <p:nvSpPr>
          <p:cNvPr id="4" name="Shape 2"/>
          <p:cNvSpPr/>
          <p:nvPr/>
        </p:nvSpPr>
        <p:spPr>
          <a:xfrm>
            <a:off x="502920" y="1371600"/>
            <a:ext cx="4206240" cy="1828800"/>
          </a:xfrm>
          <a:prstGeom prst="roundRect">
            <a:avLst>
              <a:gd name="adj" fmla="val 2500"/>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352044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DEV — feature/product-search</a:t>
            </a:r>
            <a:endParaRPr lang="en-US" sz="850" dirty="0"/>
          </a:p>
        </p:txBody>
      </p:sp>
      <p:sp>
        <p:nvSpPr>
          <p:cNvPr id="9" name="Text 7"/>
          <p:cNvSpPr txBox="1"/>
          <p:nvPr/>
        </p:nvSpPr>
        <p:spPr>
          <a:xfrm>
            <a:off x="704088" y="1737360"/>
            <a:ext cx="3803904" cy="132588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push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Everything up-to-date</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the branch is already on GitHub.</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the rest happens in the browser.</a:t>
            </a:r>
            <a:endParaRPr lang="en-US" sz="950" dirty="0"/>
          </a:p>
        </p:txBody>
      </p:sp>
      <p:sp>
        <p:nvSpPr>
          <p:cNvPr id="10" name="Shape 8"/>
          <p:cNvSpPr/>
          <p:nvPr/>
        </p:nvSpPr>
        <p:spPr>
          <a:xfrm>
            <a:off x="4983480" y="1371600"/>
            <a:ext cx="3703320" cy="1828800"/>
          </a:xfrm>
          <a:prstGeom prst="roundRect">
            <a:avLst>
              <a:gd name="adj" fmla="val 3000"/>
            </a:avLst>
          </a:prstGeom>
          <a:solidFill>
            <a:srgbClr val="20252B"/>
          </a:solidFill>
          <a:ln w="12700">
            <a:solidFill>
              <a:srgbClr val="3A424C"/>
            </a:solidFill>
            <a:prstDash val="solid"/>
          </a:ln>
        </p:spPr>
      </p:sp>
      <p:sp>
        <p:nvSpPr>
          <p:cNvPr id="11" name="Text 9"/>
          <p:cNvSpPr txBox="1"/>
          <p:nvPr/>
        </p:nvSpPr>
        <p:spPr>
          <a:xfrm>
            <a:off x="5212080" y="1481328"/>
            <a:ext cx="3200400" cy="237744"/>
          </a:xfrm>
          <a:prstGeom prst="rect">
            <a:avLst/>
          </a:prstGeom>
          <a:noFill/>
          <a:ln/>
        </p:spPr>
        <p:txBody>
          <a:bodyPr wrap="square" lIns="0" tIns="0" rIns="0" bIns="0" rtlCol="0" anchor="ctr"/>
          <a:lstStyle/>
          <a:p>
            <a:pPr indent="0" marL="0">
              <a:buNone/>
            </a:pPr>
            <a:r>
              <a:rPr lang="en-US" sz="950" b="1" spc="180" kern="0" dirty="0">
                <a:solidFill>
                  <a:srgbClr val="8B949E"/>
                </a:solidFill>
                <a:latin typeface="Arial" pitchFamily="34" charset="0"/>
                <a:ea typeface="Arial" pitchFamily="34" charset="-122"/>
                <a:cs typeface="Arial" pitchFamily="34" charset="-120"/>
              </a:rPr>
              <a:t>ON GITHUB.COM</a:t>
            </a:r>
            <a:endParaRPr lang="en-US" sz="950" dirty="0"/>
          </a:p>
        </p:txBody>
      </p:sp>
      <p:sp>
        <p:nvSpPr>
          <p:cNvPr id="12" name="Text 10"/>
          <p:cNvSpPr txBox="1"/>
          <p:nvPr/>
        </p:nvSpPr>
        <p:spPr>
          <a:xfrm>
            <a:off x="5212080" y="1755648"/>
            <a:ext cx="3200400" cy="1325880"/>
          </a:xfrm>
          <a:prstGeom prst="rect">
            <a:avLst/>
          </a:prstGeom>
          <a:noFill/>
          <a:ln/>
        </p:spPr>
        <p:txBody>
          <a:bodyPr wrap="square" lIns="0" tIns="0" rIns="0" bIns="0" rtlCol="0" anchor="ctr"/>
          <a:lstStyle/>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1.  Yellow banner: "Compare &amp; pull request"</a:t>
            </a: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2.  base: main  ←  compare: feature/product-search</a:t>
            </a: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3.  Write title + description</a:t>
            </a: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4.  Reviewers → meera</a:t>
            </a: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5.  Create pull request</a:t>
            </a:r>
            <a:endParaRPr lang="en-US" sz="1050" dirty="0"/>
          </a:p>
        </p:txBody>
      </p:sp>
      <p:sp>
        <p:nvSpPr>
          <p:cNvPr id="13" name="Shape 11"/>
          <p:cNvSpPr/>
          <p:nvPr/>
        </p:nvSpPr>
        <p:spPr>
          <a:xfrm>
            <a:off x="502920" y="3337560"/>
            <a:ext cx="8183880" cy="1097280"/>
          </a:xfrm>
          <a:prstGeom prst="roundRect">
            <a:avLst>
              <a:gd name="adj" fmla="val 5000"/>
            </a:avLst>
          </a:prstGeom>
          <a:solidFill>
            <a:srgbClr val="2E2A1F"/>
          </a:solidFill>
          <a:ln w="12700">
            <a:solidFill>
              <a:srgbClr val="5A5034"/>
            </a:solidFill>
            <a:prstDash val="solid"/>
          </a:ln>
        </p:spPr>
      </p:sp>
      <p:sp>
        <p:nvSpPr>
          <p:cNvPr id="14" name="Text 12"/>
          <p:cNvSpPr txBox="1"/>
          <p:nvPr/>
        </p:nvSpPr>
        <p:spPr>
          <a:xfrm>
            <a:off x="777240" y="3456432"/>
            <a:ext cx="4572000" cy="274320"/>
          </a:xfrm>
          <a:prstGeom prst="rect">
            <a:avLst/>
          </a:prstGeom>
          <a:noFill/>
          <a:ln/>
        </p:spPr>
        <p:txBody>
          <a:bodyPr wrap="square" lIns="0" tIns="0" rIns="0" bIns="0" rtlCol="0" anchor="ctr"/>
          <a:lstStyle/>
          <a:p>
            <a:pPr indent="0" marL="0">
              <a:buNone/>
            </a:pPr>
            <a:r>
              <a:rPr lang="en-US" sz="1300" b="1" dirty="0">
                <a:solidFill>
                  <a:srgbClr val="FFAA64"/>
                </a:solidFill>
                <a:latin typeface="Arial" pitchFamily="34" charset="0"/>
                <a:ea typeface="Arial" pitchFamily="34" charset="-122"/>
                <a:cs typeface="Arial" pitchFamily="34" charset="-120"/>
              </a:rPr>
              <a:t>Check the direction of the arrow. Every time.</a:t>
            </a:r>
            <a:endParaRPr lang="en-US" sz="1300" dirty="0"/>
          </a:p>
        </p:txBody>
      </p:sp>
      <p:sp>
        <p:nvSpPr>
          <p:cNvPr id="15" name="Text 13"/>
          <p:cNvSpPr txBox="1"/>
          <p:nvPr/>
        </p:nvSpPr>
        <p:spPr>
          <a:xfrm>
            <a:off x="777240" y="3767328"/>
            <a:ext cx="7680960" cy="566928"/>
          </a:xfrm>
          <a:prstGeom prst="rect">
            <a:avLst/>
          </a:prstGeom>
          <a:noFill/>
          <a:ln/>
        </p:spPr>
        <p:txBody>
          <a:bodyPr wrap="square" lIns="0" tIns="0" rIns="0" bIns="0" rtlCol="0" anchor="ctr"/>
          <a:lstStyle/>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base = where the code is GOING (main).   compare = where the code is COMING FROM (your branch).</a:t>
            </a:r>
            <a:endParaRPr lang="en-US" sz="1100" dirty="0"/>
          </a:p>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Getting these backwards is the most common first-PR mistake — it tries to merge main into your branch instead.</a:t>
            </a:r>
            <a:endParaRPr lang="en-US" sz="1100" dirty="0"/>
          </a:p>
        </p:txBody>
      </p:sp>
      <p:sp>
        <p:nvSpPr>
          <p:cNvPr id="16" name="Text 14"/>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COPY THIS INTO EVERY PR YOU EVER RAISE</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700" b="1" dirty="0">
                <a:solidFill>
                  <a:srgbClr val="16191D"/>
                </a:solidFill>
                <a:latin typeface="Arial" pitchFamily="34" charset="0"/>
                <a:ea typeface="Arial" pitchFamily="34" charset="-122"/>
                <a:cs typeface="Arial" pitchFamily="34" charset="-120"/>
              </a:rPr>
              <a:t>A description your reviewer will thank you for</a:t>
            </a:r>
            <a:endParaRPr lang="en-US" sz="2700" dirty="0"/>
          </a:p>
        </p:txBody>
      </p:sp>
      <p:sp>
        <p:nvSpPr>
          <p:cNvPr id="4" name="Shape 2"/>
          <p:cNvSpPr/>
          <p:nvPr/>
        </p:nvSpPr>
        <p:spPr>
          <a:xfrm>
            <a:off x="502920" y="1371600"/>
            <a:ext cx="4663440" cy="3063240"/>
          </a:xfrm>
          <a:prstGeom prst="roundRect">
            <a:avLst>
              <a:gd name="adj" fmla="val 1791"/>
            </a:avLst>
          </a:prstGeom>
          <a:solidFill>
            <a:srgbClr val="F3F5F7"/>
          </a:solidFill>
          <a:ln w="12700">
            <a:solidFill>
              <a:srgbClr val="D5DCE3"/>
            </a:solidFill>
            <a:prstDash val="solid"/>
          </a:ln>
        </p:spPr>
      </p:sp>
      <p:sp>
        <p:nvSpPr>
          <p:cNvPr id="5" name="Text 3"/>
          <p:cNvSpPr txBox="1"/>
          <p:nvPr/>
        </p:nvSpPr>
        <p:spPr>
          <a:xfrm>
            <a:off x="731520" y="1508760"/>
            <a:ext cx="4206240" cy="2788920"/>
          </a:xfrm>
          <a:prstGeom prst="rect">
            <a:avLst/>
          </a:prstGeom>
          <a:noFill/>
          <a:ln/>
        </p:spPr>
        <p:txBody>
          <a:bodyPr wrap="square" lIns="0" tIns="0" rIns="0" bIns="0" rtlCol="0" anchor="ctr"/>
          <a:lstStyle/>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 What</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Adds a search box to the product catalog.</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Searches by product name.</a:t>
            </a:r>
            <a:endParaRPr lang="en-US" sz="950" dirty="0"/>
          </a:p>
          <a:p>
            <a:pPr indent="0" marL="0">
              <a:lnSpc>
                <a:spcPct val="122000"/>
              </a:lnSpc>
              <a:buNone/>
            </a:pP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 Why</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Ticket CC-142. Students could not find</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items without scrolling the whole list.</a:t>
            </a:r>
            <a:endParaRPr lang="en-US" sz="950" dirty="0"/>
          </a:p>
          <a:p>
            <a:pPr indent="0" marL="0">
              <a:lnSpc>
                <a:spcPct val="122000"/>
              </a:lnSpc>
              <a:buNone/>
            </a:pP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 How to test</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1. Run the server</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2. Go to /search/</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3. Type "note" → notebooks appear</a:t>
            </a:r>
            <a:endParaRPr lang="en-US" sz="950" dirty="0"/>
          </a:p>
          <a:p>
            <a:pPr indent="0" marL="0">
              <a:lnSpc>
                <a:spcPct val="122000"/>
              </a:lnSpc>
              <a:buNone/>
            </a:pP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 Notes</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Page size is 10. Pagination is out of</a:t>
            </a:r>
            <a:endParaRPr lang="en-US" sz="950" dirty="0"/>
          </a:p>
          <a:p>
            <a:pPr indent="0" marL="0">
              <a:lnSpc>
                <a:spcPct val="122000"/>
              </a:lnSpc>
              <a:buNone/>
            </a:pPr>
            <a:r>
              <a:rPr lang="en-US" sz="950" dirty="0">
                <a:solidFill>
                  <a:srgbClr val="16191D"/>
                </a:solidFill>
                <a:latin typeface="Courier New" pitchFamily="34" charset="0"/>
                <a:ea typeface="Courier New" pitchFamily="34" charset="-122"/>
                <a:cs typeface="Courier New" pitchFamily="34" charset="-120"/>
              </a:rPr>
              <a:t>scope for this PR.</a:t>
            </a:r>
            <a:endParaRPr lang="en-US" sz="950" dirty="0"/>
          </a:p>
        </p:txBody>
      </p:sp>
      <p:sp>
        <p:nvSpPr>
          <p:cNvPr id="6" name="Shape 4"/>
          <p:cNvSpPr/>
          <p:nvPr/>
        </p:nvSpPr>
        <p:spPr>
          <a:xfrm>
            <a:off x="5394960" y="1371600"/>
            <a:ext cx="3291840" cy="3063240"/>
          </a:xfrm>
          <a:prstGeom prst="roundRect">
            <a:avLst>
              <a:gd name="adj" fmla="val 1791"/>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7" name="Text 5"/>
          <p:cNvSpPr txBox="1"/>
          <p:nvPr/>
        </p:nvSpPr>
        <p:spPr>
          <a:xfrm>
            <a:off x="5623560" y="1508760"/>
            <a:ext cx="2834640" cy="274320"/>
          </a:xfrm>
          <a:prstGeom prst="rect">
            <a:avLst/>
          </a:prstGeom>
          <a:noFill/>
          <a:ln/>
        </p:spPr>
        <p:txBody>
          <a:bodyPr wrap="square" lIns="0" tIns="0" rIns="0" bIns="0" rtlCol="0" anchor="ctr"/>
          <a:lstStyle/>
          <a:p>
            <a:pPr indent="0" marL="0">
              <a:buNone/>
            </a:pPr>
            <a:r>
              <a:rPr lang="en-US" sz="1300" b="1" dirty="0">
                <a:solidFill>
                  <a:srgbClr val="16191D"/>
                </a:solidFill>
                <a:latin typeface="Arial" pitchFamily="34" charset="0"/>
                <a:ea typeface="Arial" pitchFamily="34" charset="-122"/>
                <a:cs typeface="Arial" pitchFamily="34" charset="-120"/>
              </a:rPr>
              <a:t>Why each part matters</a:t>
            </a:r>
            <a:endParaRPr lang="en-US" sz="1300" dirty="0"/>
          </a:p>
        </p:txBody>
      </p:sp>
      <p:sp>
        <p:nvSpPr>
          <p:cNvPr id="8" name="Text 6"/>
          <p:cNvSpPr txBox="1"/>
          <p:nvPr/>
        </p:nvSpPr>
        <p:spPr>
          <a:xfrm>
            <a:off x="5623560" y="1874520"/>
            <a:ext cx="2834640" cy="219456"/>
          </a:xfrm>
          <a:prstGeom prst="rect">
            <a:avLst/>
          </a:prstGeom>
          <a:noFill/>
          <a:ln/>
        </p:spPr>
        <p:txBody>
          <a:bodyPr wrap="square" lIns="0" tIns="0" rIns="0" bIns="0" rtlCol="0" anchor="ctr"/>
          <a:lstStyle/>
          <a:p>
            <a:pPr indent="0" marL="0">
              <a:buNone/>
            </a:pPr>
            <a:r>
              <a:rPr lang="en-US" sz="1100" b="1" dirty="0">
                <a:solidFill>
                  <a:srgbClr val="7B3FD4"/>
                </a:solidFill>
                <a:latin typeface="Arial" pitchFamily="34" charset="0"/>
                <a:ea typeface="Arial" pitchFamily="34" charset="-122"/>
                <a:cs typeface="Arial" pitchFamily="34" charset="-120"/>
              </a:rPr>
              <a:t>What</a:t>
            </a:r>
            <a:endParaRPr lang="en-US" sz="1100" dirty="0"/>
          </a:p>
        </p:txBody>
      </p:sp>
      <p:sp>
        <p:nvSpPr>
          <p:cNvPr id="9" name="Text 7"/>
          <p:cNvSpPr txBox="1"/>
          <p:nvPr/>
        </p:nvSpPr>
        <p:spPr>
          <a:xfrm>
            <a:off x="5623560" y="2093976"/>
            <a:ext cx="2834640" cy="384048"/>
          </a:xfrm>
          <a:prstGeom prst="rect">
            <a:avLst/>
          </a:prstGeom>
          <a:noFill/>
          <a:ln/>
        </p:spPr>
        <p:txBody>
          <a:bodyPr wrap="square" lIns="0" tIns="0" rIns="0" bIns="0" rtlCol="0" anchor="ctr"/>
          <a:lstStyle/>
          <a:p>
            <a:pPr indent="0" marL="0">
              <a:lnSpc>
                <a:spcPct val="120000"/>
              </a:lnSpc>
              <a:buNone/>
            </a:pPr>
            <a:r>
              <a:rPr lang="en-US" sz="1000" dirty="0">
                <a:solidFill>
                  <a:srgbClr val="5A6572"/>
                </a:solidFill>
                <a:latin typeface="Calibri" pitchFamily="34" charset="0"/>
                <a:ea typeface="Calibri" pitchFamily="34" charset="-122"/>
                <a:cs typeface="Calibri" pitchFamily="34" charset="-120"/>
              </a:rPr>
              <a:t>Reviewer knows what to expect before reading a single line.</a:t>
            </a:r>
            <a:endParaRPr lang="en-US" sz="1000" dirty="0"/>
          </a:p>
        </p:txBody>
      </p:sp>
      <p:sp>
        <p:nvSpPr>
          <p:cNvPr id="10" name="Text 8"/>
          <p:cNvSpPr txBox="1"/>
          <p:nvPr/>
        </p:nvSpPr>
        <p:spPr>
          <a:xfrm>
            <a:off x="5623560" y="2496312"/>
            <a:ext cx="2834640" cy="219456"/>
          </a:xfrm>
          <a:prstGeom prst="rect">
            <a:avLst/>
          </a:prstGeom>
          <a:noFill/>
          <a:ln/>
        </p:spPr>
        <p:txBody>
          <a:bodyPr wrap="square" lIns="0" tIns="0" rIns="0" bIns="0" rtlCol="0" anchor="ctr"/>
          <a:lstStyle/>
          <a:p>
            <a:pPr indent="0" marL="0">
              <a:buNone/>
            </a:pPr>
            <a:r>
              <a:rPr lang="en-US" sz="1100" b="1" dirty="0">
                <a:solidFill>
                  <a:srgbClr val="7B3FD4"/>
                </a:solidFill>
                <a:latin typeface="Arial" pitchFamily="34" charset="0"/>
                <a:ea typeface="Arial" pitchFamily="34" charset="-122"/>
                <a:cs typeface="Arial" pitchFamily="34" charset="-120"/>
              </a:rPr>
              <a:t>Why</a:t>
            </a:r>
            <a:endParaRPr lang="en-US" sz="1100" dirty="0"/>
          </a:p>
        </p:txBody>
      </p:sp>
      <p:sp>
        <p:nvSpPr>
          <p:cNvPr id="11" name="Text 9"/>
          <p:cNvSpPr txBox="1"/>
          <p:nvPr/>
        </p:nvSpPr>
        <p:spPr>
          <a:xfrm>
            <a:off x="5623560" y="2715768"/>
            <a:ext cx="2834640" cy="384048"/>
          </a:xfrm>
          <a:prstGeom prst="rect">
            <a:avLst/>
          </a:prstGeom>
          <a:noFill/>
          <a:ln/>
        </p:spPr>
        <p:txBody>
          <a:bodyPr wrap="square" lIns="0" tIns="0" rIns="0" bIns="0" rtlCol="0" anchor="ctr"/>
          <a:lstStyle/>
          <a:p>
            <a:pPr indent="0" marL="0">
              <a:lnSpc>
                <a:spcPct val="120000"/>
              </a:lnSpc>
              <a:buNone/>
            </a:pPr>
            <a:r>
              <a:rPr lang="en-US" sz="1000" dirty="0">
                <a:solidFill>
                  <a:srgbClr val="5A6572"/>
                </a:solidFill>
                <a:latin typeface="Calibri" pitchFamily="34" charset="0"/>
                <a:ea typeface="Calibri" pitchFamily="34" charset="-122"/>
                <a:cs typeface="Calibri" pitchFamily="34" charset="-120"/>
              </a:rPr>
              <a:t>Links the code to a real need. Answers "why did we do this?" in 2027.</a:t>
            </a:r>
            <a:endParaRPr lang="en-US" sz="1000" dirty="0"/>
          </a:p>
        </p:txBody>
      </p:sp>
      <p:sp>
        <p:nvSpPr>
          <p:cNvPr id="12" name="Text 10"/>
          <p:cNvSpPr txBox="1"/>
          <p:nvPr/>
        </p:nvSpPr>
        <p:spPr>
          <a:xfrm>
            <a:off x="5623560" y="3118104"/>
            <a:ext cx="2834640" cy="219456"/>
          </a:xfrm>
          <a:prstGeom prst="rect">
            <a:avLst/>
          </a:prstGeom>
          <a:noFill/>
          <a:ln/>
        </p:spPr>
        <p:txBody>
          <a:bodyPr wrap="square" lIns="0" tIns="0" rIns="0" bIns="0" rtlCol="0" anchor="ctr"/>
          <a:lstStyle/>
          <a:p>
            <a:pPr indent="0" marL="0">
              <a:buNone/>
            </a:pPr>
            <a:r>
              <a:rPr lang="en-US" sz="1100" b="1" dirty="0">
                <a:solidFill>
                  <a:srgbClr val="7B3FD4"/>
                </a:solidFill>
                <a:latin typeface="Arial" pitchFamily="34" charset="0"/>
                <a:ea typeface="Arial" pitchFamily="34" charset="-122"/>
                <a:cs typeface="Arial" pitchFamily="34" charset="-120"/>
              </a:rPr>
              <a:t>How to test</a:t>
            </a:r>
            <a:endParaRPr lang="en-US" sz="1100" dirty="0"/>
          </a:p>
        </p:txBody>
      </p:sp>
      <p:sp>
        <p:nvSpPr>
          <p:cNvPr id="13" name="Text 11"/>
          <p:cNvSpPr txBox="1"/>
          <p:nvPr/>
        </p:nvSpPr>
        <p:spPr>
          <a:xfrm>
            <a:off x="5623560" y="3337560"/>
            <a:ext cx="2834640" cy="384048"/>
          </a:xfrm>
          <a:prstGeom prst="rect">
            <a:avLst/>
          </a:prstGeom>
          <a:noFill/>
          <a:ln/>
        </p:spPr>
        <p:txBody>
          <a:bodyPr wrap="square" lIns="0" tIns="0" rIns="0" bIns="0" rtlCol="0" anchor="ctr"/>
          <a:lstStyle/>
          <a:p>
            <a:pPr indent="0" marL="0">
              <a:lnSpc>
                <a:spcPct val="120000"/>
              </a:lnSpc>
              <a:buNone/>
            </a:pPr>
            <a:r>
              <a:rPr lang="en-US" sz="1000" dirty="0">
                <a:solidFill>
                  <a:srgbClr val="5A6572"/>
                </a:solidFill>
                <a:latin typeface="Calibri" pitchFamily="34" charset="0"/>
                <a:ea typeface="Calibri" pitchFamily="34" charset="-122"/>
                <a:cs typeface="Calibri" pitchFamily="34" charset="-120"/>
              </a:rPr>
              <a:t>The reviewer can actually run it instead of guessing.</a:t>
            </a:r>
            <a:endParaRPr lang="en-US" sz="1000" dirty="0"/>
          </a:p>
        </p:txBody>
      </p:sp>
      <p:sp>
        <p:nvSpPr>
          <p:cNvPr id="14" name="Text 12"/>
          <p:cNvSpPr txBox="1"/>
          <p:nvPr/>
        </p:nvSpPr>
        <p:spPr>
          <a:xfrm>
            <a:off x="5623560" y="3739896"/>
            <a:ext cx="2834640" cy="219456"/>
          </a:xfrm>
          <a:prstGeom prst="rect">
            <a:avLst/>
          </a:prstGeom>
          <a:noFill/>
          <a:ln/>
        </p:spPr>
        <p:txBody>
          <a:bodyPr wrap="square" lIns="0" tIns="0" rIns="0" bIns="0" rtlCol="0" anchor="ctr"/>
          <a:lstStyle/>
          <a:p>
            <a:pPr indent="0" marL="0">
              <a:buNone/>
            </a:pPr>
            <a:r>
              <a:rPr lang="en-US" sz="1100" b="1" dirty="0">
                <a:solidFill>
                  <a:srgbClr val="7B3FD4"/>
                </a:solidFill>
                <a:latin typeface="Arial" pitchFamily="34" charset="0"/>
                <a:ea typeface="Arial" pitchFamily="34" charset="-122"/>
                <a:cs typeface="Arial" pitchFamily="34" charset="-120"/>
              </a:rPr>
              <a:t>Notes</a:t>
            </a:r>
            <a:endParaRPr lang="en-US" sz="1100" dirty="0"/>
          </a:p>
        </p:txBody>
      </p:sp>
      <p:sp>
        <p:nvSpPr>
          <p:cNvPr id="15" name="Text 13"/>
          <p:cNvSpPr txBox="1"/>
          <p:nvPr/>
        </p:nvSpPr>
        <p:spPr>
          <a:xfrm>
            <a:off x="5623560" y="3959352"/>
            <a:ext cx="2834640" cy="384048"/>
          </a:xfrm>
          <a:prstGeom prst="rect">
            <a:avLst/>
          </a:prstGeom>
          <a:noFill/>
          <a:ln/>
        </p:spPr>
        <p:txBody>
          <a:bodyPr wrap="square" lIns="0" tIns="0" rIns="0" bIns="0" rtlCol="0" anchor="ctr"/>
          <a:lstStyle/>
          <a:p>
            <a:pPr indent="0" marL="0">
              <a:lnSpc>
                <a:spcPct val="120000"/>
              </a:lnSpc>
              <a:buNone/>
            </a:pPr>
            <a:r>
              <a:rPr lang="en-US" sz="1000" dirty="0">
                <a:solidFill>
                  <a:srgbClr val="5A6572"/>
                </a:solidFill>
                <a:latin typeface="Calibri" pitchFamily="34" charset="0"/>
                <a:ea typeface="Calibri" pitchFamily="34" charset="-122"/>
                <a:cs typeface="Calibri" pitchFamily="34" charset="-120"/>
              </a:rPr>
              <a:t>Heads off review comments about things you already decided.</a:t>
            </a:r>
            <a:endParaRPr lang="en-US" sz="1000" dirty="0"/>
          </a:p>
        </p:txBody>
      </p:sp>
      <p:sp>
        <p:nvSpPr>
          <p:cNvPr id="16" name="Text 14"/>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DEMO 7 · TEAM LEAD</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Meera reviews — and requests a change</a:t>
            </a:r>
            <a:endParaRPr lang="en-US" sz="2900" dirty="0"/>
          </a:p>
        </p:txBody>
      </p:sp>
      <p:sp>
        <p:nvSpPr>
          <p:cNvPr id="4" name="Shape 2"/>
          <p:cNvSpPr/>
          <p:nvPr/>
        </p:nvSpPr>
        <p:spPr>
          <a:xfrm>
            <a:off x="502920" y="1325880"/>
            <a:ext cx="5120640" cy="1417320"/>
          </a:xfrm>
          <a:prstGeom prst="roundRect">
            <a:avLst>
              <a:gd name="adj" fmla="val 3871"/>
            </a:avLst>
          </a:prstGeom>
          <a:solidFill>
            <a:srgbClr val="1B2A1F"/>
          </a:solidFill>
          <a:ln w="12700">
            <a:solidFill>
              <a:srgbClr val="2F5137"/>
            </a:solidFill>
            <a:prstDash val="solid"/>
          </a:ln>
        </p:spPr>
      </p:sp>
      <p:sp>
        <p:nvSpPr>
          <p:cNvPr id="5" name="Text 3"/>
          <p:cNvSpPr txBox="1"/>
          <p:nvPr/>
        </p:nvSpPr>
        <p:spPr>
          <a:xfrm>
            <a:off x="731520" y="1417320"/>
            <a:ext cx="4663440" cy="237744"/>
          </a:xfrm>
          <a:prstGeom prst="rect">
            <a:avLst/>
          </a:prstGeom>
          <a:noFill/>
          <a:ln/>
        </p:spPr>
        <p:txBody>
          <a:bodyPr wrap="square" lIns="0" tIns="0" rIns="0" bIns="0" rtlCol="0" anchor="ctr"/>
          <a:lstStyle/>
          <a:p>
            <a:pPr indent="0" marL="0">
              <a:buNone/>
            </a:pPr>
            <a:r>
              <a:rPr lang="en-US" sz="950" dirty="0">
                <a:solidFill>
                  <a:srgbClr val="8FE3A3"/>
                </a:solidFill>
                <a:latin typeface="Courier New" pitchFamily="34" charset="0"/>
                <a:ea typeface="Courier New" pitchFamily="34" charset="-122"/>
                <a:cs typeface="Courier New" pitchFamily="34" charset="-120"/>
              </a:rPr>
              <a:t>campuscart/search.py</a:t>
            </a:r>
            <a:endParaRPr lang="en-US" sz="950" dirty="0"/>
          </a:p>
        </p:txBody>
      </p:sp>
      <p:sp>
        <p:nvSpPr>
          <p:cNvPr id="6" name="Text 4"/>
          <p:cNvSpPr txBox="1"/>
          <p:nvPr/>
        </p:nvSpPr>
        <p:spPr>
          <a:xfrm>
            <a:off x="731520" y="1691640"/>
            <a:ext cx="4663440" cy="868680"/>
          </a:xfrm>
          <a:prstGeom prst="rect">
            <a:avLst/>
          </a:prstGeom>
          <a:noFill/>
          <a:ln/>
        </p:spPr>
        <p:txBody>
          <a:bodyPr wrap="square" lIns="0" tIns="0" rIns="0" bIns="0" rtlCol="0" anchor="ctr"/>
          <a:lstStyle/>
          <a:p>
            <a:pPr indent="0" marL="0">
              <a:lnSpc>
                <a:spcPct val="130000"/>
              </a:lnSpc>
              <a:buNone/>
            </a:pPr>
            <a:r>
              <a:rPr lang="en-US" sz="1100" dirty="0">
                <a:solidFill>
                  <a:srgbClr val="B9EFC6"/>
                </a:solidFill>
                <a:latin typeface="Courier New" pitchFamily="34" charset="0"/>
                <a:ea typeface="Courier New" pitchFamily="34" charset="-122"/>
                <a:cs typeface="Courier New" pitchFamily="34" charset="-120"/>
              </a:rPr>
              <a:t>+ def product_search(request):</a:t>
            </a:r>
            <a:endParaRPr lang="en-US" sz="1100" dirty="0"/>
          </a:p>
          <a:p>
            <a:pPr indent="0" marL="0">
              <a:lnSpc>
                <a:spcPct val="130000"/>
              </a:lnSpc>
              <a:buNone/>
            </a:pPr>
            <a:r>
              <a:rPr lang="en-US" sz="1100" dirty="0">
                <a:solidFill>
                  <a:srgbClr val="B9EFC6"/>
                </a:solidFill>
                <a:latin typeface="Courier New" pitchFamily="34" charset="0"/>
                <a:ea typeface="Courier New" pitchFamily="34" charset="-122"/>
                <a:cs typeface="Courier New" pitchFamily="34" charset="-120"/>
              </a:rPr>
              <a:t>+     page_size = 10</a:t>
            </a:r>
            <a:endParaRPr lang="en-US" sz="1100" dirty="0"/>
          </a:p>
          <a:p>
            <a:pPr indent="0" marL="0">
              <a:lnSpc>
                <a:spcPct val="130000"/>
              </a:lnSpc>
              <a:buNone/>
            </a:pPr>
            <a:r>
              <a:rPr lang="en-US" sz="1100" dirty="0">
                <a:solidFill>
                  <a:srgbClr val="B9EFC6"/>
                </a:solidFill>
                <a:latin typeface="Courier New" pitchFamily="34" charset="0"/>
                <a:ea typeface="Courier New" pitchFamily="34" charset="-122"/>
                <a:cs typeface="Courier New" pitchFamily="34" charset="-120"/>
              </a:rPr>
              <a:t>+     return []</a:t>
            </a:r>
            <a:endParaRPr lang="en-US" sz="1100" dirty="0"/>
          </a:p>
        </p:txBody>
      </p:sp>
      <p:sp>
        <p:nvSpPr>
          <p:cNvPr id="7" name="Shape 5"/>
          <p:cNvSpPr/>
          <p:nvPr/>
        </p:nvSpPr>
        <p:spPr>
          <a:xfrm>
            <a:off x="502920" y="2880360"/>
            <a:ext cx="5120640" cy="1234440"/>
          </a:xfrm>
          <a:prstGeom prst="roundRect">
            <a:avLst>
              <a:gd name="adj" fmla="val 4444"/>
            </a:avLst>
          </a:prstGeom>
          <a:solidFill>
            <a:srgbClr val="F3F5F7"/>
          </a:solidFill>
          <a:ln w="12700">
            <a:solidFill>
              <a:srgbClr val="D5DCE3"/>
            </a:solidFill>
            <a:prstDash val="solid"/>
          </a:ln>
        </p:spPr>
      </p:sp>
      <p:sp>
        <p:nvSpPr>
          <p:cNvPr id="8" name="Shape 6"/>
          <p:cNvSpPr/>
          <p:nvPr/>
        </p:nvSpPr>
        <p:spPr>
          <a:xfrm>
            <a:off x="713232" y="3017520"/>
            <a:ext cx="347472" cy="347472"/>
          </a:xfrm>
          <a:prstGeom prst="ellipse">
            <a:avLst/>
          </a:prstGeom>
          <a:solidFill>
            <a:srgbClr val="E04A29"/>
          </a:solidFill>
          <a:ln w="12700">
            <a:solidFill>
              <a:srgbClr val="E04A29"/>
            </a:solidFill>
            <a:prstDash val="solid"/>
          </a:ln>
        </p:spPr>
      </p:sp>
      <p:sp>
        <p:nvSpPr>
          <p:cNvPr id="9" name="Text 7"/>
          <p:cNvSpPr txBox="1"/>
          <p:nvPr/>
        </p:nvSpPr>
        <p:spPr>
          <a:xfrm>
            <a:off x="713232" y="3017520"/>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TL</a:t>
            </a:r>
            <a:endParaRPr lang="en-US" sz="1000" dirty="0"/>
          </a:p>
        </p:txBody>
      </p:sp>
      <p:sp>
        <p:nvSpPr>
          <p:cNvPr id="10" name="Text 8"/>
          <p:cNvSpPr txBox="1"/>
          <p:nvPr/>
        </p:nvSpPr>
        <p:spPr>
          <a:xfrm>
            <a:off x="1170432" y="3017520"/>
            <a:ext cx="4206240" cy="347472"/>
          </a:xfrm>
          <a:prstGeom prst="rect">
            <a:avLst/>
          </a:prstGeom>
          <a:noFill/>
          <a:ln/>
        </p:spPr>
        <p:txBody>
          <a:bodyPr wrap="square" lIns="0" tIns="0" rIns="0" bIns="0" rtlCol="0" anchor="ctr"/>
          <a:lstStyle/>
          <a:p>
            <a:pPr indent="0" marL="0">
              <a:buNone/>
            </a:pPr>
            <a:r>
              <a:rPr lang="en-US" sz="1050" b="1" dirty="0">
                <a:solidFill>
                  <a:srgbClr val="5A6572"/>
                </a:solidFill>
                <a:latin typeface="Calibri" pitchFamily="34" charset="0"/>
                <a:ea typeface="Calibri" pitchFamily="34" charset="-122"/>
                <a:cs typeface="Calibri" pitchFamily="34" charset="-120"/>
              </a:rPr>
              <a:t>meera commented on line 2</a:t>
            </a:r>
            <a:endParaRPr lang="en-US" sz="1050" dirty="0"/>
          </a:p>
        </p:txBody>
      </p:sp>
      <p:sp>
        <p:nvSpPr>
          <p:cNvPr id="11" name="Text 9"/>
          <p:cNvSpPr txBox="1"/>
          <p:nvPr/>
        </p:nvSpPr>
        <p:spPr>
          <a:xfrm>
            <a:off x="713232" y="3429000"/>
            <a:ext cx="4663440" cy="548640"/>
          </a:xfrm>
          <a:prstGeom prst="rect">
            <a:avLst/>
          </a:prstGeom>
          <a:noFill/>
          <a:ln/>
        </p:spPr>
        <p:txBody>
          <a:bodyPr wrap="square" lIns="0" tIns="0" rIns="0" bIns="0" rtlCol="0" anchor="ctr"/>
          <a:lstStyle/>
          <a:p>
            <a:pPr indent="0" marL="0">
              <a:lnSpc>
                <a:spcPct val="125000"/>
              </a:lnSpc>
              <a:buNone/>
            </a:pPr>
            <a:r>
              <a:rPr lang="en-US" sz="1150" dirty="0">
                <a:solidFill>
                  <a:srgbClr val="16191D"/>
                </a:solidFill>
                <a:latin typeface="Calibri" pitchFamily="34" charset="0"/>
                <a:ea typeface="Calibri" pitchFamily="34" charset="-122"/>
                <a:cs typeface="Calibri" pitchFamily="34" charset="-120"/>
              </a:rPr>
              <a:t>"page_size is hardcoded here. Move it to settings so we can change it without a code deploy. Rest looks good!"</a:t>
            </a:r>
            <a:endParaRPr lang="en-US" sz="1150" dirty="0"/>
          </a:p>
        </p:txBody>
      </p:sp>
      <p:sp>
        <p:nvSpPr>
          <p:cNvPr id="12" name="Shape 10"/>
          <p:cNvSpPr/>
          <p:nvPr/>
        </p:nvSpPr>
        <p:spPr>
          <a:xfrm>
            <a:off x="5897880" y="1325880"/>
            <a:ext cx="2788920" cy="2971800"/>
          </a:xfrm>
          <a:prstGeom prst="roundRect">
            <a:avLst>
              <a:gd name="adj" fmla="val 1967"/>
            </a:avLst>
          </a:prstGeom>
          <a:solidFill>
            <a:srgbClr val="FFFFFF"/>
          </a:solidFill>
          <a:ln w="12700">
            <a:solidFill>
              <a:srgbClr val="D5DCE3"/>
            </a:solidFill>
            <a:prstDash val="solid"/>
          </a:ln>
          <a:effectLst>
            <a:outerShdw sx="100000" sy="100000" kx="0" ky="0" algn="bl" rotWithShape="0" blurRad="177800" dist="25400" dir="5400000">
              <a:srgbClr val="000000">
                <a:alpha val="10000"/>
              </a:srgbClr>
            </a:outerShdw>
          </a:effectLst>
        </p:spPr>
      </p:sp>
      <p:sp>
        <p:nvSpPr>
          <p:cNvPr id="13" name="Text 11"/>
          <p:cNvSpPr txBox="1"/>
          <p:nvPr/>
        </p:nvSpPr>
        <p:spPr>
          <a:xfrm>
            <a:off x="6126480" y="1463040"/>
            <a:ext cx="2377440" cy="237744"/>
          </a:xfrm>
          <a:prstGeom prst="rect">
            <a:avLst/>
          </a:prstGeom>
          <a:noFill/>
          <a:ln/>
        </p:spPr>
        <p:txBody>
          <a:bodyPr wrap="square" lIns="0" tIns="0" rIns="0" bIns="0" rtlCol="0" anchor="ctr"/>
          <a:lstStyle/>
          <a:p>
            <a:pPr indent="0" marL="0">
              <a:buNone/>
            </a:pPr>
            <a:r>
              <a:rPr lang="en-US" sz="950" b="1" spc="150" kern="0" dirty="0">
                <a:solidFill>
                  <a:srgbClr val="5A6572"/>
                </a:solidFill>
                <a:latin typeface="Arial" pitchFamily="34" charset="0"/>
                <a:ea typeface="Arial" pitchFamily="34" charset="-122"/>
                <a:cs typeface="Arial" pitchFamily="34" charset="-120"/>
              </a:rPr>
              <a:t>THREE REVIEW VERDICTS</a:t>
            </a:r>
            <a:endParaRPr lang="en-US" sz="950" dirty="0"/>
          </a:p>
        </p:txBody>
      </p:sp>
      <p:sp>
        <p:nvSpPr>
          <p:cNvPr id="14" name="Shape 12"/>
          <p:cNvSpPr/>
          <p:nvPr/>
        </p:nvSpPr>
        <p:spPr>
          <a:xfrm>
            <a:off x="6126480" y="1792224"/>
            <a:ext cx="2377440" cy="310896"/>
          </a:xfrm>
          <a:prstGeom prst="roundRect">
            <a:avLst>
              <a:gd name="adj" fmla="val 23529"/>
            </a:avLst>
          </a:prstGeom>
          <a:solidFill>
            <a:srgbClr val="1F8A42"/>
          </a:solidFill>
          <a:ln w="12700">
            <a:solidFill>
              <a:srgbClr val="1F8A42"/>
            </a:solidFill>
            <a:prstDash val="solid"/>
          </a:ln>
        </p:spPr>
      </p:sp>
      <p:sp>
        <p:nvSpPr>
          <p:cNvPr id="15" name="Text 13"/>
          <p:cNvSpPr txBox="1"/>
          <p:nvPr/>
        </p:nvSpPr>
        <p:spPr>
          <a:xfrm>
            <a:off x="6126480" y="1792224"/>
            <a:ext cx="23774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Approve</a:t>
            </a:r>
            <a:endParaRPr lang="en-US" sz="1050" dirty="0"/>
          </a:p>
        </p:txBody>
      </p:sp>
      <p:sp>
        <p:nvSpPr>
          <p:cNvPr id="16" name="Text 14"/>
          <p:cNvSpPr txBox="1"/>
          <p:nvPr/>
        </p:nvSpPr>
        <p:spPr>
          <a:xfrm>
            <a:off x="6126480" y="2121408"/>
            <a:ext cx="2377440" cy="365760"/>
          </a:xfrm>
          <a:prstGeom prst="rect">
            <a:avLst/>
          </a:prstGeom>
          <a:noFill/>
          <a:ln/>
        </p:spPr>
        <p:txBody>
          <a:bodyPr wrap="square" lIns="0" tIns="0" rIns="0" bIns="0" rtlCol="0" anchor="ctr"/>
          <a:lstStyle/>
          <a:p>
            <a:pPr indent="0" marL="0">
              <a:lnSpc>
                <a:spcPct val="115000"/>
              </a:lnSpc>
              <a:buNone/>
            </a:pPr>
            <a:r>
              <a:rPr lang="en-US" sz="1000" dirty="0">
                <a:solidFill>
                  <a:srgbClr val="5A6572"/>
                </a:solidFill>
                <a:latin typeface="Calibri" pitchFamily="34" charset="0"/>
                <a:ea typeface="Calibri" pitchFamily="34" charset="-122"/>
                <a:cs typeface="Calibri" pitchFamily="34" charset="-120"/>
              </a:rPr>
              <a:t>Good to merge.</a:t>
            </a:r>
            <a:endParaRPr lang="en-US" sz="1000" dirty="0"/>
          </a:p>
        </p:txBody>
      </p:sp>
      <p:sp>
        <p:nvSpPr>
          <p:cNvPr id="17" name="Shape 15"/>
          <p:cNvSpPr/>
          <p:nvPr/>
        </p:nvSpPr>
        <p:spPr>
          <a:xfrm>
            <a:off x="6126480" y="2505456"/>
            <a:ext cx="2377440" cy="310896"/>
          </a:xfrm>
          <a:prstGeom prst="roundRect">
            <a:avLst>
              <a:gd name="adj" fmla="val 23529"/>
            </a:avLst>
          </a:prstGeom>
          <a:solidFill>
            <a:srgbClr val="5A6572"/>
          </a:solidFill>
          <a:ln w="12700">
            <a:solidFill>
              <a:srgbClr val="5A6572"/>
            </a:solidFill>
            <a:prstDash val="solid"/>
          </a:ln>
        </p:spPr>
      </p:sp>
      <p:sp>
        <p:nvSpPr>
          <p:cNvPr id="18" name="Text 16"/>
          <p:cNvSpPr txBox="1"/>
          <p:nvPr/>
        </p:nvSpPr>
        <p:spPr>
          <a:xfrm>
            <a:off x="6126480" y="2505456"/>
            <a:ext cx="23774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Comment</a:t>
            </a:r>
            <a:endParaRPr lang="en-US" sz="1050" dirty="0"/>
          </a:p>
        </p:txBody>
      </p:sp>
      <p:sp>
        <p:nvSpPr>
          <p:cNvPr id="19" name="Text 17"/>
          <p:cNvSpPr txBox="1"/>
          <p:nvPr/>
        </p:nvSpPr>
        <p:spPr>
          <a:xfrm>
            <a:off x="6126480" y="2834640"/>
            <a:ext cx="2377440" cy="365760"/>
          </a:xfrm>
          <a:prstGeom prst="rect">
            <a:avLst/>
          </a:prstGeom>
          <a:noFill/>
          <a:ln/>
        </p:spPr>
        <p:txBody>
          <a:bodyPr wrap="square" lIns="0" tIns="0" rIns="0" bIns="0" rtlCol="0" anchor="ctr"/>
          <a:lstStyle/>
          <a:p>
            <a:pPr indent="0" marL="0">
              <a:lnSpc>
                <a:spcPct val="115000"/>
              </a:lnSpc>
              <a:buNone/>
            </a:pPr>
            <a:r>
              <a:rPr lang="en-US" sz="1000" dirty="0">
                <a:solidFill>
                  <a:srgbClr val="5A6572"/>
                </a:solidFill>
                <a:latin typeface="Calibri" pitchFamily="34" charset="0"/>
                <a:ea typeface="Calibri" pitchFamily="34" charset="-122"/>
                <a:cs typeface="Calibri" pitchFamily="34" charset="-120"/>
              </a:rPr>
              <a:t>Thoughts, but not blocking.</a:t>
            </a:r>
            <a:endParaRPr lang="en-US" sz="1000" dirty="0"/>
          </a:p>
        </p:txBody>
      </p:sp>
      <p:sp>
        <p:nvSpPr>
          <p:cNvPr id="20" name="Shape 18"/>
          <p:cNvSpPr/>
          <p:nvPr/>
        </p:nvSpPr>
        <p:spPr>
          <a:xfrm>
            <a:off x="6126480" y="3218688"/>
            <a:ext cx="2377440" cy="310896"/>
          </a:xfrm>
          <a:prstGeom prst="roundRect">
            <a:avLst>
              <a:gd name="adj" fmla="val 23529"/>
            </a:avLst>
          </a:prstGeom>
          <a:solidFill>
            <a:srgbClr val="C1211F"/>
          </a:solidFill>
          <a:ln w="12700">
            <a:solidFill>
              <a:srgbClr val="C1211F"/>
            </a:solidFill>
            <a:prstDash val="solid"/>
          </a:ln>
        </p:spPr>
      </p:sp>
      <p:sp>
        <p:nvSpPr>
          <p:cNvPr id="21" name="Text 19"/>
          <p:cNvSpPr txBox="1"/>
          <p:nvPr/>
        </p:nvSpPr>
        <p:spPr>
          <a:xfrm>
            <a:off x="6126480" y="3218688"/>
            <a:ext cx="23774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Request changes</a:t>
            </a:r>
            <a:endParaRPr lang="en-US" sz="1050" dirty="0"/>
          </a:p>
        </p:txBody>
      </p:sp>
      <p:sp>
        <p:nvSpPr>
          <p:cNvPr id="22" name="Text 20"/>
          <p:cNvSpPr txBox="1"/>
          <p:nvPr/>
        </p:nvSpPr>
        <p:spPr>
          <a:xfrm>
            <a:off x="6126480" y="3547872"/>
            <a:ext cx="2377440" cy="365760"/>
          </a:xfrm>
          <a:prstGeom prst="rect">
            <a:avLst/>
          </a:prstGeom>
          <a:noFill/>
          <a:ln/>
        </p:spPr>
        <p:txBody>
          <a:bodyPr wrap="square" lIns="0" tIns="0" rIns="0" bIns="0" rtlCol="0" anchor="ctr"/>
          <a:lstStyle/>
          <a:p>
            <a:pPr indent="0" marL="0">
              <a:lnSpc>
                <a:spcPct val="115000"/>
              </a:lnSpc>
              <a:buNone/>
            </a:pPr>
            <a:r>
              <a:rPr lang="en-US" sz="1000" dirty="0">
                <a:solidFill>
                  <a:srgbClr val="5A6572"/>
                </a:solidFill>
                <a:latin typeface="Calibri" pitchFamily="34" charset="0"/>
                <a:ea typeface="Calibri" pitchFamily="34" charset="-122"/>
                <a:cs typeface="Calibri" pitchFamily="34" charset="-120"/>
              </a:rPr>
              <a:t>Fix this before it merges.</a:t>
            </a:r>
            <a:endParaRPr lang="en-US" sz="1000" dirty="0"/>
          </a:p>
        </p:txBody>
      </p:sp>
      <p:sp>
        <p:nvSpPr>
          <p:cNvPr id="23" name="Text 21"/>
          <p:cNvSpPr txBox="1"/>
          <p:nvPr/>
        </p:nvSpPr>
        <p:spPr>
          <a:xfrm>
            <a:off x="6126480" y="3950208"/>
            <a:ext cx="2377440" cy="274320"/>
          </a:xfrm>
          <a:prstGeom prst="rect">
            <a:avLst/>
          </a:prstGeom>
          <a:noFill/>
          <a:ln/>
        </p:spPr>
        <p:txBody>
          <a:bodyPr wrap="square" lIns="0" tIns="0" rIns="0" bIns="0" rtlCol="0" anchor="ctr"/>
          <a:lstStyle/>
          <a:p>
            <a:pPr indent="0" marL="0">
              <a:buNone/>
            </a:pPr>
            <a:r>
              <a:rPr lang="en-US" sz="1050" b="1" dirty="0">
                <a:solidFill>
                  <a:srgbClr val="C1211F"/>
                </a:solidFill>
                <a:latin typeface="Calibri" pitchFamily="34" charset="0"/>
                <a:ea typeface="Calibri" pitchFamily="34" charset="-122"/>
                <a:cs typeface="Calibri" pitchFamily="34" charset="-120"/>
              </a:rPr>
              <a:t>Meera picks Request changes.</a:t>
            </a:r>
            <a:endParaRPr lang="en-US" sz="1050" dirty="0"/>
          </a:p>
        </p:txBody>
      </p:sp>
      <p:sp>
        <p:nvSpPr>
          <p:cNvPr id="24" name="Text 22"/>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READ THIS BEFORE YOUR FIRST REVIEW</a:t>
            </a:r>
            <a:endParaRPr lang="en-US" sz="1000" dirty="0"/>
          </a:p>
        </p:txBody>
      </p:sp>
      <p:sp>
        <p:nvSpPr>
          <p:cNvPr id="3" name="Text 1"/>
          <p:cNvSpPr txBox="1"/>
          <p:nvPr/>
        </p:nvSpPr>
        <p:spPr>
          <a:xfrm>
            <a:off x="640080" y="1188720"/>
            <a:ext cx="7863840" cy="1463040"/>
          </a:xfrm>
          <a:prstGeom prst="rect">
            <a:avLst/>
          </a:prstGeom>
          <a:noFill/>
          <a:ln/>
        </p:spPr>
        <p:txBody>
          <a:bodyPr wrap="square" lIns="0" tIns="0" rIns="0" bIns="0" rtlCol="0" anchor="ctr"/>
          <a:lstStyle/>
          <a:p>
            <a:pPr indent="0" marL="0">
              <a:lnSpc>
                <a:spcPct val="125000"/>
              </a:lnSpc>
              <a:buNone/>
            </a:pPr>
            <a:r>
              <a:rPr lang="en-US" sz="2400" b="1" dirty="0">
                <a:solidFill>
                  <a:srgbClr val="FFFFFF"/>
                </a:solidFill>
                <a:latin typeface="Arial" pitchFamily="34" charset="0"/>
                <a:ea typeface="Arial" pitchFamily="34" charset="-122"/>
                <a:cs typeface="Arial" pitchFamily="34" charset="-120"/>
              </a:rPr>
              <a:t>A review comment is not criticism of you.</a:t>
            </a:r>
            <a:endParaRPr lang="en-US" sz="2400" dirty="0"/>
          </a:p>
          <a:p>
            <a:pPr indent="0" marL="0">
              <a:lnSpc>
                <a:spcPct val="125000"/>
              </a:lnSpc>
              <a:buNone/>
            </a:pPr>
            <a:r>
              <a:rPr lang="en-US" sz="2400" b="1" dirty="0">
                <a:solidFill>
                  <a:srgbClr val="FFFFFF"/>
                </a:solidFill>
                <a:latin typeface="Arial" pitchFamily="34" charset="0"/>
                <a:ea typeface="Arial" pitchFamily="34" charset="-122"/>
                <a:cs typeface="Arial" pitchFamily="34" charset="-120"/>
              </a:rPr>
              <a:t>It is two people making the code better</a:t>
            </a:r>
            <a:endParaRPr lang="en-US" sz="2400" dirty="0"/>
          </a:p>
          <a:p>
            <a:pPr indent="0" marL="0">
              <a:lnSpc>
                <a:spcPct val="125000"/>
              </a:lnSpc>
              <a:buNone/>
            </a:pPr>
            <a:r>
              <a:rPr lang="en-US" sz="2400" b="1" dirty="0">
                <a:solidFill>
                  <a:srgbClr val="FFFFFF"/>
                </a:solidFill>
                <a:latin typeface="Arial" pitchFamily="34" charset="0"/>
                <a:ea typeface="Arial" pitchFamily="34" charset="-122"/>
                <a:cs typeface="Arial" pitchFamily="34" charset="-120"/>
              </a:rPr>
              <a:t>than either would alone.</a:t>
            </a:r>
            <a:endParaRPr lang="en-US" sz="2400" dirty="0"/>
          </a:p>
        </p:txBody>
      </p:sp>
      <p:sp>
        <p:nvSpPr>
          <p:cNvPr id="4" name="Shape 2"/>
          <p:cNvSpPr/>
          <p:nvPr/>
        </p:nvSpPr>
        <p:spPr>
          <a:xfrm>
            <a:off x="640080" y="2880360"/>
            <a:ext cx="3794760" cy="1371600"/>
          </a:xfrm>
          <a:prstGeom prst="roundRect">
            <a:avLst>
              <a:gd name="adj" fmla="val 4000"/>
            </a:avLst>
          </a:prstGeom>
          <a:solidFill>
            <a:srgbClr val="20252B"/>
          </a:solidFill>
          <a:ln w="12700">
            <a:solidFill>
              <a:srgbClr val="3A424C"/>
            </a:solidFill>
            <a:prstDash val="solid"/>
          </a:ln>
        </p:spPr>
      </p:sp>
      <p:sp>
        <p:nvSpPr>
          <p:cNvPr id="5" name="Text 3"/>
          <p:cNvSpPr txBox="1"/>
          <p:nvPr/>
        </p:nvSpPr>
        <p:spPr>
          <a:xfrm>
            <a:off x="868680" y="2999232"/>
            <a:ext cx="3291840" cy="274320"/>
          </a:xfrm>
          <a:prstGeom prst="rect">
            <a:avLst/>
          </a:prstGeom>
          <a:noFill/>
          <a:ln/>
        </p:spPr>
        <p:txBody>
          <a:bodyPr wrap="square" lIns="0" tIns="0" rIns="0" bIns="0" rtlCol="0" anchor="ctr"/>
          <a:lstStyle/>
          <a:p>
            <a:pPr indent="0" marL="0">
              <a:buNone/>
            </a:pPr>
            <a:r>
              <a:rPr lang="en-US" sz="1250" b="1" dirty="0">
                <a:solidFill>
                  <a:srgbClr val="C4A5F5"/>
                </a:solidFill>
                <a:latin typeface="Arial" pitchFamily="34" charset="0"/>
                <a:ea typeface="Arial" pitchFamily="34" charset="-122"/>
                <a:cs typeface="Arial" pitchFamily="34" charset="-120"/>
              </a:rPr>
              <a:t>As the author</a:t>
            </a:r>
            <a:endParaRPr lang="en-US" sz="1250" dirty="0"/>
          </a:p>
        </p:txBody>
      </p:sp>
      <p:sp>
        <p:nvSpPr>
          <p:cNvPr id="6" name="Text 4"/>
          <p:cNvSpPr txBox="1"/>
          <p:nvPr/>
        </p:nvSpPr>
        <p:spPr>
          <a:xfrm>
            <a:off x="868680" y="3291840"/>
            <a:ext cx="3383280" cy="91440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Say thanks, then fix or discuss</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Ask "why" if you disagree — that is allowed</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Never take it personally</a:t>
            </a:r>
            <a:endParaRPr lang="en-US" sz="1050" dirty="0"/>
          </a:p>
        </p:txBody>
      </p:sp>
      <p:sp>
        <p:nvSpPr>
          <p:cNvPr id="7" name="Shape 5"/>
          <p:cNvSpPr/>
          <p:nvPr/>
        </p:nvSpPr>
        <p:spPr>
          <a:xfrm>
            <a:off x="4709160" y="2880360"/>
            <a:ext cx="3977640" cy="1371600"/>
          </a:xfrm>
          <a:prstGeom prst="roundRect">
            <a:avLst>
              <a:gd name="adj" fmla="val 4000"/>
            </a:avLst>
          </a:prstGeom>
          <a:solidFill>
            <a:srgbClr val="20252B"/>
          </a:solidFill>
          <a:ln w="12700">
            <a:solidFill>
              <a:srgbClr val="3A424C"/>
            </a:solidFill>
            <a:prstDash val="solid"/>
          </a:ln>
        </p:spPr>
      </p:sp>
      <p:sp>
        <p:nvSpPr>
          <p:cNvPr id="8" name="Text 6"/>
          <p:cNvSpPr txBox="1"/>
          <p:nvPr/>
        </p:nvSpPr>
        <p:spPr>
          <a:xfrm>
            <a:off x="4937760" y="2999232"/>
            <a:ext cx="3474720" cy="274320"/>
          </a:xfrm>
          <a:prstGeom prst="rect">
            <a:avLst/>
          </a:prstGeom>
          <a:noFill/>
          <a:ln/>
        </p:spPr>
        <p:txBody>
          <a:bodyPr wrap="square" lIns="0" tIns="0" rIns="0" bIns="0" rtlCol="0" anchor="ctr"/>
          <a:lstStyle/>
          <a:p>
            <a:pPr indent="0" marL="0">
              <a:buNone/>
            </a:pPr>
            <a:r>
              <a:rPr lang="en-US" sz="1250" b="1" dirty="0">
                <a:solidFill>
                  <a:srgbClr val="FFAA64"/>
                </a:solidFill>
                <a:latin typeface="Arial" pitchFamily="34" charset="0"/>
                <a:ea typeface="Arial" pitchFamily="34" charset="-122"/>
                <a:cs typeface="Arial" pitchFamily="34" charset="-120"/>
              </a:rPr>
              <a:t>As the reviewer</a:t>
            </a:r>
            <a:endParaRPr lang="en-US" sz="1250" dirty="0"/>
          </a:p>
        </p:txBody>
      </p:sp>
      <p:sp>
        <p:nvSpPr>
          <p:cNvPr id="9" name="Text 7"/>
          <p:cNvSpPr txBox="1"/>
          <p:nvPr/>
        </p:nvSpPr>
        <p:spPr>
          <a:xfrm>
            <a:off x="4937760" y="3291840"/>
            <a:ext cx="3566160" cy="91440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Comment on the code, never the person</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Explain why, do not just demand</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Say what you liked too</a:t>
            </a:r>
            <a:endParaRPr lang="en-US" sz="1050" dirty="0"/>
          </a:p>
        </p:txBody>
      </p:sp>
      <p:sp>
        <p:nvSpPr>
          <p:cNvPr id="10" name="Text 8"/>
          <p:cNvSpPr txBox="1"/>
          <p:nvPr/>
        </p:nvSpPr>
        <p:spPr>
          <a:xfrm>
            <a:off x="640080" y="4389120"/>
            <a:ext cx="7863840" cy="274320"/>
          </a:xfrm>
          <a:prstGeom prst="rect">
            <a:avLst/>
          </a:prstGeom>
          <a:noFill/>
          <a:ln/>
        </p:spPr>
        <p:txBody>
          <a:bodyPr wrap="square" lIns="0" tIns="0" rIns="0" bIns="0"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Every senior developer's code is reviewed too. Including the TL's. Including the CTO's.</a:t>
            </a:r>
            <a:endParaRPr lang="en-US" sz="1200" dirty="0"/>
          </a:p>
        </p:txBody>
      </p:sp>
      <p:sp>
        <p:nvSpPr>
          <p:cNvPr id="11" name="Text 9"/>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DEMO 8 · DEVELOPER RESPONDS</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FFFFFF"/>
                </a:solidFill>
                <a:latin typeface="Arial" pitchFamily="34" charset="0"/>
                <a:ea typeface="Arial" pitchFamily="34" charset="-122"/>
                <a:cs typeface="Arial" pitchFamily="34" charset="-120"/>
              </a:rPr>
              <a:t>Fix it, push it — the PR updates itself</a:t>
            </a:r>
            <a:endParaRPr lang="en-US" sz="2800" dirty="0"/>
          </a:p>
        </p:txBody>
      </p:sp>
      <p:sp>
        <p:nvSpPr>
          <p:cNvPr id="4" name="Shape 2"/>
          <p:cNvSpPr/>
          <p:nvPr/>
        </p:nvSpPr>
        <p:spPr>
          <a:xfrm>
            <a:off x="502920" y="1371600"/>
            <a:ext cx="4937760" cy="2331720"/>
          </a:xfrm>
          <a:prstGeom prst="roundRect">
            <a:avLst>
              <a:gd name="adj" fmla="val 1961"/>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425196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DEV — still on feature/product-search</a:t>
            </a:r>
            <a:endParaRPr lang="en-US" sz="850" dirty="0"/>
          </a:p>
        </p:txBody>
      </p:sp>
      <p:sp>
        <p:nvSpPr>
          <p:cNvPr id="9" name="Text 7"/>
          <p:cNvSpPr txBox="1"/>
          <p:nvPr/>
        </p:nvSpPr>
        <p:spPr>
          <a:xfrm>
            <a:off x="704088" y="1737360"/>
            <a:ext cx="4535424" cy="1828800"/>
          </a:xfrm>
          <a:prstGeom prst="rect">
            <a:avLst/>
          </a:prstGeom>
          <a:noFill/>
          <a:ln/>
        </p:spPr>
        <p:txBody>
          <a:bodyPr wrap="square" lIns="0" tIns="0" rIns="0" bIns="0" rtlCol="0" anchor="t"/>
          <a:lstStyle/>
          <a:p>
            <a:pPr indent="0" marL="0">
              <a:lnSpc>
                <a:spcPct val="122000"/>
              </a:lnSpc>
              <a:buNone/>
            </a:pPr>
            <a:r>
              <a:rPr lang="en-US" sz="1000" i="1" dirty="0">
                <a:solidFill>
                  <a:srgbClr val="6E7681"/>
                </a:solidFill>
                <a:latin typeface="Courier New" pitchFamily="34" charset="0"/>
                <a:ea typeface="Courier New" pitchFamily="34" charset="-122"/>
                <a:cs typeface="Courier New" pitchFamily="34" charset="-120"/>
              </a:rPr>
              <a:t># edit search.py: use settings value</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add campuscart/search.py</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commit -m "Move page size to</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settings"</a:t>
            </a:r>
            <a:endParaRPr lang="en-US" sz="1000" dirty="0"/>
          </a:p>
          <a:p>
            <a:pPr indent="0" marL="0">
              <a:lnSpc>
                <a:spcPct val="122000"/>
              </a:lnSpc>
              <a:buNone/>
            </a:pPr>
            <a:r>
              <a:rPr lang="en-US" sz="1000" b="1" dirty="0">
                <a:solidFill>
                  <a:srgbClr val="6FD37E"/>
                </a:solidFill>
                <a:latin typeface="Courier New" pitchFamily="34" charset="0"/>
                <a:ea typeface="Courier New" pitchFamily="34" charset="-122"/>
                <a:cs typeface="Courier New" pitchFamily="34" charset="-120"/>
              </a:rPr>
              <a:t>$ git push</a:t>
            </a:r>
            <a:endParaRPr lang="en-US" sz="1000" dirty="0"/>
          </a:p>
          <a:p>
            <a:pPr indent="0" marL="0">
              <a:lnSpc>
                <a:spcPct val="122000"/>
              </a:lnSpc>
              <a:buNone/>
            </a:pPr>
            <a:r>
              <a:rPr lang="en-US" sz="1000" dirty="0">
                <a:solidFill>
                  <a:srgbClr val="8B949E"/>
                </a:solidFill>
                <a:latin typeface="Courier New" pitchFamily="34" charset="0"/>
                <a:ea typeface="Courier New" pitchFamily="34" charset="-122"/>
                <a:cs typeface="Courier New" pitchFamily="34" charset="-120"/>
              </a:rPr>
              <a:t> </a:t>
            </a:r>
            <a:endParaRPr lang="en-US" sz="1000" dirty="0"/>
          </a:p>
          <a:p>
            <a:pPr indent="0" marL="0">
              <a:lnSpc>
                <a:spcPct val="122000"/>
              </a:lnSpc>
              <a:buNone/>
            </a:pPr>
            <a:r>
              <a:rPr lang="en-US" sz="1000" i="1" dirty="0">
                <a:solidFill>
                  <a:srgbClr val="6E7681"/>
                </a:solidFill>
                <a:latin typeface="Courier New" pitchFamily="34" charset="0"/>
                <a:ea typeface="Courier New" pitchFamily="34" charset="-122"/>
                <a:cs typeface="Courier New" pitchFamily="34" charset="-120"/>
              </a:rPr>
              <a:t># NO new branch.</a:t>
            </a:r>
            <a:endParaRPr lang="en-US" sz="1000" dirty="0"/>
          </a:p>
          <a:p>
            <a:pPr indent="0" marL="0">
              <a:lnSpc>
                <a:spcPct val="122000"/>
              </a:lnSpc>
              <a:buNone/>
            </a:pPr>
            <a:r>
              <a:rPr lang="en-US" sz="1000" i="1" dirty="0">
                <a:solidFill>
                  <a:srgbClr val="6E7681"/>
                </a:solidFill>
                <a:latin typeface="Courier New" pitchFamily="34" charset="0"/>
                <a:ea typeface="Courier New" pitchFamily="34" charset="-122"/>
                <a:cs typeface="Courier New" pitchFamily="34" charset="-120"/>
              </a:rPr>
              <a:t># NO new pull request.</a:t>
            </a:r>
            <a:endParaRPr lang="en-US" sz="1000" dirty="0"/>
          </a:p>
          <a:p>
            <a:pPr indent="0" marL="0">
              <a:lnSpc>
                <a:spcPct val="122000"/>
              </a:lnSpc>
              <a:buNone/>
            </a:pPr>
            <a:r>
              <a:rPr lang="en-US" sz="1000" dirty="0">
                <a:solidFill>
                  <a:srgbClr val="6FD37E"/>
                </a:solidFill>
                <a:latin typeface="Courier New" pitchFamily="34" charset="0"/>
                <a:ea typeface="Courier New" pitchFamily="34" charset="-122"/>
                <a:cs typeface="Courier New" pitchFamily="34" charset="-120"/>
              </a:rPr>
              <a:t># The open PR just updated.</a:t>
            </a:r>
            <a:endParaRPr lang="en-US" sz="1000" dirty="0"/>
          </a:p>
        </p:txBody>
      </p:sp>
      <p:sp>
        <p:nvSpPr>
          <p:cNvPr id="10" name="Shape 8"/>
          <p:cNvSpPr/>
          <p:nvPr/>
        </p:nvSpPr>
        <p:spPr>
          <a:xfrm>
            <a:off x="5715000" y="1371600"/>
            <a:ext cx="2971800" cy="2331720"/>
          </a:xfrm>
          <a:prstGeom prst="roundRect">
            <a:avLst>
              <a:gd name="adj" fmla="val 2353"/>
            </a:avLst>
          </a:prstGeom>
          <a:solidFill>
            <a:srgbClr val="20252B"/>
          </a:solidFill>
          <a:ln w="12700">
            <a:solidFill>
              <a:srgbClr val="3A424C"/>
            </a:solidFill>
            <a:prstDash val="solid"/>
          </a:ln>
        </p:spPr>
      </p:sp>
      <p:sp>
        <p:nvSpPr>
          <p:cNvPr id="11" name="Text 9"/>
          <p:cNvSpPr txBox="1"/>
          <p:nvPr/>
        </p:nvSpPr>
        <p:spPr>
          <a:xfrm>
            <a:off x="5943600" y="1490472"/>
            <a:ext cx="2560320" cy="237744"/>
          </a:xfrm>
          <a:prstGeom prst="rect">
            <a:avLst/>
          </a:prstGeom>
          <a:noFill/>
          <a:ln/>
        </p:spPr>
        <p:txBody>
          <a:bodyPr wrap="square" lIns="0" tIns="0" rIns="0" bIns="0" rtlCol="0" anchor="ctr"/>
          <a:lstStyle/>
          <a:p>
            <a:pPr indent="0" marL="0">
              <a:buNone/>
            </a:pPr>
            <a:r>
              <a:rPr lang="en-US" sz="950" b="1" spc="150" kern="0" dirty="0">
                <a:solidFill>
                  <a:srgbClr val="8B949E"/>
                </a:solidFill>
                <a:latin typeface="Arial" pitchFamily="34" charset="0"/>
                <a:ea typeface="Arial" pitchFamily="34" charset="-122"/>
                <a:cs typeface="Arial" pitchFamily="34" charset="-120"/>
              </a:rPr>
              <a:t>A PR TRACKS A BRANCH</a:t>
            </a:r>
            <a:endParaRPr lang="en-US" sz="950" dirty="0"/>
          </a:p>
        </p:txBody>
      </p:sp>
      <p:sp>
        <p:nvSpPr>
          <p:cNvPr id="12" name="Text 10"/>
          <p:cNvSpPr txBox="1"/>
          <p:nvPr/>
        </p:nvSpPr>
        <p:spPr>
          <a:xfrm>
            <a:off x="5943600" y="1783080"/>
            <a:ext cx="2560320" cy="1828800"/>
          </a:xfrm>
          <a:prstGeom prst="rect">
            <a:avLst/>
          </a:prstGeom>
          <a:noFill/>
          <a:ln/>
        </p:spPr>
        <p:txBody>
          <a:bodyPr wrap="square" lIns="0" tIns="0" rIns="0" bIns="0" rtlCol="0" anchor="ctr"/>
          <a:lstStyle/>
          <a:p>
            <a:pPr indent="0" marL="0">
              <a:lnSpc>
                <a:spcPct val="130000"/>
              </a:lnSpc>
              <a:buNone/>
            </a:pPr>
            <a:r>
              <a:rPr lang="en-US" sz="1050" dirty="0">
                <a:solidFill>
                  <a:srgbClr val="C9D1D9"/>
                </a:solidFill>
                <a:latin typeface="Calibri" pitchFamily="34" charset="0"/>
                <a:ea typeface="Calibri" pitchFamily="34" charset="-122"/>
                <a:cs typeface="Calibri" pitchFamily="34" charset="-120"/>
              </a:rPr>
              <a:t>The PR is not a snapshot of your code. It is a live view of the branch.</a:t>
            </a:r>
            <a:endParaRPr lang="en-US" sz="1050" dirty="0"/>
          </a:p>
          <a:p>
            <a:pPr indent="0" marL="0">
              <a:lnSpc>
                <a:spcPct val="130000"/>
              </a:lnSpc>
              <a:buNone/>
            </a:pPr>
            <a:endParaRPr lang="en-US" sz="1050" dirty="0"/>
          </a:p>
          <a:p>
            <a:pPr indent="0" marL="0">
              <a:lnSpc>
                <a:spcPct val="130000"/>
              </a:lnSpc>
              <a:buNone/>
            </a:pPr>
            <a:r>
              <a:rPr lang="en-US" sz="1050" dirty="0">
                <a:solidFill>
                  <a:srgbClr val="C9D1D9"/>
                </a:solidFill>
                <a:latin typeface="Calibri" pitchFamily="34" charset="0"/>
                <a:ea typeface="Calibri" pitchFamily="34" charset="-122"/>
                <a:cs typeface="Calibri" pitchFamily="34" charset="-120"/>
              </a:rPr>
              <a:t>Every push to that branch appears in the PR automatically — new commit, updated diff, reviewer notified.</a:t>
            </a:r>
            <a:endParaRPr lang="en-US" sz="1050" dirty="0"/>
          </a:p>
        </p:txBody>
      </p:sp>
      <p:sp>
        <p:nvSpPr>
          <p:cNvPr id="13" name="Shape 11"/>
          <p:cNvSpPr/>
          <p:nvPr/>
        </p:nvSpPr>
        <p:spPr>
          <a:xfrm>
            <a:off x="502920" y="3840480"/>
            <a:ext cx="8183880" cy="594360"/>
          </a:xfrm>
          <a:prstGeom prst="roundRect">
            <a:avLst>
              <a:gd name="adj" fmla="val 9231"/>
            </a:avLst>
          </a:prstGeom>
          <a:solidFill>
            <a:srgbClr val="20252B"/>
          </a:solidFill>
          <a:ln w="12700">
            <a:solidFill>
              <a:srgbClr val="3A424C"/>
            </a:solidFill>
            <a:prstDash val="solid"/>
          </a:ln>
        </p:spPr>
      </p:sp>
      <p:sp>
        <p:nvSpPr>
          <p:cNvPr id="14" name="Text 12"/>
          <p:cNvSpPr txBox="1"/>
          <p:nvPr/>
        </p:nvSpPr>
        <p:spPr>
          <a:xfrm>
            <a:off x="777240" y="3840480"/>
            <a:ext cx="7772400" cy="594360"/>
          </a:xfrm>
          <a:prstGeom prst="rect">
            <a:avLst/>
          </a:prstGeom>
          <a:noFill/>
          <a:ln/>
        </p:spPr>
        <p:txBody>
          <a:bodyPr wrap="square" lIns="0" tIns="0" rIns="0" bIns="0" rtlCol="0" anchor="ctr"/>
          <a:lstStyle/>
          <a:p>
            <a:pPr indent="0" marL="0">
              <a:buNone/>
            </a:pPr>
            <a:r>
              <a:rPr lang="en-US" sz="1200" dirty="0">
                <a:solidFill>
                  <a:srgbClr val="C9D1D9"/>
                </a:solidFill>
                <a:latin typeface="Calibri" pitchFamily="34" charset="0"/>
                <a:ea typeface="Calibri" pitchFamily="34" charset="-122"/>
                <a:cs typeface="Calibri" pitchFamily="34" charset="-120"/>
              </a:rPr>
              <a:t>Then: reply to the comment, click Resolve conversation, and re-request review from Meera.</a:t>
            </a:r>
            <a:endParaRPr lang="en-US" sz="1200" dirty="0"/>
          </a:p>
        </p:txBody>
      </p:sp>
      <p:sp>
        <p:nvSpPr>
          <p:cNvPr id="15" name="Text 13"/>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DEMO 9 · TEAM LEAD</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Approve, merge, delete the branch</a:t>
            </a:r>
            <a:endParaRPr lang="en-US" sz="2900" dirty="0"/>
          </a:p>
        </p:txBody>
      </p:sp>
      <p:sp>
        <p:nvSpPr>
          <p:cNvPr id="4" name="Shape 2"/>
          <p:cNvSpPr/>
          <p:nvPr/>
        </p:nvSpPr>
        <p:spPr>
          <a:xfrm>
            <a:off x="502920" y="1371600"/>
            <a:ext cx="3977640" cy="1920240"/>
          </a:xfrm>
          <a:prstGeom prst="roundRect">
            <a:avLst>
              <a:gd name="adj" fmla="val 2857"/>
            </a:avLst>
          </a:prstGeom>
          <a:solidFill>
            <a:srgbClr val="20252B"/>
          </a:solidFill>
          <a:ln w="12700">
            <a:solidFill>
              <a:srgbClr val="3A424C"/>
            </a:solidFill>
            <a:prstDash val="solid"/>
          </a:ln>
        </p:spPr>
      </p:sp>
      <p:sp>
        <p:nvSpPr>
          <p:cNvPr id="5" name="Text 3"/>
          <p:cNvSpPr txBox="1"/>
          <p:nvPr/>
        </p:nvSpPr>
        <p:spPr>
          <a:xfrm>
            <a:off x="731520" y="1481328"/>
            <a:ext cx="3474720" cy="237744"/>
          </a:xfrm>
          <a:prstGeom prst="rect">
            <a:avLst/>
          </a:prstGeom>
          <a:noFill/>
          <a:ln/>
        </p:spPr>
        <p:txBody>
          <a:bodyPr wrap="square" lIns="0" tIns="0" rIns="0" bIns="0" rtlCol="0" anchor="ctr"/>
          <a:lstStyle/>
          <a:p>
            <a:pPr indent="0" marL="0">
              <a:buNone/>
            </a:pPr>
            <a:r>
              <a:rPr lang="en-US" sz="950" b="1" spc="180" kern="0" dirty="0">
                <a:solidFill>
                  <a:srgbClr val="8B949E"/>
                </a:solidFill>
                <a:latin typeface="Arial" pitchFamily="34" charset="0"/>
                <a:ea typeface="Arial" pitchFamily="34" charset="-122"/>
                <a:cs typeface="Arial" pitchFamily="34" charset="-120"/>
              </a:rPr>
              <a:t>ON GITHUB</a:t>
            </a:r>
            <a:endParaRPr lang="en-US" sz="950" dirty="0"/>
          </a:p>
        </p:txBody>
      </p:sp>
      <p:sp>
        <p:nvSpPr>
          <p:cNvPr id="6" name="Shape 4"/>
          <p:cNvSpPr/>
          <p:nvPr/>
        </p:nvSpPr>
        <p:spPr>
          <a:xfrm>
            <a:off x="731520" y="1783080"/>
            <a:ext cx="3474720" cy="329184"/>
          </a:xfrm>
          <a:prstGeom prst="roundRect">
            <a:avLst>
              <a:gd name="adj" fmla="val 22222"/>
            </a:avLst>
          </a:prstGeom>
          <a:solidFill>
            <a:srgbClr val="1F8A42"/>
          </a:solidFill>
          <a:ln w="12700">
            <a:solidFill>
              <a:srgbClr val="1F8A42"/>
            </a:solidFill>
            <a:prstDash val="solid"/>
          </a:ln>
        </p:spPr>
      </p:sp>
      <p:sp>
        <p:nvSpPr>
          <p:cNvPr id="7" name="Text 5"/>
          <p:cNvSpPr txBox="1"/>
          <p:nvPr/>
        </p:nvSpPr>
        <p:spPr>
          <a:xfrm>
            <a:off x="731520" y="1783080"/>
            <a:ext cx="347472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Review changes → Approve</a:t>
            </a:r>
            <a:endParaRPr lang="en-US" sz="1050" dirty="0"/>
          </a:p>
        </p:txBody>
      </p:sp>
      <p:sp>
        <p:nvSpPr>
          <p:cNvPr id="8" name="Shape 6"/>
          <p:cNvSpPr/>
          <p:nvPr/>
        </p:nvSpPr>
        <p:spPr>
          <a:xfrm>
            <a:off x="731520" y="2194560"/>
            <a:ext cx="3474720" cy="329184"/>
          </a:xfrm>
          <a:prstGeom prst="roundRect">
            <a:avLst>
              <a:gd name="adj" fmla="val 22222"/>
            </a:avLst>
          </a:prstGeom>
          <a:solidFill>
            <a:srgbClr val="7B3FD4"/>
          </a:solidFill>
          <a:ln w="12700">
            <a:solidFill>
              <a:srgbClr val="7B3FD4"/>
            </a:solidFill>
            <a:prstDash val="solid"/>
          </a:ln>
        </p:spPr>
      </p:sp>
      <p:sp>
        <p:nvSpPr>
          <p:cNvPr id="9" name="Text 7"/>
          <p:cNvSpPr txBox="1"/>
          <p:nvPr/>
        </p:nvSpPr>
        <p:spPr>
          <a:xfrm>
            <a:off x="731520" y="2194560"/>
            <a:ext cx="347472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Merge pull request</a:t>
            </a:r>
            <a:endParaRPr lang="en-US" sz="1050" dirty="0"/>
          </a:p>
        </p:txBody>
      </p:sp>
      <p:sp>
        <p:nvSpPr>
          <p:cNvPr id="10" name="Shape 8"/>
          <p:cNvSpPr/>
          <p:nvPr/>
        </p:nvSpPr>
        <p:spPr>
          <a:xfrm>
            <a:off x="731520" y="2606040"/>
            <a:ext cx="3474720" cy="329184"/>
          </a:xfrm>
          <a:prstGeom prst="roundRect">
            <a:avLst>
              <a:gd name="adj" fmla="val 22222"/>
            </a:avLst>
          </a:prstGeom>
          <a:solidFill>
            <a:srgbClr val="3A424C"/>
          </a:solidFill>
          <a:ln w="12700">
            <a:solidFill>
              <a:srgbClr val="3A424C"/>
            </a:solidFill>
            <a:prstDash val="solid"/>
          </a:ln>
        </p:spPr>
      </p:sp>
      <p:sp>
        <p:nvSpPr>
          <p:cNvPr id="11" name="Text 9"/>
          <p:cNvSpPr txBox="1"/>
          <p:nvPr/>
        </p:nvSpPr>
        <p:spPr>
          <a:xfrm>
            <a:off x="731520" y="2606040"/>
            <a:ext cx="3474720" cy="329184"/>
          </a:xfrm>
          <a:prstGeom prst="rect">
            <a:avLst/>
          </a:prstGeom>
          <a:noFill/>
          <a:ln/>
        </p:spPr>
        <p:txBody>
          <a:bodyPr wrap="square" lIns="0" tIns="0" rIns="0" bIns="0" rtlCol="0" anchor="ctr"/>
          <a:lstStyle/>
          <a:p>
            <a:pPr algn="ctr" indent="0" marL="0">
              <a:buNone/>
            </a:pPr>
            <a:r>
              <a:rPr lang="en-US" sz="1050" b="1" dirty="0">
                <a:solidFill>
                  <a:srgbClr val="C9D1D9"/>
                </a:solidFill>
                <a:latin typeface="Calibri" pitchFamily="34" charset="0"/>
                <a:ea typeface="Calibri" pitchFamily="34" charset="-122"/>
                <a:cs typeface="Calibri" pitchFamily="34" charset="-120"/>
              </a:rPr>
              <a:t>3  Delete branch</a:t>
            </a:r>
            <a:endParaRPr lang="en-US" sz="1050" dirty="0"/>
          </a:p>
        </p:txBody>
      </p:sp>
      <p:sp>
        <p:nvSpPr>
          <p:cNvPr id="12" name="Shape 10"/>
          <p:cNvSpPr/>
          <p:nvPr/>
        </p:nvSpPr>
        <p:spPr>
          <a:xfrm>
            <a:off x="4709160" y="1371600"/>
            <a:ext cx="3977640" cy="1920240"/>
          </a:xfrm>
          <a:prstGeom prst="roundRect">
            <a:avLst>
              <a:gd name="adj" fmla="val 2381"/>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13" name="Shape 11"/>
          <p:cNvSpPr/>
          <p:nvPr/>
        </p:nvSpPr>
        <p:spPr>
          <a:xfrm>
            <a:off x="4846320" y="1504188"/>
            <a:ext cx="77724" cy="77724"/>
          </a:xfrm>
          <a:prstGeom prst="ellipse">
            <a:avLst/>
          </a:prstGeom>
          <a:solidFill>
            <a:srgbClr val="FF5F56"/>
          </a:solidFill>
          <a:ln w="12700">
            <a:solidFill>
              <a:srgbClr val="FF5F56"/>
            </a:solidFill>
            <a:prstDash val="solid"/>
          </a:ln>
        </p:spPr>
      </p:sp>
      <p:sp>
        <p:nvSpPr>
          <p:cNvPr id="14" name="Shape 12"/>
          <p:cNvSpPr/>
          <p:nvPr/>
        </p:nvSpPr>
        <p:spPr>
          <a:xfrm>
            <a:off x="4988052" y="1504188"/>
            <a:ext cx="77724" cy="77724"/>
          </a:xfrm>
          <a:prstGeom prst="ellipse">
            <a:avLst/>
          </a:prstGeom>
          <a:solidFill>
            <a:srgbClr val="FFBD2E"/>
          </a:solidFill>
          <a:ln w="12700">
            <a:solidFill>
              <a:srgbClr val="FFBD2E"/>
            </a:solidFill>
            <a:prstDash val="solid"/>
          </a:ln>
        </p:spPr>
      </p:sp>
      <p:sp>
        <p:nvSpPr>
          <p:cNvPr id="15" name="Shape 13"/>
          <p:cNvSpPr/>
          <p:nvPr/>
        </p:nvSpPr>
        <p:spPr>
          <a:xfrm>
            <a:off x="5129784" y="1504188"/>
            <a:ext cx="77724" cy="77724"/>
          </a:xfrm>
          <a:prstGeom prst="ellipse">
            <a:avLst/>
          </a:prstGeom>
          <a:solidFill>
            <a:srgbClr val="27C93F"/>
          </a:solidFill>
          <a:ln w="12700">
            <a:solidFill>
              <a:srgbClr val="27C93F"/>
            </a:solidFill>
            <a:prstDash val="solid"/>
          </a:ln>
        </p:spPr>
      </p:sp>
      <p:sp>
        <p:nvSpPr>
          <p:cNvPr id="16" name="Text 14"/>
          <p:cNvSpPr txBox="1"/>
          <p:nvPr/>
        </p:nvSpPr>
        <p:spPr>
          <a:xfrm>
            <a:off x="5276088" y="1449324"/>
            <a:ext cx="329184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main now contains order history</a:t>
            </a:r>
            <a:endParaRPr lang="en-US" sz="850" dirty="0"/>
          </a:p>
        </p:txBody>
      </p:sp>
      <p:sp>
        <p:nvSpPr>
          <p:cNvPr id="17" name="Text 15"/>
          <p:cNvSpPr txBox="1"/>
          <p:nvPr/>
        </p:nvSpPr>
        <p:spPr>
          <a:xfrm>
            <a:off x="4910328" y="1737360"/>
            <a:ext cx="3575304" cy="141732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switch main</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pull</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log --oneline</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deb9467 Merge pull request #1</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8974ca0 Add order history view</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de088a3 Initial commit</a:t>
            </a:r>
            <a:endParaRPr lang="en-US" sz="950" dirty="0"/>
          </a:p>
        </p:txBody>
      </p:sp>
      <p:sp>
        <p:nvSpPr>
          <p:cNvPr id="18" name="Shape 16"/>
          <p:cNvSpPr/>
          <p:nvPr/>
        </p:nvSpPr>
        <p:spPr>
          <a:xfrm>
            <a:off x="502920" y="3429000"/>
            <a:ext cx="8183880" cy="1005840"/>
          </a:xfrm>
          <a:prstGeom prst="roundRect">
            <a:avLst>
              <a:gd name="adj" fmla="val 5455"/>
            </a:avLst>
          </a:prstGeom>
          <a:solidFill>
            <a:srgbClr val="20252B"/>
          </a:solidFill>
          <a:ln w="12700">
            <a:solidFill>
              <a:srgbClr val="3A424C"/>
            </a:solidFill>
            <a:prstDash val="solid"/>
          </a:ln>
        </p:spPr>
      </p:sp>
      <p:sp>
        <p:nvSpPr>
          <p:cNvPr id="19" name="Text 17"/>
          <p:cNvSpPr txBox="1"/>
          <p:nvPr/>
        </p:nvSpPr>
        <p:spPr>
          <a:xfrm>
            <a:off x="777240" y="3529584"/>
            <a:ext cx="2743200" cy="256032"/>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Why delete the branch?</a:t>
            </a:r>
            <a:endParaRPr lang="en-US" sz="1200" dirty="0"/>
          </a:p>
        </p:txBody>
      </p:sp>
      <p:sp>
        <p:nvSpPr>
          <p:cNvPr id="20" name="Text 18"/>
          <p:cNvSpPr txBox="1"/>
          <p:nvPr/>
        </p:nvSpPr>
        <p:spPr>
          <a:xfrm>
            <a:off x="777240" y="3803904"/>
            <a:ext cx="7680960" cy="548640"/>
          </a:xfrm>
          <a:prstGeom prst="rect">
            <a:avLst/>
          </a:prstGeom>
          <a:noFill/>
          <a:ln/>
        </p:spPr>
        <p:txBody>
          <a:bodyPr wrap="square" lIns="0" tIns="0" rIns="0" bIns="0" rtlCol="0" anchor="ctr"/>
          <a:lstStyle/>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Its commits are safely inside main now — nothing is lost. Deleting keeps the branch list meaningful:</a:t>
            </a:r>
            <a:endParaRPr lang="en-US" sz="1100" dirty="0"/>
          </a:p>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every branch you see on GitHub should be work that is still in progress.</a:t>
            </a:r>
            <a:endParaRPr lang="en-US" sz="1100" dirty="0"/>
          </a:p>
        </p:txBody>
      </p:sp>
      <p:sp>
        <p:nvSpPr>
          <p:cNvPr id="21" name="Text 19"/>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THE DROPDOWN NEXT TO THE MERGE BUTTON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Merge commit or squash?</a:t>
            </a:r>
            <a:endParaRPr lang="en-US" sz="3000" dirty="0"/>
          </a:p>
        </p:txBody>
      </p:sp>
      <p:sp>
        <p:nvSpPr>
          <p:cNvPr id="4" name="Shape 2"/>
          <p:cNvSpPr/>
          <p:nvPr/>
        </p:nvSpPr>
        <p:spPr>
          <a:xfrm>
            <a:off x="502920" y="1371600"/>
            <a:ext cx="3977640" cy="2377440"/>
          </a:xfrm>
          <a:prstGeom prst="roundRect">
            <a:avLst>
              <a:gd name="adj" fmla="val 2308"/>
            </a:avLst>
          </a:prstGeom>
          <a:solidFill>
            <a:srgbClr val="F3F5F7"/>
          </a:solidFill>
          <a:ln w="12700">
            <a:solidFill>
              <a:srgbClr val="D5DCE3"/>
            </a:solidFill>
            <a:prstDash val="solid"/>
          </a:ln>
        </p:spPr>
      </p:sp>
      <p:sp>
        <p:nvSpPr>
          <p:cNvPr id="5" name="Text 3"/>
          <p:cNvSpPr txBox="1"/>
          <p:nvPr/>
        </p:nvSpPr>
        <p:spPr>
          <a:xfrm>
            <a:off x="731520" y="1508760"/>
            <a:ext cx="3566160" cy="292608"/>
          </a:xfrm>
          <a:prstGeom prst="rect">
            <a:avLst/>
          </a:prstGeom>
          <a:noFill/>
          <a:ln/>
        </p:spPr>
        <p:txBody>
          <a:bodyPr wrap="square" lIns="0" tIns="0" rIns="0" bIns="0" rtlCol="0" anchor="ctr"/>
          <a:lstStyle/>
          <a:p>
            <a:pPr indent="0" marL="0">
              <a:buNone/>
            </a:pPr>
            <a:r>
              <a:rPr lang="en-US" sz="1400" b="1" dirty="0">
                <a:solidFill>
                  <a:srgbClr val="16191D"/>
                </a:solidFill>
                <a:latin typeface="Arial" pitchFamily="34" charset="0"/>
                <a:ea typeface="Arial" pitchFamily="34" charset="-122"/>
                <a:cs typeface="Arial" pitchFamily="34" charset="-120"/>
              </a:rPr>
              <a:t>Create a merge commit</a:t>
            </a:r>
            <a:endParaRPr lang="en-US" sz="1400" dirty="0"/>
          </a:p>
        </p:txBody>
      </p:sp>
      <p:sp>
        <p:nvSpPr>
          <p:cNvPr id="6" name="Text 4"/>
          <p:cNvSpPr txBox="1"/>
          <p:nvPr/>
        </p:nvSpPr>
        <p:spPr>
          <a:xfrm>
            <a:off x="731520" y="1828800"/>
            <a:ext cx="3566160" cy="457200"/>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All 5 of your commits go into main,</a:t>
            </a:r>
            <a:endParaRPr lang="en-US" sz="1100" dirty="0"/>
          </a:p>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plus one merge commit on top.</a:t>
            </a:r>
            <a:endParaRPr lang="en-US" sz="1100" dirty="0"/>
          </a:p>
        </p:txBody>
      </p:sp>
      <p:sp>
        <p:nvSpPr>
          <p:cNvPr id="7" name="Text 5"/>
          <p:cNvSpPr txBox="1"/>
          <p:nvPr/>
        </p:nvSpPr>
        <p:spPr>
          <a:xfrm>
            <a:off x="731520" y="2331720"/>
            <a:ext cx="3566160" cy="1234440"/>
          </a:xfrm>
          <a:prstGeom prst="rect">
            <a:avLst/>
          </a:prstGeom>
          <a:noFill/>
          <a:ln/>
        </p:spPr>
        <p:txBody>
          <a:bodyPr wrap="square" lIns="0" tIns="0" rIns="0" bIns="0" rtlCol="0" anchor="ctr"/>
          <a:lstStyle/>
          <a:p>
            <a:pPr indent="0" marL="0">
              <a:lnSpc>
                <a:spcPct val="125000"/>
              </a:lnSpc>
              <a:buNone/>
            </a:pPr>
            <a:r>
              <a:rPr lang="en-US" sz="950" dirty="0">
                <a:solidFill>
                  <a:srgbClr val="16191D"/>
                </a:solidFill>
                <a:latin typeface="Courier New" pitchFamily="34" charset="0"/>
                <a:ea typeface="Courier New" pitchFamily="34" charset="-122"/>
                <a:cs typeface="Courier New" pitchFamily="34" charset="-120"/>
              </a:rPr>
              <a:t>main gets:</a:t>
            </a:r>
            <a:endParaRPr lang="en-US" sz="950" dirty="0"/>
          </a:p>
          <a:p>
            <a:pPr indent="0" marL="0">
              <a:lnSpc>
                <a:spcPct val="125000"/>
              </a:lnSpc>
              <a:buNone/>
            </a:pPr>
            <a:r>
              <a:rPr lang="en-US" sz="950" dirty="0">
                <a:solidFill>
                  <a:srgbClr val="16191D"/>
                </a:solidFill>
                <a:latin typeface="Courier New" pitchFamily="34" charset="0"/>
                <a:ea typeface="Courier New" pitchFamily="34" charset="-122"/>
                <a:cs typeface="Courier New" pitchFamily="34" charset="-120"/>
              </a:rPr>
              <a:t>  Merge pull request #2</a:t>
            </a:r>
            <a:endParaRPr lang="en-US" sz="950" dirty="0"/>
          </a:p>
          <a:p>
            <a:pPr indent="0" marL="0">
              <a:lnSpc>
                <a:spcPct val="125000"/>
              </a:lnSpc>
              <a:buNone/>
            </a:pPr>
            <a:r>
              <a:rPr lang="en-US" sz="950" dirty="0">
                <a:solidFill>
                  <a:srgbClr val="16191D"/>
                </a:solidFill>
                <a:latin typeface="Courier New" pitchFamily="34" charset="0"/>
                <a:ea typeface="Courier New" pitchFamily="34" charset="-122"/>
                <a:cs typeface="Courier New" pitchFamily="34" charset="-120"/>
              </a:rPr>
              <a:t>  Fix typo</a:t>
            </a:r>
            <a:endParaRPr lang="en-US" sz="950" dirty="0"/>
          </a:p>
          <a:p>
            <a:pPr indent="0" marL="0">
              <a:lnSpc>
                <a:spcPct val="125000"/>
              </a:lnSpc>
              <a:buNone/>
            </a:pPr>
            <a:r>
              <a:rPr lang="en-US" sz="950" dirty="0">
                <a:solidFill>
                  <a:srgbClr val="16191D"/>
                </a:solidFill>
                <a:latin typeface="Courier New" pitchFamily="34" charset="0"/>
                <a:ea typeface="Courier New" pitchFamily="34" charset="-122"/>
                <a:cs typeface="Courier New" pitchFamily="34" charset="-120"/>
              </a:rPr>
              <a:t>  Move page size to settings</a:t>
            </a:r>
            <a:endParaRPr lang="en-US" sz="950" dirty="0"/>
          </a:p>
          <a:p>
            <a:pPr indent="0" marL="0">
              <a:lnSpc>
                <a:spcPct val="125000"/>
              </a:lnSpc>
              <a:buNone/>
            </a:pPr>
            <a:r>
              <a:rPr lang="en-US" sz="950" dirty="0">
                <a:solidFill>
                  <a:srgbClr val="16191D"/>
                </a:solidFill>
                <a:latin typeface="Courier New" pitchFamily="34" charset="0"/>
                <a:ea typeface="Courier New" pitchFamily="34" charset="-122"/>
                <a:cs typeface="Courier New" pitchFamily="34" charset="-120"/>
              </a:rPr>
              <a:t>  wip</a:t>
            </a:r>
            <a:endParaRPr lang="en-US" sz="950" dirty="0"/>
          </a:p>
          <a:p>
            <a:pPr indent="0" marL="0">
              <a:lnSpc>
                <a:spcPct val="125000"/>
              </a:lnSpc>
              <a:buNone/>
            </a:pPr>
            <a:r>
              <a:rPr lang="en-US" sz="950" dirty="0">
                <a:solidFill>
                  <a:srgbClr val="16191D"/>
                </a:solidFill>
                <a:latin typeface="Courier New" pitchFamily="34" charset="0"/>
                <a:ea typeface="Courier New" pitchFamily="34" charset="-122"/>
                <a:cs typeface="Courier New" pitchFamily="34" charset="-120"/>
              </a:rPr>
              <a:t>  Add product search</a:t>
            </a:r>
            <a:endParaRPr lang="en-US" sz="950" dirty="0"/>
          </a:p>
        </p:txBody>
      </p:sp>
      <p:sp>
        <p:nvSpPr>
          <p:cNvPr id="8" name="Shape 6"/>
          <p:cNvSpPr/>
          <p:nvPr/>
        </p:nvSpPr>
        <p:spPr>
          <a:xfrm>
            <a:off x="4709160" y="1371600"/>
            <a:ext cx="3977640" cy="2377440"/>
          </a:xfrm>
          <a:prstGeom prst="roundRect">
            <a:avLst>
              <a:gd name="adj" fmla="val 2308"/>
            </a:avLst>
          </a:prstGeom>
          <a:solidFill>
            <a:srgbClr val="E8F3EC"/>
          </a:solidFill>
          <a:ln w="12700">
            <a:solidFill>
              <a:srgbClr val="BCD9C6"/>
            </a:solidFill>
            <a:prstDash val="solid"/>
          </a:ln>
        </p:spPr>
      </p:sp>
      <p:sp>
        <p:nvSpPr>
          <p:cNvPr id="9" name="Text 7"/>
          <p:cNvSpPr txBox="1"/>
          <p:nvPr/>
        </p:nvSpPr>
        <p:spPr>
          <a:xfrm>
            <a:off x="4937760" y="1508760"/>
            <a:ext cx="3566160" cy="292608"/>
          </a:xfrm>
          <a:prstGeom prst="rect">
            <a:avLst/>
          </a:prstGeom>
          <a:noFill/>
          <a:ln/>
        </p:spPr>
        <p:txBody>
          <a:bodyPr wrap="square" lIns="0" tIns="0" rIns="0" bIns="0" rtlCol="0" anchor="ctr"/>
          <a:lstStyle/>
          <a:p>
            <a:pPr indent="0" marL="0">
              <a:buNone/>
            </a:pPr>
            <a:r>
              <a:rPr lang="en-US" sz="1400" b="1" dirty="0">
                <a:solidFill>
                  <a:srgbClr val="1F8A42"/>
                </a:solidFill>
                <a:latin typeface="Arial" pitchFamily="34" charset="0"/>
                <a:ea typeface="Arial" pitchFamily="34" charset="-122"/>
                <a:cs typeface="Arial" pitchFamily="34" charset="-120"/>
              </a:rPr>
              <a:t>Squash and merge</a:t>
            </a:r>
            <a:endParaRPr lang="en-US" sz="1400" dirty="0"/>
          </a:p>
        </p:txBody>
      </p:sp>
      <p:sp>
        <p:nvSpPr>
          <p:cNvPr id="10" name="Text 8"/>
          <p:cNvSpPr txBox="1"/>
          <p:nvPr/>
        </p:nvSpPr>
        <p:spPr>
          <a:xfrm>
            <a:off x="4937760" y="1828800"/>
            <a:ext cx="3566160" cy="457200"/>
          </a:xfrm>
          <a:prstGeom prst="rect">
            <a:avLst/>
          </a:prstGeom>
          <a:noFill/>
          <a:ln/>
        </p:spPr>
        <p:txBody>
          <a:bodyPr wrap="square" lIns="0" tIns="0" rIns="0" bIns="0" rtlCol="0" anchor="ctr"/>
          <a:lstStyle/>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All 5 commits become ONE clean commit</a:t>
            </a:r>
            <a:endParaRPr lang="en-US" sz="1100" dirty="0"/>
          </a:p>
          <a:p>
            <a:pPr indent="0" marL="0">
              <a:lnSpc>
                <a:spcPct val="125000"/>
              </a:lnSpc>
              <a:buNone/>
            </a:pPr>
            <a:r>
              <a:rPr lang="en-US" sz="1100" dirty="0">
                <a:solidFill>
                  <a:srgbClr val="5A6572"/>
                </a:solidFill>
                <a:latin typeface="Calibri" pitchFamily="34" charset="0"/>
                <a:ea typeface="Calibri" pitchFamily="34" charset="-122"/>
                <a:cs typeface="Calibri" pitchFamily="34" charset="-120"/>
              </a:rPr>
              <a:t>on main. Your branch keeps its detail.</a:t>
            </a:r>
            <a:endParaRPr lang="en-US" sz="1100" dirty="0"/>
          </a:p>
        </p:txBody>
      </p:sp>
      <p:sp>
        <p:nvSpPr>
          <p:cNvPr id="11" name="Text 9"/>
          <p:cNvSpPr txBox="1"/>
          <p:nvPr/>
        </p:nvSpPr>
        <p:spPr>
          <a:xfrm>
            <a:off x="4937760" y="2331720"/>
            <a:ext cx="3566160" cy="548640"/>
          </a:xfrm>
          <a:prstGeom prst="rect">
            <a:avLst/>
          </a:prstGeom>
          <a:noFill/>
          <a:ln/>
        </p:spPr>
        <p:txBody>
          <a:bodyPr wrap="square" lIns="0" tIns="0" rIns="0" bIns="0" rtlCol="0" anchor="ctr"/>
          <a:lstStyle/>
          <a:p>
            <a:pPr indent="0" marL="0">
              <a:lnSpc>
                <a:spcPct val="125000"/>
              </a:lnSpc>
              <a:buNone/>
            </a:pPr>
            <a:r>
              <a:rPr lang="en-US" sz="950" dirty="0">
                <a:solidFill>
                  <a:srgbClr val="16191D"/>
                </a:solidFill>
                <a:latin typeface="Courier New" pitchFamily="34" charset="0"/>
                <a:ea typeface="Courier New" pitchFamily="34" charset="-122"/>
                <a:cs typeface="Courier New" pitchFamily="34" charset="-120"/>
              </a:rPr>
              <a:t>main gets:</a:t>
            </a:r>
            <a:endParaRPr lang="en-US" sz="950" dirty="0"/>
          </a:p>
          <a:p>
            <a:pPr indent="0" marL="0">
              <a:lnSpc>
                <a:spcPct val="125000"/>
              </a:lnSpc>
              <a:buNone/>
            </a:pPr>
            <a:r>
              <a:rPr lang="en-US" sz="950" dirty="0">
                <a:solidFill>
                  <a:srgbClr val="16191D"/>
                </a:solidFill>
                <a:latin typeface="Courier New" pitchFamily="34" charset="0"/>
                <a:ea typeface="Courier New" pitchFamily="34" charset="-122"/>
                <a:cs typeface="Courier New" pitchFamily="34" charset="-120"/>
              </a:rPr>
              <a:t>  Add product search to catalog (#2)</a:t>
            </a:r>
            <a:endParaRPr lang="en-US" sz="950" dirty="0"/>
          </a:p>
        </p:txBody>
      </p:sp>
      <p:sp>
        <p:nvSpPr>
          <p:cNvPr id="12" name="Shape 10"/>
          <p:cNvSpPr/>
          <p:nvPr/>
        </p:nvSpPr>
        <p:spPr>
          <a:xfrm>
            <a:off x="4937760" y="3200400"/>
            <a:ext cx="2377440" cy="310896"/>
          </a:xfrm>
          <a:prstGeom prst="roundRect">
            <a:avLst>
              <a:gd name="adj" fmla="val 23529"/>
            </a:avLst>
          </a:prstGeom>
          <a:solidFill>
            <a:srgbClr val="1F8A42"/>
          </a:solidFill>
          <a:ln w="12700">
            <a:solidFill>
              <a:srgbClr val="1F8A42"/>
            </a:solidFill>
            <a:prstDash val="solid"/>
          </a:ln>
        </p:spPr>
      </p:sp>
      <p:sp>
        <p:nvSpPr>
          <p:cNvPr id="13" name="Text 11"/>
          <p:cNvSpPr txBox="1"/>
          <p:nvPr/>
        </p:nvSpPr>
        <p:spPr>
          <a:xfrm>
            <a:off x="4937760" y="3200400"/>
            <a:ext cx="23774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Most teams default here</a:t>
            </a:r>
            <a:endParaRPr lang="en-US" sz="1000" dirty="0"/>
          </a:p>
        </p:txBody>
      </p:sp>
      <p:sp>
        <p:nvSpPr>
          <p:cNvPr id="14" name="Shape 12"/>
          <p:cNvSpPr/>
          <p:nvPr/>
        </p:nvSpPr>
        <p:spPr>
          <a:xfrm>
            <a:off x="502920" y="3886200"/>
            <a:ext cx="8183880" cy="640080"/>
          </a:xfrm>
          <a:prstGeom prst="roundRect">
            <a:avLst>
              <a:gd name="adj" fmla="val 8571"/>
            </a:avLst>
          </a:prstGeom>
          <a:solidFill>
            <a:srgbClr val="16191D"/>
          </a:solidFill>
          <a:ln w="12700">
            <a:solidFill>
              <a:srgbClr val="16191D"/>
            </a:solidFill>
            <a:prstDash val="solid"/>
          </a:ln>
        </p:spPr>
      </p:sp>
      <p:sp>
        <p:nvSpPr>
          <p:cNvPr id="15" name="Text 13"/>
          <p:cNvSpPr txBox="1"/>
          <p:nvPr/>
        </p:nvSpPr>
        <p:spPr>
          <a:xfrm>
            <a:off x="777240" y="3886200"/>
            <a:ext cx="7772400" cy="64008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Practical rule: squash feature branches. One feature = one line in main's history = a history people actually read.</a:t>
            </a:r>
            <a:endParaRPr lang="en-US" sz="1250" dirty="0"/>
          </a:p>
        </p:txBody>
      </p:sp>
      <p:sp>
        <p:nvSpPr>
          <p:cNvPr id="16" name="Text 14"/>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DEMO 10 · THE HABIT THAT PREVENTS PAIN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700" b="1" dirty="0">
                <a:solidFill>
                  <a:srgbClr val="FFFFFF"/>
                </a:solidFill>
                <a:latin typeface="Arial" pitchFamily="34" charset="0"/>
                <a:ea typeface="Arial" pitchFamily="34" charset="-122"/>
                <a:cs typeface="Arial" pitchFamily="34" charset="-120"/>
              </a:rPr>
              <a:t>Your main is stale the moment someone merges</a:t>
            </a:r>
            <a:endParaRPr lang="en-US" sz="2700" dirty="0"/>
          </a:p>
        </p:txBody>
      </p:sp>
      <p:sp>
        <p:nvSpPr>
          <p:cNvPr id="4" name="Shape 2"/>
          <p:cNvSpPr/>
          <p:nvPr/>
        </p:nvSpPr>
        <p:spPr>
          <a:xfrm>
            <a:off x="502920" y="1371600"/>
            <a:ext cx="5120640" cy="2514600"/>
          </a:xfrm>
          <a:prstGeom prst="roundRect">
            <a:avLst>
              <a:gd name="adj" fmla="val 1818"/>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504188"/>
            <a:ext cx="77724" cy="77724"/>
          </a:xfrm>
          <a:prstGeom prst="ellipse">
            <a:avLst/>
          </a:prstGeom>
          <a:solidFill>
            <a:srgbClr val="FF5F56"/>
          </a:solidFill>
          <a:ln w="12700">
            <a:solidFill>
              <a:srgbClr val="FF5F56"/>
            </a:solidFill>
            <a:prstDash val="solid"/>
          </a:ln>
        </p:spPr>
      </p:sp>
      <p:sp>
        <p:nvSpPr>
          <p:cNvPr id="6" name="Shape 4"/>
          <p:cNvSpPr/>
          <p:nvPr/>
        </p:nvSpPr>
        <p:spPr>
          <a:xfrm>
            <a:off x="781812" y="1504188"/>
            <a:ext cx="77724" cy="77724"/>
          </a:xfrm>
          <a:prstGeom prst="ellipse">
            <a:avLst/>
          </a:prstGeom>
          <a:solidFill>
            <a:srgbClr val="FFBD2E"/>
          </a:solidFill>
          <a:ln w="12700">
            <a:solidFill>
              <a:srgbClr val="FFBD2E"/>
            </a:solidFill>
            <a:prstDash val="solid"/>
          </a:ln>
        </p:spPr>
      </p:sp>
      <p:sp>
        <p:nvSpPr>
          <p:cNvPr id="7" name="Shape 5"/>
          <p:cNvSpPr/>
          <p:nvPr/>
        </p:nvSpPr>
        <p:spPr>
          <a:xfrm>
            <a:off x="923544" y="150418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49324"/>
            <a:ext cx="443484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DEV — the trap</a:t>
            </a:r>
            <a:endParaRPr lang="en-US" sz="850" dirty="0"/>
          </a:p>
        </p:txBody>
      </p:sp>
      <p:sp>
        <p:nvSpPr>
          <p:cNvPr id="9" name="Text 7"/>
          <p:cNvSpPr txBox="1"/>
          <p:nvPr/>
        </p:nvSpPr>
        <p:spPr>
          <a:xfrm>
            <a:off x="704088" y="1737360"/>
            <a:ext cx="4718304" cy="201168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switch main</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Your branch is up to date with</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'origin/main'.</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LIE. It is not up to date.</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Git is comparing against the copy</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it downloaded LAST time.</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pull</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Updating de088a3..deb9467</a:t>
            </a:r>
            <a:endParaRPr lang="en-US" sz="950" dirty="0"/>
          </a:p>
          <a:p>
            <a:pPr indent="0" marL="0">
              <a:lnSpc>
                <a:spcPct val="122000"/>
              </a:lnSpc>
              <a:buNone/>
            </a:pPr>
            <a:r>
              <a:rPr lang="en-US" sz="950" dirty="0">
                <a:solidFill>
                  <a:srgbClr val="6FD37E"/>
                </a:solidFill>
                <a:latin typeface="Courier New" pitchFamily="34" charset="0"/>
                <a:ea typeface="Courier New" pitchFamily="34" charset="-122"/>
                <a:cs typeface="Courier New" pitchFamily="34" charset="-120"/>
              </a:rPr>
              <a:t>Fast-forward</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campuscart/orders.py | 3 +++</a:t>
            </a:r>
            <a:endParaRPr lang="en-US" sz="950" dirty="0"/>
          </a:p>
        </p:txBody>
      </p:sp>
      <p:sp>
        <p:nvSpPr>
          <p:cNvPr id="10" name="Shape 8"/>
          <p:cNvSpPr/>
          <p:nvPr/>
        </p:nvSpPr>
        <p:spPr>
          <a:xfrm>
            <a:off x="5897880" y="1371600"/>
            <a:ext cx="2788920" cy="2514600"/>
          </a:xfrm>
          <a:prstGeom prst="roundRect">
            <a:avLst>
              <a:gd name="adj" fmla="val 2182"/>
            </a:avLst>
          </a:prstGeom>
          <a:solidFill>
            <a:srgbClr val="2E2A1F"/>
          </a:solidFill>
          <a:ln w="12700">
            <a:solidFill>
              <a:srgbClr val="5A5034"/>
            </a:solidFill>
            <a:prstDash val="solid"/>
          </a:ln>
        </p:spPr>
      </p:sp>
      <p:sp>
        <p:nvSpPr>
          <p:cNvPr id="11" name="Text 9"/>
          <p:cNvSpPr txBox="1"/>
          <p:nvPr/>
        </p:nvSpPr>
        <p:spPr>
          <a:xfrm>
            <a:off x="6126480" y="1490472"/>
            <a:ext cx="2377440" cy="237744"/>
          </a:xfrm>
          <a:prstGeom prst="rect">
            <a:avLst/>
          </a:prstGeom>
          <a:noFill/>
          <a:ln/>
        </p:spPr>
        <p:txBody>
          <a:bodyPr wrap="square" lIns="0" tIns="0" rIns="0" bIns="0" rtlCol="0" anchor="ctr"/>
          <a:lstStyle/>
          <a:p>
            <a:pPr indent="0" marL="0">
              <a:buNone/>
            </a:pPr>
            <a:r>
              <a:rPr lang="en-US" sz="950" b="1" spc="150" kern="0" dirty="0">
                <a:solidFill>
                  <a:srgbClr val="FFAA64"/>
                </a:solidFill>
                <a:latin typeface="Arial" pitchFamily="34" charset="0"/>
                <a:ea typeface="Arial" pitchFamily="34" charset="-122"/>
                <a:cs typeface="Arial" pitchFamily="34" charset="-120"/>
              </a:rPr>
              <a:t>THE GOTCHA</a:t>
            </a:r>
            <a:endParaRPr lang="en-US" sz="950" dirty="0"/>
          </a:p>
        </p:txBody>
      </p:sp>
      <p:sp>
        <p:nvSpPr>
          <p:cNvPr id="12" name="Text 10"/>
          <p:cNvSpPr txBox="1"/>
          <p:nvPr/>
        </p:nvSpPr>
        <p:spPr>
          <a:xfrm>
            <a:off x="6126480" y="1783080"/>
            <a:ext cx="2377440" cy="1828800"/>
          </a:xfrm>
          <a:prstGeom prst="rect">
            <a:avLst/>
          </a:prstGeom>
          <a:noFill/>
          <a:ln/>
        </p:spPr>
        <p:txBody>
          <a:bodyPr wrap="square" lIns="0" tIns="0" rIns="0" bIns="0" rtlCol="0" anchor="ctr"/>
          <a:lstStyle/>
          <a:p>
            <a:pPr indent="0" marL="0">
              <a:lnSpc>
                <a:spcPct val="130000"/>
              </a:lnSpc>
              <a:buNone/>
            </a:pPr>
            <a:r>
              <a:rPr lang="en-US" sz="1050" dirty="0">
                <a:solidFill>
                  <a:srgbClr val="C9D1D9"/>
                </a:solidFill>
                <a:latin typeface="Calibri" pitchFamily="34" charset="0"/>
                <a:ea typeface="Calibri" pitchFamily="34" charset="-122"/>
                <a:cs typeface="Calibri" pitchFamily="34" charset="-120"/>
              </a:rPr>
              <a:t>"Up to date" means up to date with what Git last downloaded — not with what is on GitHub right now.</a:t>
            </a:r>
            <a:endParaRPr lang="en-US" sz="1050" dirty="0"/>
          </a:p>
          <a:p>
            <a:pPr indent="0" marL="0">
              <a:lnSpc>
                <a:spcPct val="130000"/>
              </a:lnSpc>
              <a:buNone/>
            </a:pPr>
            <a:endParaRPr lang="en-US" sz="1050" dirty="0"/>
          </a:p>
          <a:p>
            <a:pPr indent="0" marL="0">
              <a:lnSpc>
                <a:spcPct val="130000"/>
              </a:lnSpc>
              <a:buNone/>
            </a:pPr>
            <a:r>
              <a:rPr lang="en-US" sz="1050" dirty="0">
                <a:solidFill>
                  <a:srgbClr val="C9D1D9"/>
                </a:solidFill>
                <a:latin typeface="Calibri" pitchFamily="34" charset="0"/>
                <a:ea typeface="Calibri" pitchFamily="34" charset="-122"/>
                <a:cs typeface="Calibri" pitchFamily="34" charset="-120"/>
              </a:rPr>
              <a:t>Git never checks the internet unless you ask it to.</a:t>
            </a:r>
            <a:endParaRPr lang="en-US" sz="1050" dirty="0"/>
          </a:p>
        </p:txBody>
      </p:sp>
      <p:sp>
        <p:nvSpPr>
          <p:cNvPr id="13" name="Shape 11"/>
          <p:cNvSpPr/>
          <p:nvPr/>
        </p:nvSpPr>
        <p:spPr>
          <a:xfrm>
            <a:off x="502920" y="4023360"/>
            <a:ext cx="8183880" cy="502920"/>
          </a:xfrm>
          <a:prstGeom prst="roundRect">
            <a:avLst>
              <a:gd name="adj" fmla="val 10909"/>
            </a:avLst>
          </a:prstGeom>
          <a:solidFill>
            <a:srgbClr val="1B2A1F"/>
          </a:solidFill>
          <a:ln w="12700">
            <a:solidFill>
              <a:srgbClr val="2F5137"/>
            </a:solidFill>
            <a:prstDash val="solid"/>
          </a:ln>
        </p:spPr>
      </p:sp>
      <p:sp>
        <p:nvSpPr>
          <p:cNvPr id="14" name="Text 12"/>
          <p:cNvSpPr txBox="1"/>
          <p:nvPr/>
        </p:nvSpPr>
        <p:spPr>
          <a:xfrm>
            <a:off x="777240" y="4023360"/>
            <a:ext cx="7772400" cy="502920"/>
          </a:xfrm>
          <a:prstGeom prst="rect">
            <a:avLst/>
          </a:prstGeom>
          <a:noFill/>
          <a:ln/>
        </p:spPr>
        <p:txBody>
          <a:bodyPr wrap="square" lIns="0" tIns="0" rIns="0" bIns="0" rtlCol="0" anchor="ctr"/>
          <a:lstStyle/>
          <a:p>
            <a:pPr indent="0" marL="0">
              <a:buNone/>
            </a:pPr>
            <a:r>
              <a:rPr lang="en-US" sz="1300" b="1" dirty="0">
                <a:solidFill>
                  <a:srgbClr val="8FE3A3"/>
                </a:solidFill>
                <a:latin typeface="Arial" pitchFamily="34" charset="0"/>
                <a:ea typeface="Arial" pitchFamily="34" charset="-122"/>
                <a:cs typeface="Arial" pitchFamily="34" charset="-120"/>
              </a:rPr>
              <a:t>Pull main first thing every morning, and again before you create any new branch.</a:t>
            </a:r>
            <a:endParaRPr lang="en-US" sz="1300" dirty="0"/>
          </a:p>
        </p:txBody>
      </p:sp>
      <p:sp>
        <p:nvSpPr>
          <p:cNvPr id="15" name="Text 13"/>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BEFORE I CLICK ANYTHING — YOU TELL ME</a:t>
            </a:r>
            <a:endParaRPr lang="en-US" sz="1000" dirty="0"/>
          </a:p>
        </p:txBody>
      </p:sp>
      <p:sp>
        <p:nvSpPr>
          <p:cNvPr id="3" name="Text 1"/>
          <p:cNvSpPr txBox="1"/>
          <p:nvPr/>
        </p:nvSpPr>
        <p:spPr>
          <a:xfrm>
            <a:off x="640080" y="1234440"/>
            <a:ext cx="7863840" cy="1371600"/>
          </a:xfrm>
          <a:prstGeom prst="rect">
            <a:avLst/>
          </a:prstGeom>
          <a:noFill/>
          <a:ln/>
        </p:spPr>
        <p:txBody>
          <a:bodyPr wrap="square" lIns="0" tIns="0" rIns="0" bIns="0" rtlCol="0" anchor="ctr"/>
          <a:lstStyle/>
          <a:p>
            <a:pPr indent="0" marL="0">
              <a:lnSpc>
                <a:spcPct val="130000"/>
              </a:lnSpc>
              <a:buNone/>
            </a:pPr>
            <a:r>
              <a:rPr lang="en-US" sz="2300" b="1" dirty="0">
                <a:solidFill>
                  <a:srgbClr val="FFFFFF"/>
                </a:solidFill>
                <a:latin typeface="Arial" pitchFamily="34" charset="0"/>
                <a:ea typeface="Arial" pitchFamily="34" charset="-122"/>
                <a:cs typeface="Arial" pitchFamily="34" charset="-120"/>
              </a:rPr>
              <a:t>Meera's branch is merged into main.</a:t>
            </a:r>
            <a:endParaRPr lang="en-US" sz="2300" dirty="0"/>
          </a:p>
          <a:p>
            <a:pPr indent="0" marL="0">
              <a:lnSpc>
                <a:spcPct val="130000"/>
              </a:lnSpc>
              <a:buNone/>
            </a:pPr>
            <a:r>
              <a:rPr lang="en-US" sz="2300" b="1" dirty="0">
                <a:solidFill>
                  <a:srgbClr val="FFFFFF"/>
                </a:solidFill>
                <a:latin typeface="Arial" pitchFamily="34" charset="0"/>
                <a:ea typeface="Arial" pitchFamily="34" charset="-122"/>
                <a:cs typeface="Arial" pitchFamily="34" charset="-120"/>
              </a:rPr>
              <a:t>Arjun's PR is still open.</a:t>
            </a:r>
            <a:endParaRPr lang="en-US" sz="2300" dirty="0"/>
          </a:p>
          <a:p>
            <a:pPr indent="0" marL="0">
              <a:lnSpc>
                <a:spcPct val="130000"/>
              </a:lnSpc>
              <a:buNone/>
            </a:pPr>
            <a:r>
              <a:rPr lang="en-US" sz="2300" b="1" dirty="0">
                <a:solidFill>
                  <a:srgbClr val="FFFFFF"/>
                </a:solidFill>
                <a:latin typeface="Arial" pitchFamily="34" charset="0"/>
                <a:ea typeface="Arial" pitchFamily="34" charset="-122"/>
                <a:cs typeface="Arial" pitchFamily="34" charset="-120"/>
              </a:rPr>
              <a:t>Both of them edited urls.py.</a:t>
            </a:r>
            <a:endParaRPr lang="en-US" sz="2300" dirty="0"/>
          </a:p>
        </p:txBody>
      </p:sp>
      <p:sp>
        <p:nvSpPr>
          <p:cNvPr id="4" name="Text 2"/>
          <p:cNvSpPr txBox="1"/>
          <p:nvPr/>
        </p:nvSpPr>
        <p:spPr>
          <a:xfrm>
            <a:off x="640080" y="2743200"/>
            <a:ext cx="7863840" cy="411480"/>
          </a:xfrm>
          <a:prstGeom prst="rect">
            <a:avLst/>
          </a:prstGeom>
          <a:noFill/>
          <a:ln/>
        </p:spPr>
        <p:txBody>
          <a:bodyPr wrap="square" lIns="0" tIns="0" rIns="0" bIns="0" rtlCol="0" anchor="ctr"/>
          <a:lstStyle/>
          <a:p>
            <a:pPr indent="0" marL="0">
              <a:buNone/>
            </a:pPr>
            <a:r>
              <a:rPr lang="en-US" sz="2000" b="1" dirty="0">
                <a:solidFill>
                  <a:srgbClr val="FFAA64"/>
                </a:solidFill>
                <a:latin typeface="Arial" pitchFamily="34" charset="0"/>
                <a:ea typeface="Arial" pitchFamily="34" charset="-122"/>
                <a:cs typeface="Arial" pitchFamily="34" charset="-120"/>
              </a:rPr>
              <a:t>What does GitHub say about Arjun's Pull Request right now?</a:t>
            </a:r>
            <a:endParaRPr lang="en-US" sz="2000" dirty="0"/>
          </a:p>
        </p:txBody>
      </p:sp>
      <p:sp>
        <p:nvSpPr>
          <p:cNvPr id="5" name="Shape 3"/>
          <p:cNvSpPr/>
          <p:nvPr/>
        </p:nvSpPr>
        <p:spPr>
          <a:xfrm>
            <a:off x="640080" y="3429000"/>
            <a:ext cx="2468880" cy="502920"/>
          </a:xfrm>
          <a:prstGeom prst="roundRect">
            <a:avLst>
              <a:gd name="adj" fmla="val 14545"/>
            </a:avLst>
          </a:prstGeom>
          <a:solidFill>
            <a:srgbClr val="20252B"/>
          </a:solidFill>
          <a:ln w="12700">
            <a:solidFill>
              <a:srgbClr val="3A424C"/>
            </a:solidFill>
            <a:prstDash val="solid"/>
          </a:ln>
        </p:spPr>
      </p:sp>
      <p:sp>
        <p:nvSpPr>
          <p:cNvPr id="6" name="Text 4"/>
          <p:cNvSpPr txBox="1"/>
          <p:nvPr/>
        </p:nvSpPr>
        <p:spPr>
          <a:xfrm>
            <a:off x="640080" y="3429000"/>
            <a:ext cx="2468880" cy="502920"/>
          </a:xfrm>
          <a:prstGeom prst="rect">
            <a:avLst/>
          </a:prstGeom>
          <a:noFill/>
          <a:ln/>
        </p:spPr>
        <p:txBody>
          <a:bodyPr wrap="square" lIns="0" tIns="0" rIns="0" bIns="0" rtlCol="0" anchor="ctr"/>
          <a:lstStyle/>
          <a:p>
            <a:pPr algn="ctr" indent="0" marL="0">
              <a:buNone/>
            </a:pPr>
            <a:r>
              <a:rPr lang="en-US" sz="1200" dirty="0">
                <a:solidFill>
                  <a:srgbClr val="C9D1D9"/>
                </a:solidFill>
                <a:latin typeface="Calibri" pitchFamily="34" charset="0"/>
                <a:ea typeface="Calibri" pitchFamily="34" charset="-122"/>
                <a:cs typeface="Calibri" pitchFamily="34" charset="-120"/>
              </a:rPr>
              <a:t>Merges cleanly</a:t>
            </a:r>
            <a:endParaRPr lang="en-US" sz="1200" dirty="0"/>
          </a:p>
        </p:txBody>
      </p:sp>
      <p:sp>
        <p:nvSpPr>
          <p:cNvPr id="7" name="Shape 5"/>
          <p:cNvSpPr/>
          <p:nvPr/>
        </p:nvSpPr>
        <p:spPr>
          <a:xfrm>
            <a:off x="3337560" y="3429000"/>
            <a:ext cx="2468880" cy="502920"/>
          </a:xfrm>
          <a:prstGeom prst="roundRect">
            <a:avLst>
              <a:gd name="adj" fmla="val 14545"/>
            </a:avLst>
          </a:prstGeom>
          <a:solidFill>
            <a:srgbClr val="20252B"/>
          </a:solidFill>
          <a:ln w="12700">
            <a:solidFill>
              <a:srgbClr val="3A424C"/>
            </a:solidFill>
            <a:prstDash val="solid"/>
          </a:ln>
        </p:spPr>
      </p:sp>
      <p:sp>
        <p:nvSpPr>
          <p:cNvPr id="8" name="Text 6"/>
          <p:cNvSpPr txBox="1"/>
          <p:nvPr/>
        </p:nvSpPr>
        <p:spPr>
          <a:xfrm>
            <a:off x="3337560" y="3429000"/>
            <a:ext cx="2468880" cy="502920"/>
          </a:xfrm>
          <a:prstGeom prst="rect">
            <a:avLst/>
          </a:prstGeom>
          <a:noFill/>
          <a:ln/>
        </p:spPr>
        <p:txBody>
          <a:bodyPr wrap="square" lIns="0" tIns="0" rIns="0" bIns="0" rtlCol="0" anchor="ctr"/>
          <a:lstStyle/>
          <a:p>
            <a:pPr algn="ctr" indent="0" marL="0">
              <a:buNone/>
            </a:pPr>
            <a:r>
              <a:rPr lang="en-US" sz="1200" dirty="0">
                <a:solidFill>
                  <a:srgbClr val="C9D1D9"/>
                </a:solidFill>
                <a:latin typeface="Calibri" pitchFamily="34" charset="0"/>
                <a:ea typeface="Calibri" pitchFamily="34" charset="-122"/>
                <a:cs typeface="Calibri" pitchFamily="34" charset="-120"/>
              </a:rPr>
              <a:t>Arjun's work is lost</a:t>
            </a:r>
            <a:endParaRPr lang="en-US" sz="1200" dirty="0"/>
          </a:p>
        </p:txBody>
      </p:sp>
      <p:sp>
        <p:nvSpPr>
          <p:cNvPr id="9" name="Shape 7"/>
          <p:cNvSpPr/>
          <p:nvPr/>
        </p:nvSpPr>
        <p:spPr>
          <a:xfrm>
            <a:off x="6035040" y="3429000"/>
            <a:ext cx="2651760" cy="502920"/>
          </a:xfrm>
          <a:prstGeom prst="roundRect">
            <a:avLst>
              <a:gd name="adj" fmla="val 14545"/>
            </a:avLst>
          </a:prstGeom>
          <a:solidFill>
            <a:srgbClr val="20252B"/>
          </a:solidFill>
          <a:ln w="12700">
            <a:solidFill>
              <a:srgbClr val="3A424C"/>
            </a:solidFill>
            <a:prstDash val="solid"/>
          </a:ln>
        </p:spPr>
      </p:sp>
      <p:sp>
        <p:nvSpPr>
          <p:cNvPr id="10" name="Text 8"/>
          <p:cNvSpPr txBox="1"/>
          <p:nvPr/>
        </p:nvSpPr>
        <p:spPr>
          <a:xfrm>
            <a:off x="6035040" y="3429000"/>
            <a:ext cx="2651760" cy="502920"/>
          </a:xfrm>
          <a:prstGeom prst="rect">
            <a:avLst/>
          </a:prstGeom>
          <a:noFill/>
          <a:ln/>
        </p:spPr>
        <p:txBody>
          <a:bodyPr wrap="square" lIns="0" tIns="0" rIns="0" bIns="0" rtlCol="0" anchor="ctr"/>
          <a:lstStyle/>
          <a:p>
            <a:pPr algn="ctr" indent="0" marL="0">
              <a:buNone/>
            </a:pPr>
            <a:r>
              <a:rPr lang="en-US" sz="1200" dirty="0">
                <a:solidFill>
                  <a:srgbClr val="C9D1D9"/>
                </a:solidFill>
                <a:latin typeface="Calibri" pitchFamily="34" charset="0"/>
                <a:ea typeface="Calibri" pitchFamily="34" charset="-122"/>
                <a:cs typeface="Calibri" pitchFamily="34" charset="-120"/>
              </a:rPr>
              <a:t>Something else</a:t>
            </a:r>
            <a:endParaRPr lang="en-US" sz="1200" dirty="0"/>
          </a:p>
        </p:txBody>
      </p:sp>
      <p:sp>
        <p:nvSpPr>
          <p:cNvPr id="11" name="Text 9"/>
          <p:cNvSpPr txBox="1"/>
          <p:nvPr/>
        </p:nvSpPr>
        <p:spPr>
          <a:xfrm>
            <a:off x="640080" y="4160520"/>
            <a:ext cx="7863840" cy="274320"/>
          </a:xfrm>
          <a:prstGeom prst="rect">
            <a:avLst/>
          </a:prstGeom>
          <a:noFill/>
          <a:ln/>
        </p:spPr>
        <p:txBody>
          <a:bodyPr wrap="square" lIns="0" tIns="0" rIns="0" bIns="0"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Do not look at the next slide. Decide first.</a:t>
            </a:r>
            <a:endParaRPr lang="en-US" sz="1200" dirty="0"/>
          </a:p>
        </p:txBody>
      </p:sp>
      <p:sp>
        <p:nvSpPr>
          <p:cNvPr id="12" name="Text 10"/>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C1211F"/>
                </a:solidFill>
                <a:latin typeface="Arial" pitchFamily="34" charset="0"/>
                <a:ea typeface="Arial" pitchFamily="34" charset="-122"/>
                <a:cs typeface="Arial" pitchFamily="34" charset="-120"/>
              </a:rPr>
              <a:t>DEMO 11 · THE REVEAL</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GitHub stops and asks a human</a:t>
            </a:r>
            <a:endParaRPr lang="en-US" sz="3000" dirty="0"/>
          </a:p>
        </p:txBody>
      </p:sp>
      <p:sp>
        <p:nvSpPr>
          <p:cNvPr id="4" name="Shape 2"/>
          <p:cNvSpPr/>
          <p:nvPr/>
        </p:nvSpPr>
        <p:spPr>
          <a:xfrm>
            <a:off x="502920" y="1325880"/>
            <a:ext cx="8183880" cy="1005840"/>
          </a:xfrm>
          <a:prstGeom prst="roundRect">
            <a:avLst>
              <a:gd name="adj" fmla="val 5455"/>
            </a:avLst>
          </a:prstGeom>
          <a:solidFill>
            <a:srgbClr val="FBECEC"/>
          </a:solidFill>
          <a:ln w="12700">
            <a:solidFill>
              <a:srgbClr val="F0C9C9"/>
            </a:solidFill>
            <a:prstDash val="solid"/>
          </a:ln>
        </p:spPr>
      </p:sp>
      <p:sp>
        <p:nvSpPr>
          <p:cNvPr id="5" name="Text 3"/>
          <p:cNvSpPr txBox="1"/>
          <p:nvPr/>
        </p:nvSpPr>
        <p:spPr>
          <a:xfrm>
            <a:off x="822960" y="1463040"/>
            <a:ext cx="5486400" cy="320040"/>
          </a:xfrm>
          <a:prstGeom prst="rect">
            <a:avLst/>
          </a:prstGeom>
          <a:noFill/>
          <a:ln/>
        </p:spPr>
        <p:txBody>
          <a:bodyPr wrap="square" lIns="0" tIns="0" rIns="0" bIns="0" rtlCol="0" anchor="ctr"/>
          <a:lstStyle/>
          <a:p>
            <a:pPr indent="0" marL="0">
              <a:buNone/>
            </a:pPr>
            <a:r>
              <a:rPr lang="en-US" sz="1550" b="1" dirty="0">
                <a:solidFill>
                  <a:srgbClr val="C1211F"/>
                </a:solidFill>
                <a:latin typeface="Arial" pitchFamily="34" charset="0"/>
                <a:ea typeface="Arial" pitchFamily="34" charset="-122"/>
                <a:cs typeface="Arial" pitchFamily="34" charset="-120"/>
              </a:rPr>
              <a:t>This branch has conflicts that must be resolved</a:t>
            </a:r>
            <a:endParaRPr lang="en-US" sz="1550" dirty="0"/>
          </a:p>
        </p:txBody>
      </p:sp>
      <p:sp>
        <p:nvSpPr>
          <p:cNvPr id="6" name="Text 4"/>
          <p:cNvSpPr txBox="1"/>
          <p:nvPr/>
        </p:nvSpPr>
        <p:spPr>
          <a:xfrm>
            <a:off x="822960" y="1810512"/>
            <a:ext cx="5486400" cy="274320"/>
          </a:xfrm>
          <a:prstGeom prst="rect">
            <a:avLst/>
          </a:prstGeom>
          <a:noFill/>
          <a:ln/>
        </p:spPr>
        <p:txBody>
          <a:bodyPr wrap="square" lIns="0" tIns="0" rIns="0" bIns="0" rtlCol="0" anchor="ctr"/>
          <a:lstStyle/>
          <a:p>
            <a:pPr indent="0" marL="0">
              <a:buNone/>
            </a:pPr>
            <a:r>
              <a:rPr lang="en-US" sz="1150" dirty="0">
                <a:solidFill>
                  <a:srgbClr val="16191D"/>
                </a:solidFill>
                <a:latin typeface="Courier New" pitchFamily="34" charset="0"/>
                <a:ea typeface="Courier New" pitchFamily="34" charset="-122"/>
                <a:cs typeface="Courier New" pitchFamily="34" charset="-120"/>
              </a:rPr>
              <a:t>Conflicting file:  campuscart/urls.py</a:t>
            </a:r>
            <a:endParaRPr lang="en-US" sz="1150" dirty="0"/>
          </a:p>
        </p:txBody>
      </p:sp>
      <p:sp>
        <p:nvSpPr>
          <p:cNvPr id="7" name="Shape 5"/>
          <p:cNvSpPr/>
          <p:nvPr/>
        </p:nvSpPr>
        <p:spPr>
          <a:xfrm>
            <a:off x="6675120" y="1600200"/>
            <a:ext cx="1828800" cy="384048"/>
          </a:xfrm>
          <a:prstGeom prst="roundRect">
            <a:avLst>
              <a:gd name="adj" fmla="val 19048"/>
            </a:avLst>
          </a:prstGeom>
          <a:solidFill>
            <a:srgbClr val="C9CDD2"/>
          </a:solidFill>
          <a:ln w="12700">
            <a:solidFill>
              <a:srgbClr val="C9CDD2"/>
            </a:solidFill>
            <a:prstDash val="solid"/>
          </a:ln>
        </p:spPr>
      </p:sp>
      <p:sp>
        <p:nvSpPr>
          <p:cNvPr id="8" name="Text 6"/>
          <p:cNvSpPr txBox="1"/>
          <p:nvPr/>
        </p:nvSpPr>
        <p:spPr>
          <a:xfrm>
            <a:off x="6675120" y="1600200"/>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Merge blocked</a:t>
            </a:r>
            <a:endParaRPr lang="en-US" sz="1100" dirty="0"/>
          </a:p>
        </p:txBody>
      </p:sp>
      <p:sp>
        <p:nvSpPr>
          <p:cNvPr id="9" name="Shape 7"/>
          <p:cNvSpPr/>
          <p:nvPr/>
        </p:nvSpPr>
        <p:spPr>
          <a:xfrm>
            <a:off x="502920" y="2514600"/>
            <a:ext cx="3977640" cy="1874520"/>
          </a:xfrm>
          <a:prstGeom prst="roundRect">
            <a:avLst>
              <a:gd name="adj" fmla="val 2927"/>
            </a:avLst>
          </a:prstGeom>
          <a:solidFill>
            <a:srgbClr val="F3F5F7"/>
          </a:solidFill>
          <a:ln w="12700">
            <a:solidFill>
              <a:srgbClr val="D5DCE3"/>
            </a:solidFill>
            <a:prstDash val="solid"/>
          </a:ln>
        </p:spPr>
      </p:sp>
      <p:sp>
        <p:nvSpPr>
          <p:cNvPr id="10" name="Text 8"/>
          <p:cNvSpPr txBox="1"/>
          <p:nvPr/>
        </p:nvSpPr>
        <p:spPr>
          <a:xfrm>
            <a:off x="731520" y="2633472"/>
            <a:ext cx="3566160" cy="274320"/>
          </a:xfrm>
          <a:prstGeom prst="rect">
            <a:avLst/>
          </a:prstGeom>
          <a:noFill/>
          <a:ln/>
        </p:spPr>
        <p:txBody>
          <a:bodyPr wrap="square" lIns="0" tIns="0" rIns="0" bIns="0" rtlCol="0" anchor="ctr"/>
          <a:lstStyle/>
          <a:p>
            <a:pPr indent="0" marL="0">
              <a:buNone/>
            </a:pPr>
            <a:r>
              <a:rPr lang="en-US" sz="1250" b="1" dirty="0">
                <a:solidFill>
                  <a:srgbClr val="16191D"/>
                </a:solidFill>
                <a:latin typeface="Arial" pitchFamily="34" charset="0"/>
                <a:ea typeface="Arial" pitchFamily="34" charset="-122"/>
                <a:cs typeface="Arial" pitchFamily="34" charset="-120"/>
              </a:rPr>
              <a:t>What actually happened</a:t>
            </a:r>
            <a:endParaRPr lang="en-US" sz="1250" dirty="0"/>
          </a:p>
        </p:txBody>
      </p:sp>
      <p:sp>
        <p:nvSpPr>
          <p:cNvPr id="11" name="Text 9"/>
          <p:cNvSpPr txBox="1"/>
          <p:nvPr/>
        </p:nvSpPr>
        <p:spPr>
          <a:xfrm>
            <a:off x="731520" y="2926080"/>
            <a:ext cx="3566160" cy="1371600"/>
          </a:xfrm>
          <a:prstGeom prst="rect">
            <a:avLst/>
          </a:prstGeom>
          <a:noFill/>
          <a:ln/>
        </p:spPr>
        <p:txBody>
          <a:bodyPr wrap="square" lIns="0" tIns="0" rIns="0" bIns="0" rtlCol="0" anchor="ctr"/>
          <a:lstStyle/>
          <a:p>
            <a:pPr indent="0" marL="0">
              <a:lnSpc>
                <a:spcPct val="130000"/>
              </a:lnSpc>
              <a:buNone/>
            </a:pPr>
            <a:r>
              <a:rPr lang="en-US" sz="1100" dirty="0">
                <a:solidFill>
                  <a:srgbClr val="5A6572"/>
                </a:solidFill>
                <a:latin typeface="Calibri" pitchFamily="34" charset="0"/>
                <a:ea typeface="Calibri" pitchFamily="34" charset="-122"/>
                <a:cs typeface="Calibri" pitchFamily="34" charset="-120"/>
              </a:rPr>
              <a:t>Both branches changed the SAME LINES of urls.py.</a:t>
            </a:r>
            <a:endParaRPr lang="en-US" sz="1100" dirty="0"/>
          </a:p>
          <a:p>
            <a:pPr indent="0" marL="0">
              <a:lnSpc>
                <a:spcPct val="130000"/>
              </a:lnSpc>
              <a:buNone/>
            </a:pPr>
            <a:endParaRPr lang="en-US" sz="1100" dirty="0"/>
          </a:p>
          <a:p>
            <a:pPr indent="0" marL="0">
              <a:lnSpc>
                <a:spcPct val="130000"/>
              </a:lnSpc>
              <a:buNone/>
            </a:pPr>
            <a:r>
              <a:rPr lang="en-US" sz="1100" dirty="0">
                <a:solidFill>
                  <a:srgbClr val="5A6572"/>
                </a:solidFill>
                <a:latin typeface="Calibri" pitchFamily="34" charset="0"/>
                <a:ea typeface="Calibri" pitchFamily="34" charset="-122"/>
                <a:cs typeface="Calibri" pitchFamily="34" charset="-120"/>
              </a:rPr>
              <a:t>Meera added an orders route.</a:t>
            </a:r>
            <a:endParaRPr lang="en-US" sz="1100" dirty="0"/>
          </a:p>
          <a:p>
            <a:pPr indent="0" marL="0">
              <a:lnSpc>
                <a:spcPct val="130000"/>
              </a:lnSpc>
              <a:buNone/>
            </a:pPr>
            <a:r>
              <a:rPr lang="en-US" sz="1100" dirty="0">
                <a:solidFill>
                  <a:srgbClr val="5A6572"/>
                </a:solidFill>
                <a:latin typeface="Calibri" pitchFamily="34" charset="0"/>
                <a:ea typeface="Calibri" pitchFamily="34" charset="-122"/>
                <a:cs typeface="Calibri" pitchFamily="34" charset="-120"/>
              </a:rPr>
              <a:t>Arjun added a search route.</a:t>
            </a:r>
            <a:endParaRPr lang="en-US" sz="1100" dirty="0"/>
          </a:p>
          <a:p>
            <a:pPr indent="0" marL="0">
              <a:lnSpc>
                <a:spcPct val="130000"/>
              </a:lnSpc>
              <a:buNone/>
            </a:pPr>
            <a:endParaRPr lang="en-US" sz="1100" dirty="0"/>
          </a:p>
          <a:p>
            <a:pPr indent="0" marL="0">
              <a:lnSpc>
                <a:spcPct val="130000"/>
              </a:lnSpc>
              <a:buNone/>
            </a:pPr>
            <a:r>
              <a:rPr lang="en-US" sz="1100" dirty="0">
                <a:solidFill>
                  <a:srgbClr val="5A6572"/>
                </a:solidFill>
                <a:latin typeface="Calibri" pitchFamily="34" charset="0"/>
                <a:ea typeface="Calibri" pitchFamily="34" charset="-122"/>
                <a:cs typeface="Calibri" pitchFamily="34" charset="-120"/>
              </a:rPr>
              <a:t>Git cannot know whether you want one, the other, or both.</a:t>
            </a:r>
            <a:endParaRPr lang="en-US" sz="1100" dirty="0"/>
          </a:p>
        </p:txBody>
      </p:sp>
      <p:sp>
        <p:nvSpPr>
          <p:cNvPr id="12" name="Shape 10"/>
          <p:cNvSpPr/>
          <p:nvPr/>
        </p:nvSpPr>
        <p:spPr>
          <a:xfrm>
            <a:off x="4709160" y="2514600"/>
            <a:ext cx="3977640" cy="1874520"/>
          </a:xfrm>
          <a:prstGeom prst="roundRect">
            <a:avLst>
              <a:gd name="adj" fmla="val 2927"/>
            </a:avLst>
          </a:prstGeom>
          <a:solidFill>
            <a:srgbClr val="E8F3EC"/>
          </a:solidFill>
          <a:ln w="12700">
            <a:solidFill>
              <a:srgbClr val="BCD9C6"/>
            </a:solidFill>
            <a:prstDash val="solid"/>
          </a:ln>
        </p:spPr>
      </p:sp>
      <p:sp>
        <p:nvSpPr>
          <p:cNvPr id="13" name="Text 11"/>
          <p:cNvSpPr txBox="1"/>
          <p:nvPr/>
        </p:nvSpPr>
        <p:spPr>
          <a:xfrm>
            <a:off x="4937760" y="2633472"/>
            <a:ext cx="3566160" cy="274320"/>
          </a:xfrm>
          <a:prstGeom prst="rect">
            <a:avLst/>
          </a:prstGeom>
          <a:noFill/>
          <a:ln/>
        </p:spPr>
        <p:txBody>
          <a:bodyPr wrap="square" lIns="0" tIns="0" rIns="0" bIns="0" rtlCol="0" anchor="ctr"/>
          <a:lstStyle/>
          <a:p>
            <a:pPr indent="0" marL="0">
              <a:buNone/>
            </a:pPr>
            <a:r>
              <a:rPr lang="en-US" sz="1250" b="1" dirty="0">
                <a:solidFill>
                  <a:srgbClr val="1F8A42"/>
                </a:solidFill>
                <a:latin typeface="Arial" pitchFamily="34" charset="0"/>
                <a:ea typeface="Arial" pitchFamily="34" charset="-122"/>
                <a:cs typeface="Arial" pitchFamily="34" charset="-120"/>
              </a:rPr>
              <a:t>A conflict is not an error</a:t>
            </a:r>
            <a:endParaRPr lang="en-US" sz="1250" dirty="0"/>
          </a:p>
        </p:txBody>
      </p:sp>
      <p:sp>
        <p:nvSpPr>
          <p:cNvPr id="14" name="Text 12"/>
          <p:cNvSpPr txBox="1"/>
          <p:nvPr/>
        </p:nvSpPr>
        <p:spPr>
          <a:xfrm>
            <a:off x="4937760" y="2926080"/>
            <a:ext cx="3566160" cy="1371600"/>
          </a:xfrm>
          <a:prstGeom prst="rect">
            <a:avLst/>
          </a:prstGeom>
          <a:noFill/>
          <a:ln/>
        </p:spPr>
        <p:txBody>
          <a:bodyPr wrap="square" lIns="0" tIns="0" rIns="0" bIns="0" rtlCol="0" anchor="ctr"/>
          <a:lstStyle/>
          <a:p>
            <a:pPr indent="0" marL="0">
              <a:lnSpc>
                <a:spcPct val="130000"/>
              </a:lnSpc>
              <a:buNone/>
            </a:pPr>
            <a:r>
              <a:rPr lang="en-US" sz="1100" dirty="0">
                <a:solidFill>
                  <a:srgbClr val="16191D"/>
                </a:solidFill>
                <a:latin typeface="Calibri" pitchFamily="34" charset="0"/>
                <a:ea typeface="Calibri" pitchFamily="34" charset="-122"/>
                <a:cs typeface="Calibri" pitchFamily="34" charset="-120"/>
              </a:rPr>
              <a:t>Nothing is lost. Nothing is broken. main is fine. Both versions still exist.</a:t>
            </a:r>
            <a:endParaRPr lang="en-US" sz="1100" dirty="0"/>
          </a:p>
          <a:p>
            <a:pPr indent="0" marL="0">
              <a:lnSpc>
                <a:spcPct val="130000"/>
              </a:lnSpc>
              <a:buNone/>
            </a:pPr>
            <a:endParaRPr lang="en-US" sz="1100" dirty="0"/>
          </a:p>
          <a:p>
            <a:pPr indent="0" marL="0">
              <a:lnSpc>
                <a:spcPct val="130000"/>
              </a:lnSpc>
              <a:buNone/>
            </a:pPr>
            <a:r>
              <a:rPr lang="en-US" sz="1100" dirty="0">
                <a:solidFill>
                  <a:srgbClr val="16191D"/>
                </a:solidFill>
                <a:latin typeface="Calibri" pitchFamily="34" charset="0"/>
                <a:ea typeface="Calibri" pitchFamily="34" charset="-122"/>
                <a:cs typeface="Calibri" pitchFamily="34" charset="-120"/>
              </a:rPr>
              <a:t>Git is being careful: rather than silently picking a winner, it stops and asks the only one who knows — you.</a:t>
            </a:r>
            <a:endParaRPr lang="en-US" sz="1100" dirty="0"/>
          </a:p>
        </p:txBody>
      </p:sp>
      <p:sp>
        <p:nvSpPr>
          <p:cNvPr id="15" name="Text 13"/>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C1211F"/>
                </a:solidFill>
                <a:latin typeface="Arial" pitchFamily="34" charset="0"/>
                <a:ea typeface="Arial" pitchFamily="34" charset="-122"/>
                <a:cs typeface="Arial" pitchFamily="34" charset="-120"/>
              </a:rPr>
              <a:t>READ THE MARKERS</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FFFFFF"/>
                </a:solidFill>
                <a:latin typeface="Arial" pitchFamily="34" charset="0"/>
                <a:ea typeface="Arial" pitchFamily="34" charset="-122"/>
                <a:cs typeface="Arial" pitchFamily="34" charset="-120"/>
              </a:rPr>
              <a:t>What Git writes into the file</a:t>
            </a:r>
            <a:endParaRPr lang="en-US" sz="3000" dirty="0"/>
          </a:p>
        </p:txBody>
      </p:sp>
      <p:sp>
        <p:nvSpPr>
          <p:cNvPr id="4" name="Shape 2"/>
          <p:cNvSpPr/>
          <p:nvPr/>
        </p:nvSpPr>
        <p:spPr>
          <a:xfrm>
            <a:off x="502920" y="1325880"/>
            <a:ext cx="5257800" cy="3108960"/>
          </a:xfrm>
          <a:prstGeom prst="roundRect">
            <a:avLst>
              <a:gd name="adj" fmla="val 1471"/>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458468"/>
            <a:ext cx="77724" cy="77724"/>
          </a:xfrm>
          <a:prstGeom prst="ellipse">
            <a:avLst/>
          </a:prstGeom>
          <a:solidFill>
            <a:srgbClr val="FF5F56"/>
          </a:solidFill>
          <a:ln w="12700">
            <a:solidFill>
              <a:srgbClr val="FF5F56"/>
            </a:solidFill>
            <a:prstDash val="solid"/>
          </a:ln>
        </p:spPr>
      </p:sp>
      <p:sp>
        <p:nvSpPr>
          <p:cNvPr id="6" name="Shape 4"/>
          <p:cNvSpPr/>
          <p:nvPr/>
        </p:nvSpPr>
        <p:spPr>
          <a:xfrm>
            <a:off x="781812" y="1458468"/>
            <a:ext cx="77724" cy="77724"/>
          </a:xfrm>
          <a:prstGeom prst="ellipse">
            <a:avLst/>
          </a:prstGeom>
          <a:solidFill>
            <a:srgbClr val="FFBD2E"/>
          </a:solidFill>
          <a:ln w="12700">
            <a:solidFill>
              <a:srgbClr val="FFBD2E"/>
            </a:solidFill>
            <a:prstDash val="solid"/>
          </a:ln>
        </p:spPr>
      </p:sp>
      <p:sp>
        <p:nvSpPr>
          <p:cNvPr id="7" name="Shape 5"/>
          <p:cNvSpPr/>
          <p:nvPr/>
        </p:nvSpPr>
        <p:spPr>
          <a:xfrm>
            <a:off x="923544" y="145846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03604"/>
            <a:ext cx="457200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campuscart/urls.py</a:t>
            </a:r>
            <a:endParaRPr lang="en-US" sz="850" dirty="0"/>
          </a:p>
        </p:txBody>
      </p:sp>
      <p:sp>
        <p:nvSpPr>
          <p:cNvPr id="9" name="Text 7"/>
          <p:cNvSpPr txBox="1"/>
          <p:nvPr/>
        </p:nvSpPr>
        <p:spPr>
          <a:xfrm>
            <a:off x="704088" y="1691640"/>
            <a:ext cx="4855464" cy="2606040"/>
          </a:xfrm>
          <a:prstGeom prst="rect">
            <a:avLst/>
          </a:prstGeom>
          <a:noFill/>
          <a:ln/>
        </p:spPr>
        <p:txBody>
          <a:bodyPr wrap="square" lIns="0" tIns="0" rIns="0" bIns="0" rtlCol="0" anchor="t"/>
          <a:lstStyle/>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from django.urls import path</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&lt;&lt;&lt;&lt;&lt;&lt;&lt; HEAD</a:t>
            </a:r>
            <a:endParaRPr lang="en-US" sz="950" dirty="0"/>
          </a:p>
          <a:p>
            <a:pPr indent="0" marL="0">
              <a:lnSpc>
                <a:spcPct val="122000"/>
              </a:lnSpc>
              <a:buNone/>
            </a:pPr>
            <a:r>
              <a:rPr lang="en-US" sz="950" dirty="0">
                <a:solidFill>
                  <a:srgbClr val="79B8FF"/>
                </a:solidFill>
                <a:latin typeface="Courier New" pitchFamily="34" charset="0"/>
                <a:ea typeface="Courier New" pitchFamily="34" charset="-122"/>
                <a:cs typeface="Courier New" pitchFamily="34" charset="-120"/>
              </a:rPr>
              <a:t>from . import views, search</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dirty="0">
                <a:solidFill>
                  <a:srgbClr val="79B8FF"/>
                </a:solidFill>
                <a:latin typeface="Courier New" pitchFamily="34" charset="0"/>
                <a:ea typeface="Courier New" pitchFamily="34" charset="-122"/>
                <a:cs typeface="Courier New" pitchFamily="34" charset="-120"/>
              </a:rPr>
              <a:t>urlpatterns = [</a:t>
            </a:r>
            <a:endParaRPr lang="en-US" sz="950" dirty="0"/>
          </a:p>
          <a:p>
            <a:pPr indent="0" marL="0">
              <a:lnSpc>
                <a:spcPct val="122000"/>
              </a:lnSpc>
              <a:buNone/>
            </a:pPr>
            <a:r>
              <a:rPr lang="en-US" sz="950" dirty="0">
                <a:solidFill>
                  <a:srgbClr val="79B8FF"/>
                </a:solidFill>
                <a:latin typeface="Courier New" pitchFamily="34" charset="0"/>
                <a:ea typeface="Courier New" pitchFamily="34" charset="-122"/>
                <a:cs typeface="Courier New" pitchFamily="34" charset="-120"/>
              </a:rPr>
              <a:t>    path("", views.home),</a:t>
            </a:r>
            <a:endParaRPr lang="en-US" sz="950" dirty="0"/>
          </a:p>
          <a:p>
            <a:pPr indent="0" marL="0">
              <a:lnSpc>
                <a:spcPct val="122000"/>
              </a:lnSpc>
              <a:buNone/>
            </a:pPr>
            <a:r>
              <a:rPr lang="en-US" sz="950" dirty="0">
                <a:solidFill>
                  <a:srgbClr val="79B8FF"/>
                </a:solidFill>
                <a:latin typeface="Courier New" pitchFamily="34" charset="0"/>
                <a:ea typeface="Courier New" pitchFamily="34" charset="-122"/>
                <a:cs typeface="Courier New" pitchFamily="34" charset="-120"/>
              </a:rPr>
              <a:t>    path("search/", search.product_search),</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from . import views, orders</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urlpatterns = [</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    path("", views.home),</a:t>
            </a:r>
            <a:endParaRPr lang="en-US" sz="950" dirty="0"/>
          </a:p>
          <a:p>
            <a:pPr indent="0" marL="0">
              <a:lnSpc>
                <a:spcPct val="122000"/>
              </a:lnSpc>
              <a:buNone/>
            </a:pPr>
            <a:r>
              <a:rPr lang="en-US" sz="950" b="1" dirty="0">
                <a:solidFill>
                  <a:srgbClr val="FFAA64"/>
                </a:solidFill>
                <a:latin typeface="Courier New" pitchFamily="34" charset="0"/>
                <a:ea typeface="Courier New" pitchFamily="34" charset="-122"/>
                <a:cs typeface="Courier New" pitchFamily="34" charset="-120"/>
              </a:rPr>
              <a:t>    path("orders/", orders.order_history),</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&gt;&gt;&gt;&gt;&gt;&gt;&gt; origin/main</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a:t>
            </a:r>
            <a:endParaRPr lang="en-US" sz="950" dirty="0"/>
          </a:p>
        </p:txBody>
      </p:sp>
      <p:sp>
        <p:nvSpPr>
          <p:cNvPr id="10" name="Shape 8"/>
          <p:cNvSpPr/>
          <p:nvPr/>
        </p:nvSpPr>
        <p:spPr>
          <a:xfrm>
            <a:off x="6035040" y="1325880"/>
            <a:ext cx="2651760" cy="3108960"/>
          </a:xfrm>
          <a:prstGeom prst="roundRect">
            <a:avLst>
              <a:gd name="adj" fmla="val 2069"/>
            </a:avLst>
          </a:prstGeom>
          <a:solidFill>
            <a:srgbClr val="20252B"/>
          </a:solidFill>
          <a:ln w="12700">
            <a:solidFill>
              <a:srgbClr val="3A424C"/>
            </a:solidFill>
            <a:prstDash val="solid"/>
          </a:ln>
        </p:spPr>
      </p:sp>
      <p:sp>
        <p:nvSpPr>
          <p:cNvPr id="11" name="Text 9"/>
          <p:cNvSpPr txBox="1"/>
          <p:nvPr/>
        </p:nvSpPr>
        <p:spPr>
          <a:xfrm>
            <a:off x="6217920" y="1463040"/>
            <a:ext cx="2286000" cy="237744"/>
          </a:xfrm>
          <a:prstGeom prst="rect">
            <a:avLst/>
          </a:prstGeom>
          <a:noFill/>
          <a:ln/>
        </p:spPr>
        <p:txBody>
          <a:bodyPr wrap="square" lIns="0" tIns="0" rIns="0" bIns="0" rtlCol="0" anchor="ctr"/>
          <a:lstStyle/>
          <a:p>
            <a:pPr indent="0" marL="0">
              <a:buNone/>
            </a:pPr>
            <a:r>
              <a:rPr lang="en-US" sz="1050" b="1" dirty="0">
                <a:solidFill>
                  <a:srgbClr val="FF8A7A"/>
                </a:solidFill>
                <a:latin typeface="Courier New" pitchFamily="34" charset="0"/>
                <a:ea typeface="Courier New" pitchFamily="34" charset="-122"/>
                <a:cs typeface="Courier New" pitchFamily="34" charset="-120"/>
              </a:rPr>
              <a:t>&lt;&lt;&lt;&lt;&lt;&lt;&lt; HEAD</a:t>
            </a:r>
            <a:endParaRPr lang="en-US" sz="1050" dirty="0"/>
          </a:p>
        </p:txBody>
      </p:sp>
      <p:sp>
        <p:nvSpPr>
          <p:cNvPr id="12" name="Text 10"/>
          <p:cNvSpPr txBox="1"/>
          <p:nvPr/>
        </p:nvSpPr>
        <p:spPr>
          <a:xfrm>
            <a:off x="6217920" y="1719072"/>
            <a:ext cx="2286000" cy="548640"/>
          </a:xfrm>
          <a:prstGeom prst="rect">
            <a:avLst/>
          </a:prstGeom>
          <a:noFill/>
          <a:ln/>
        </p:spPr>
        <p:txBody>
          <a:bodyPr wrap="square" lIns="0" tIns="0" rIns="0" bIns="0" rtlCol="0" anchor="ctr"/>
          <a:lstStyle/>
          <a:p>
            <a:pPr indent="0" marL="0">
              <a:lnSpc>
                <a:spcPct val="125000"/>
              </a:lnSpc>
              <a:buNone/>
            </a:pPr>
            <a:r>
              <a:rPr lang="en-US" sz="1000" dirty="0">
                <a:solidFill>
                  <a:srgbClr val="C9D1D9"/>
                </a:solidFill>
                <a:latin typeface="Calibri" pitchFamily="34" charset="0"/>
                <a:ea typeface="Calibri" pitchFamily="34" charset="-122"/>
                <a:cs typeface="Calibri" pitchFamily="34" charset="-120"/>
              </a:rPr>
              <a:t>Everything below this line is YOUR version (the branch you are on).</a:t>
            </a:r>
            <a:endParaRPr lang="en-US" sz="1000" dirty="0"/>
          </a:p>
        </p:txBody>
      </p:sp>
      <p:sp>
        <p:nvSpPr>
          <p:cNvPr id="13" name="Text 11"/>
          <p:cNvSpPr txBox="1"/>
          <p:nvPr/>
        </p:nvSpPr>
        <p:spPr>
          <a:xfrm>
            <a:off x="6217920" y="2331720"/>
            <a:ext cx="2286000" cy="237744"/>
          </a:xfrm>
          <a:prstGeom prst="rect">
            <a:avLst/>
          </a:prstGeom>
          <a:noFill/>
          <a:ln/>
        </p:spPr>
        <p:txBody>
          <a:bodyPr wrap="square" lIns="0" tIns="0" rIns="0" bIns="0" rtlCol="0" anchor="ctr"/>
          <a:lstStyle/>
          <a:p>
            <a:pPr indent="0" marL="0">
              <a:buNone/>
            </a:pPr>
            <a:r>
              <a:rPr lang="en-US" sz="1050" b="1" dirty="0">
                <a:solidFill>
                  <a:srgbClr val="FF8A7A"/>
                </a:solidFill>
                <a:latin typeface="Courier New" pitchFamily="34" charset="0"/>
                <a:ea typeface="Courier New" pitchFamily="34" charset="-122"/>
                <a:cs typeface="Courier New" pitchFamily="34" charset="-120"/>
              </a:rPr>
              <a:t>=======</a:t>
            </a:r>
            <a:endParaRPr lang="en-US" sz="1050" dirty="0"/>
          </a:p>
        </p:txBody>
      </p:sp>
      <p:sp>
        <p:nvSpPr>
          <p:cNvPr id="14" name="Text 12"/>
          <p:cNvSpPr txBox="1"/>
          <p:nvPr/>
        </p:nvSpPr>
        <p:spPr>
          <a:xfrm>
            <a:off x="6217920" y="2587752"/>
            <a:ext cx="2286000" cy="274320"/>
          </a:xfrm>
          <a:prstGeom prst="rect">
            <a:avLst/>
          </a:prstGeom>
          <a:noFill/>
          <a:ln/>
        </p:spPr>
        <p:txBody>
          <a:bodyPr wrap="square" lIns="0" tIns="0" rIns="0" bIns="0" rtlCol="0" anchor="ctr"/>
          <a:lstStyle/>
          <a:p>
            <a:pPr indent="0" marL="0">
              <a:buNone/>
            </a:pPr>
            <a:r>
              <a:rPr lang="en-US" sz="1000" dirty="0">
                <a:solidFill>
                  <a:srgbClr val="C9D1D9"/>
                </a:solidFill>
                <a:latin typeface="Calibri" pitchFamily="34" charset="0"/>
                <a:ea typeface="Calibri" pitchFamily="34" charset="-122"/>
                <a:cs typeface="Calibri" pitchFamily="34" charset="-120"/>
              </a:rPr>
              <a:t>The divider. Nothing more.</a:t>
            </a:r>
            <a:endParaRPr lang="en-US" sz="1000" dirty="0"/>
          </a:p>
        </p:txBody>
      </p:sp>
      <p:sp>
        <p:nvSpPr>
          <p:cNvPr id="15" name="Text 13"/>
          <p:cNvSpPr txBox="1"/>
          <p:nvPr/>
        </p:nvSpPr>
        <p:spPr>
          <a:xfrm>
            <a:off x="6217920" y="2926080"/>
            <a:ext cx="2286000" cy="237744"/>
          </a:xfrm>
          <a:prstGeom prst="rect">
            <a:avLst/>
          </a:prstGeom>
          <a:noFill/>
          <a:ln/>
        </p:spPr>
        <p:txBody>
          <a:bodyPr wrap="square" lIns="0" tIns="0" rIns="0" bIns="0" rtlCol="0" anchor="ctr"/>
          <a:lstStyle/>
          <a:p>
            <a:pPr indent="0" marL="0">
              <a:buNone/>
            </a:pPr>
            <a:r>
              <a:rPr lang="en-US" sz="1050" b="1" dirty="0">
                <a:solidFill>
                  <a:srgbClr val="FF8A7A"/>
                </a:solidFill>
                <a:latin typeface="Courier New" pitchFamily="34" charset="0"/>
                <a:ea typeface="Courier New" pitchFamily="34" charset="-122"/>
                <a:cs typeface="Courier New" pitchFamily="34" charset="-120"/>
              </a:rPr>
              <a:t>&gt;&gt;&gt;&gt;&gt;&gt;&gt; origin/main</a:t>
            </a:r>
            <a:endParaRPr lang="en-US" sz="1050" dirty="0"/>
          </a:p>
        </p:txBody>
      </p:sp>
      <p:sp>
        <p:nvSpPr>
          <p:cNvPr id="16" name="Text 14"/>
          <p:cNvSpPr txBox="1"/>
          <p:nvPr/>
        </p:nvSpPr>
        <p:spPr>
          <a:xfrm>
            <a:off x="6217920" y="3182112"/>
            <a:ext cx="2286000" cy="548640"/>
          </a:xfrm>
          <a:prstGeom prst="rect">
            <a:avLst/>
          </a:prstGeom>
          <a:noFill/>
          <a:ln/>
        </p:spPr>
        <p:txBody>
          <a:bodyPr wrap="square" lIns="0" tIns="0" rIns="0" bIns="0" rtlCol="0" anchor="ctr"/>
          <a:lstStyle/>
          <a:p>
            <a:pPr indent="0" marL="0">
              <a:lnSpc>
                <a:spcPct val="125000"/>
              </a:lnSpc>
              <a:buNone/>
            </a:pPr>
            <a:r>
              <a:rPr lang="en-US" sz="1000" dirty="0">
                <a:solidFill>
                  <a:srgbClr val="C9D1D9"/>
                </a:solidFill>
                <a:latin typeface="Calibri" pitchFamily="34" charset="0"/>
                <a:ea typeface="Calibri" pitchFamily="34" charset="-122"/>
                <a:cs typeface="Calibri" pitchFamily="34" charset="-120"/>
              </a:rPr>
              <a:t>Everything above this line is THEIR version (the branch coming in).</a:t>
            </a:r>
            <a:endParaRPr lang="en-US" sz="1000" dirty="0"/>
          </a:p>
        </p:txBody>
      </p:sp>
      <p:sp>
        <p:nvSpPr>
          <p:cNvPr id="17" name="Text 15"/>
          <p:cNvSpPr txBox="1"/>
          <p:nvPr/>
        </p:nvSpPr>
        <p:spPr>
          <a:xfrm>
            <a:off x="6217920" y="3840480"/>
            <a:ext cx="2286000" cy="502920"/>
          </a:xfrm>
          <a:prstGeom prst="rect">
            <a:avLst/>
          </a:prstGeom>
          <a:noFill/>
          <a:ln/>
        </p:spPr>
        <p:txBody>
          <a:bodyPr wrap="square" lIns="0" tIns="0" rIns="0" bIns="0" rtlCol="0" anchor="ctr"/>
          <a:lstStyle/>
          <a:p>
            <a:pPr indent="0" marL="0">
              <a:lnSpc>
                <a:spcPct val="125000"/>
              </a:lnSpc>
              <a:buNone/>
            </a:pPr>
            <a:r>
              <a:rPr lang="en-US" sz="1000" b="1" dirty="0">
                <a:solidFill>
                  <a:srgbClr val="FFAA64"/>
                </a:solidFill>
                <a:latin typeface="Calibri" pitchFamily="34" charset="0"/>
                <a:ea typeface="Calibri" pitchFamily="34" charset="-122"/>
                <a:cs typeface="Calibri" pitchFamily="34" charset="-120"/>
              </a:rPr>
              <a:t>Your job: delete all three markers and leave the file exactly as it should be.</a:t>
            </a:r>
            <a:endParaRPr lang="en-US" sz="1000" dirty="0"/>
          </a:p>
        </p:txBody>
      </p:sp>
      <p:sp>
        <p:nvSpPr>
          <p:cNvPr id="18" name="Text 16"/>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DEMO 12 · RESOLVING IT</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FFFFFF"/>
                </a:solidFill>
                <a:latin typeface="Arial" pitchFamily="34" charset="0"/>
                <a:ea typeface="Arial" pitchFamily="34" charset="-122"/>
                <a:cs typeface="Arial" pitchFamily="34" charset="-120"/>
              </a:rPr>
              <a:t>Fix it locally, push, and the PR goes green</a:t>
            </a:r>
            <a:endParaRPr lang="en-US" sz="2800" dirty="0"/>
          </a:p>
        </p:txBody>
      </p:sp>
      <p:sp>
        <p:nvSpPr>
          <p:cNvPr id="4" name="Shape 2"/>
          <p:cNvSpPr/>
          <p:nvPr/>
        </p:nvSpPr>
        <p:spPr>
          <a:xfrm>
            <a:off x="502920" y="1325880"/>
            <a:ext cx="4160520" cy="3108960"/>
          </a:xfrm>
          <a:prstGeom prst="roundRect">
            <a:avLst>
              <a:gd name="adj" fmla="val 1471"/>
            </a:avLst>
          </a:prstGeom>
          <a:solidFill>
            <a:srgbClr val="12161B"/>
          </a:solidFill>
          <a:ln w="12700">
            <a:solidFill>
              <a:srgbClr val="2A3038"/>
            </a:solidFill>
            <a:prstDash val="solid"/>
          </a:ln>
          <a:effectLst>
            <a:outerShdw sx="100000" sy="100000" kx="0" ky="0" algn="bl" rotWithShape="0" blurRad="177800" dist="25400" dir="5400000">
              <a:srgbClr val="000000">
                <a:alpha val="10000"/>
              </a:srgbClr>
            </a:outerShdw>
          </a:effectLst>
        </p:spPr>
      </p:sp>
      <p:sp>
        <p:nvSpPr>
          <p:cNvPr id="5" name="Shape 3"/>
          <p:cNvSpPr/>
          <p:nvPr/>
        </p:nvSpPr>
        <p:spPr>
          <a:xfrm>
            <a:off x="640080" y="1458468"/>
            <a:ext cx="77724" cy="77724"/>
          </a:xfrm>
          <a:prstGeom prst="ellipse">
            <a:avLst/>
          </a:prstGeom>
          <a:solidFill>
            <a:srgbClr val="FF5F56"/>
          </a:solidFill>
          <a:ln w="12700">
            <a:solidFill>
              <a:srgbClr val="FF5F56"/>
            </a:solidFill>
            <a:prstDash val="solid"/>
          </a:ln>
        </p:spPr>
      </p:sp>
      <p:sp>
        <p:nvSpPr>
          <p:cNvPr id="6" name="Shape 4"/>
          <p:cNvSpPr/>
          <p:nvPr/>
        </p:nvSpPr>
        <p:spPr>
          <a:xfrm>
            <a:off x="781812" y="1458468"/>
            <a:ext cx="77724" cy="77724"/>
          </a:xfrm>
          <a:prstGeom prst="ellipse">
            <a:avLst/>
          </a:prstGeom>
          <a:solidFill>
            <a:srgbClr val="FFBD2E"/>
          </a:solidFill>
          <a:ln w="12700">
            <a:solidFill>
              <a:srgbClr val="FFBD2E"/>
            </a:solidFill>
            <a:prstDash val="solid"/>
          </a:ln>
        </p:spPr>
      </p:sp>
      <p:sp>
        <p:nvSpPr>
          <p:cNvPr id="7" name="Shape 5"/>
          <p:cNvSpPr/>
          <p:nvPr/>
        </p:nvSpPr>
        <p:spPr>
          <a:xfrm>
            <a:off x="923544" y="1458468"/>
            <a:ext cx="77724" cy="77724"/>
          </a:xfrm>
          <a:prstGeom prst="ellipse">
            <a:avLst/>
          </a:prstGeom>
          <a:solidFill>
            <a:srgbClr val="27C93F"/>
          </a:solidFill>
          <a:ln w="12700">
            <a:solidFill>
              <a:srgbClr val="27C93F"/>
            </a:solidFill>
            <a:prstDash val="solid"/>
          </a:ln>
        </p:spPr>
      </p:sp>
      <p:sp>
        <p:nvSpPr>
          <p:cNvPr id="8" name="Text 6"/>
          <p:cNvSpPr txBox="1"/>
          <p:nvPr/>
        </p:nvSpPr>
        <p:spPr>
          <a:xfrm>
            <a:off x="1069848" y="1403604"/>
            <a:ext cx="3474720" cy="192024"/>
          </a:xfrm>
          <a:prstGeom prst="rect">
            <a:avLst/>
          </a:prstGeom>
          <a:noFill/>
          <a:ln/>
        </p:spPr>
        <p:txBody>
          <a:bodyPr wrap="square" lIns="0" tIns="0" rIns="0" bIns="0" rtlCol="0" anchor="ctr"/>
          <a:lstStyle/>
          <a:p>
            <a:pPr indent="0" marL="0">
              <a:buNone/>
            </a:pPr>
            <a:r>
              <a:rPr lang="en-US" sz="850" dirty="0">
                <a:solidFill>
                  <a:srgbClr val="6E7681"/>
                </a:solidFill>
                <a:latin typeface="Courier New" pitchFamily="34" charset="0"/>
                <a:ea typeface="Courier New" pitchFamily="34" charset="-122"/>
                <a:cs typeface="Courier New" pitchFamily="34" charset="-120"/>
              </a:rPr>
              <a:t>DEV — feature/product-search</a:t>
            </a:r>
            <a:endParaRPr lang="en-US" sz="850" dirty="0"/>
          </a:p>
        </p:txBody>
      </p:sp>
      <p:sp>
        <p:nvSpPr>
          <p:cNvPr id="9" name="Text 7"/>
          <p:cNvSpPr txBox="1"/>
          <p:nvPr/>
        </p:nvSpPr>
        <p:spPr>
          <a:xfrm>
            <a:off x="704088" y="1691640"/>
            <a:ext cx="3758184" cy="2606040"/>
          </a:xfrm>
          <a:prstGeom prst="rect">
            <a:avLst/>
          </a:prstGeom>
          <a:noFill/>
          <a:ln/>
        </p:spPr>
        <p:txBody>
          <a:bodyPr wrap="square" lIns="0" tIns="0" rIns="0" bIns="0" rtlCol="0" anchor="t"/>
          <a:lstStyle/>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switch feature/product-search</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fetch origin</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merge origin/main</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Auto-merging campuscart/urls.py</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CONFLICT (content): Merge conflict</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  in campuscart/urls.py</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status --short</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A  campuscart/orders.py</a:t>
            </a:r>
            <a:endParaRPr lang="en-US" sz="950" dirty="0"/>
          </a:p>
          <a:p>
            <a:pPr indent="0" marL="0">
              <a:lnSpc>
                <a:spcPct val="122000"/>
              </a:lnSpc>
              <a:buNone/>
            </a:pPr>
            <a:r>
              <a:rPr lang="en-US" sz="950" dirty="0">
                <a:solidFill>
                  <a:srgbClr val="FF8A7A"/>
                </a:solidFill>
                <a:latin typeface="Courier New" pitchFamily="34" charset="0"/>
                <a:ea typeface="Courier New" pitchFamily="34" charset="-122"/>
                <a:cs typeface="Courier New" pitchFamily="34" charset="-120"/>
              </a:rPr>
              <a:t>UU campuscart/urls.py</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edit urls.py, keep BOTH routes,</a:t>
            </a:r>
            <a:endParaRPr lang="en-US" sz="950" dirty="0"/>
          </a:p>
          <a:p>
            <a:pPr indent="0" marL="0">
              <a:lnSpc>
                <a:spcPct val="122000"/>
              </a:lnSpc>
              <a:buNone/>
            </a:pPr>
            <a:r>
              <a:rPr lang="en-US" sz="950" i="1" dirty="0">
                <a:solidFill>
                  <a:srgbClr val="6E7681"/>
                </a:solidFill>
                <a:latin typeface="Courier New" pitchFamily="34" charset="0"/>
                <a:ea typeface="Courier New" pitchFamily="34" charset="-122"/>
                <a:cs typeface="Courier New" pitchFamily="34" charset="-120"/>
              </a:rPr>
              <a:t># delete the three markers</a:t>
            </a:r>
            <a:endParaRPr lang="en-US" sz="950" dirty="0"/>
          </a:p>
          <a:p>
            <a:pPr indent="0" marL="0">
              <a:lnSpc>
                <a:spcPct val="122000"/>
              </a:lnSpc>
              <a:buNone/>
            </a:pPr>
            <a:r>
              <a:rPr lang="en-US" sz="950" dirty="0">
                <a:solidFill>
                  <a:srgbClr val="8B949E"/>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add campuscart/urls.py</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commit -m "Merge main; keep</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both routes"</a:t>
            </a:r>
            <a:endParaRPr lang="en-US" sz="950" dirty="0"/>
          </a:p>
          <a:p>
            <a:pPr indent="0" marL="0">
              <a:lnSpc>
                <a:spcPct val="122000"/>
              </a:lnSpc>
              <a:buNone/>
            </a:pPr>
            <a:r>
              <a:rPr lang="en-US" sz="950" b="1" dirty="0">
                <a:solidFill>
                  <a:srgbClr val="6FD37E"/>
                </a:solidFill>
                <a:latin typeface="Courier New" pitchFamily="34" charset="0"/>
                <a:ea typeface="Courier New" pitchFamily="34" charset="-122"/>
                <a:cs typeface="Courier New" pitchFamily="34" charset="-120"/>
              </a:rPr>
              <a:t>$ git push</a:t>
            </a:r>
            <a:endParaRPr lang="en-US" sz="950" dirty="0"/>
          </a:p>
        </p:txBody>
      </p:sp>
      <p:sp>
        <p:nvSpPr>
          <p:cNvPr id="10" name="Shape 8"/>
          <p:cNvSpPr/>
          <p:nvPr/>
        </p:nvSpPr>
        <p:spPr>
          <a:xfrm>
            <a:off x="4937760" y="1325880"/>
            <a:ext cx="3749040" cy="1417320"/>
          </a:xfrm>
          <a:prstGeom prst="roundRect">
            <a:avLst>
              <a:gd name="adj" fmla="val 3871"/>
            </a:avLst>
          </a:prstGeom>
          <a:solidFill>
            <a:srgbClr val="20252B"/>
          </a:solidFill>
          <a:ln w="12700">
            <a:solidFill>
              <a:srgbClr val="3A424C"/>
            </a:solidFill>
            <a:prstDash val="solid"/>
          </a:ln>
        </p:spPr>
      </p:sp>
      <p:sp>
        <p:nvSpPr>
          <p:cNvPr id="11" name="Text 9"/>
          <p:cNvSpPr txBox="1"/>
          <p:nvPr/>
        </p:nvSpPr>
        <p:spPr>
          <a:xfrm>
            <a:off x="5166360" y="1444752"/>
            <a:ext cx="3291840" cy="256032"/>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UU means "both changed"</a:t>
            </a:r>
            <a:endParaRPr lang="en-US" sz="1200" dirty="0"/>
          </a:p>
        </p:txBody>
      </p:sp>
      <p:sp>
        <p:nvSpPr>
          <p:cNvPr id="12" name="Text 10"/>
          <p:cNvSpPr txBox="1"/>
          <p:nvPr/>
        </p:nvSpPr>
        <p:spPr>
          <a:xfrm>
            <a:off x="5166360" y="1737360"/>
            <a:ext cx="3291840" cy="868680"/>
          </a:xfrm>
          <a:prstGeom prst="rect">
            <a:avLst/>
          </a:prstGeom>
          <a:noFill/>
          <a:ln/>
        </p:spPr>
        <p:txBody>
          <a:bodyPr wrap="square" lIns="0" tIns="0" rIns="0" bIns="0" rtlCol="0" anchor="ctr"/>
          <a:lstStyle/>
          <a:p>
            <a:pPr indent="0" marL="0">
              <a:lnSpc>
                <a:spcPct val="130000"/>
              </a:lnSpc>
              <a:buNone/>
            </a:pPr>
            <a:r>
              <a:rPr lang="en-US" sz="1050" dirty="0">
                <a:solidFill>
                  <a:srgbClr val="C9D1D9"/>
                </a:solidFill>
                <a:latin typeface="Calibri" pitchFamily="34" charset="0"/>
                <a:ea typeface="Calibri" pitchFamily="34" charset="-122"/>
                <a:cs typeface="Calibri" pitchFamily="34" charset="-120"/>
              </a:rPr>
              <a:t>git status is your map during a conflict. It lists exactly which files need a human — and nothing else does.</a:t>
            </a:r>
            <a:endParaRPr lang="en-US" sz="1050" dirty="0"/>
          </a:p>
        </p:txBody>
      </p:sp>
      <p:sp>
        <p:nvSpPr>
          <p:cNvPr id="13" name="Shape 11"/>
          <p:cNvSpPr/>
          <p:nvPr/>
        </p:nvSpPr>
        <p:spPr>
          <a:xfrm>
            <a:off x="4937760" y="2880360"/>
            <a:ext cx="3749040" cy="1554480"/>
          </a:xfrm>
          <a:prstGeom prst="roundRect">
            <a:avLst>
              <a:gd name="adj" fmla="val 3529"/>
            </a:avLst>
          </a:prstGeom>
          <a:solidFill>
            <a:srgbClr val="1B2A1F"/>
          </a:solidFill>
          <a:ln w="12700">
            <a:solidFill>
              <a:srgbClr val="2F5137"/>
            </a:solidFill>
            <a:prstDash val="solid"/>
          </a:ln>
        </p:spPr>
      </p:sp>
      <p:sp>
        <p:nvSpPr>
          <p:cNvPr id="14" name="Text 12"/>
          <p:cNvSpPr txBox="1"/>
          <p:nvPr/>
        </p:nvSpPr>
        <p:spPr>
          <a:xfrm>
            <a:off x="5166360" y="2990088"/>
            <a:ext cx="3291840" cy="256032"/>
          </a:xfrm>
          <a:prstGeom prst="rect">
            <a:avLst/>
          </a:prstGeom>
          <a:noFill/>
          <a:ln/>
        </p:spPr>
        <p:txBody>
          <a:bodyPr wrap="square" lIns="0" tIns="0" rIns="0" bIns="0" rtlCol="0" anchor="ctr"/>
          <a:lstStyle/>
          <a:p>
            <a:pPr indent="0" marL="0">
              <a:buNone/>
            </a:pPr>
            <a:r>
              <a:rPr lang="en-US" sz="1200" b="1" dirty="0">
                <a:solidFill>
                  <a:srgbClr val="8FE3A3"/>
                </a:solidFill>
                <a:latin typeface="Arial" pitchFamily="34" charset="0"/>
                <a:ea typeface="Arial" pitchFamily="34" charset="-122"/>
                <a:cs typeface="Arial" pitchFamily="34" charset="-120"/>
              </a:rPr>
              <a:t>The final urls.py</a:t>
            </a:r>
            <a:endParaRPr lang="en-US" sz="1200" dirty="0"/>
          </a:p>
        </p:txBody>
      </p:sp>
      <p:sp>
        <p:nvSpPr>
          <p:cNvPr id="15" name="Text 13"/>
          <p:cNvSpPr txBox="1"/>
          <p:nvPr/>
        </p:nvSpPr>
        <p:spPr>
          <a:xfrm>
            <a:off x="5166360" y="3291840"/>
            <a:ext cx="3291840" cy="1005840"/>
          </a:xfrm>
          <a:prstGeom prst="rect">
            <a:avLst/>
          </a:prstGeom>
          <a:noFill/>
          <a:ln/>
        </p:spPr>
        <p:txBody>
          <a:bodyPr wrap="square" lIns="0" tIns="0" rIns="0" bIns="0" rtlCol="0" anchor="ctr"/>
          <a:lstStyle/>
          <a:p>
            <a:pPr indent="0" marL="0">
              <a:lnSpc>
                <a:spcPct val="135000"/>
              </a:lnSpc>
              <a:buNone/>
            </a:pPr>
            <a:r>
              <a:rPr lang="en-US" sz="1000" dirty="0">
                <a:solidFill>
                  <a:srgbClr val="B9EFC6"/>
                </a:solidFill>
                <a:latin typeface="Courier New" pitchFamily="34" charset="0"/>
                <a:ea typeface="Courier New" pitchFamily="34" charset="-122"/>
                <a:cs typeface="Courier New" pitchFamily="34" charset="-120"/>
              </a:rPr>
              <a:t>from . import views, orders, search</a:t>
            </a:r>
            <a:endParaRPr lang="en-US" sz="1000" dirty="0"/>
          </a:p>
          <a:p>
            <a:pPr indent="0" marL="0">
              <a:lnSpc>
                <a:spcPct val="135000"/>
              </a:lnSpc>
              <a:buNone/>
            </a:pPr>
            <a:endParaRPr lang="en-US" sz="1000" dirty="0"/>
          </a:p>
          <a:p>
            <a:pPr indent="0" marL="0">
              <a:lnSpc>
                <a:spcPct val="135000"/>
              </a:lnSpc>
              <a:buNone/>
            </a:pPr>
            <a:r>
              <a:rPr lang="en-US" sz="1000" dirty="0">
                <a:solidFill>
                  <a:srgbClr val="B9EFC6"/>
                </a:solidFill>
                <a:latin typeface="Courier New" pitchFamily="34" charset="0"/>
                <a:ea typeface="Courier New" pitchFamily="34" charset="-122"/>
                <a:cs typeface="Courier New" pitchFamily="34" charset="-120"/>
              </a:rPr>
              <a:t>path("orders/", ...)</a:t>
            </a:r>
            <a:endParaRPr lang="en-US" sz="1000" dirty="0"/>
          </a:p>
          <a:p>
            <a:pPr indent="0" marL="0">
              <a:lnSpc>
                <a:spcPct val="135000"/>
              </a:lnSpc>
              <a:buNone/>
            </a:pPr>
            <a:r>
              <a:rPr lang="en-US" sz="1000" dirty="0">
                <a:solidFill>
                  <a:srgbClr val="B9EFC6"/>
                </a:solidFill>
                <a:latin typeface="Courier New" pitchFamily="34" charset="0"/>
                <a:ea typeface="Courier New" pitchFamily="34" charset="-122"/>
                <a:cs typeface="Courier New" pitchFamily="34" charset="-120"/>
              </a:rPr>
              <a:t>path("search/", ...)</a:t>
            </a:r>
            <a:endParaRPr lang="en-US" sz="1000" dirty="0"/>
          </a:p>
        </p:txBody>
      </p:sp>
      <p:sp>
        <p:nvSpPr>
          <p:cNvPr id="16" name="Text 14"/>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C1211F"/>
                </a:solidFill>
                <a:latin typeface="Arial" pitchFamily="34" charset="0"/>
                <a:ea typeface="Arial" pitchFamily="34" charset="-122"/>
                <a:cs typeface="Arial" pitchFamily="34" charset="-120"/>
              </a:rPr>
              <a:t>WHENEVER YOU SEE CONFLICT</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Ask three questions. In this order.</a:t>
            </a:r>
            <a:endParaRPr lang="en-US" sz="3000" dirty="0"/>
          </a:p>
        </p:txBody>
      </p:sp>
      <p:sp>
        <p:nvSpPr>
          <p:cNvPr id="4" name="Shape 2"/>
          <p:cNvSpPr/>
          <p:nvPr/>
        </p:nvSpPr>
        <p:spPr>
          <a:xfrm>
            <a:off x="502920" y="1371600"/>
            <a:ext cx="8183880" cy="804672"/>
          </a:xfrm>
          <a:prstGeom prst="roundRect">
            <a:avLst>
              <a:gd name="adj" fmla="val 6818"/>
            </a:avLst>
          </a:prstGeom>
          <a:solidFill>
            <a:srgbClr val="F3F5F7"/>
          </a:solidFill>
          <a:ln w="12700">
            <a:solidFill>
              <a:srgbClr val="D5DCE3"/>
            </a:solidFill>
            <a:prstDash val="solid"/>
          </a:ln>
        </p:spPr>
      </p:sp>
      <p:sp>
        <p:nvSpPr>
          <p:cNvPr id="5" name="Shape 3"/>
          <p:cNvSpPr/>
          <p:nvPr/>
        </p:nvSpPr>
        <p:spPr>
          <a:xfrm>
            <a:off x="731520" y="1572768"/>
            <a:ext cx="402336" cy="402336"/>
          </a:xfrm>
          <a:prstGeom prst="ellipse">
            <a:avLst/>
          </a:prstGeom>
          <a:solidFill>
            <a:srgbClr val="7B3FD4"/>
          </a:solidFill>
          <a:ln w="12700">
            <a:solidFill>
              <a:srgbClr val="7B3FD4"/>
            </a:solidFill>
            <a:prstDash val="solid"/>
          </a:ln>
        </p:spPr>
      </p:sp>
      <p:sp>
        <p:nvSpPr>
          <p:cNvPr id="6" name="Text 4"/>
          <p:cNvSpPr txBox="1"/>
          <p:nvPr/>
        </p:nvSpPr>
        <p:spPr>
          <a:xfrm>
            <a:off x="73152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98448" y="1444752"/>
            <a:ext cx="3108960" cy="658368"/>
          </a:xfrm>
          <a:prstGeom prst="rect">
            <a:avLst/>
          </a:prstGeom>
          <a:noFill/>
          <a:ln/>
        </p:spPr>
        <p:txBody>
          <a:bodyPr wrap="square" lIns="0" tIns="0" rIns="0" bIns="0" rtlCol="0" anchor="ctr"/>
          <a:lstStyle/>
          <a:p>
            <a:pPr indent="0" marL="0">
              <a:buNone/>
            </a:pPr>
            <a:r>
              <a:rPr lang="en-US" sz="1450" b="1" dirty="0">
                <a:solidFill>
                  <a:srgbClr val="16191D"/>
                </a:solidFill>
                <a:latin typeface="Arial" pitchFamily="34" charset="0"/>
                <a:ea typeface="Arial" pitchFamily="34" charset="-122"/>
                <a:cs typeface="Arial" pitchFamily="34" charset="-120"/>
              </a:rPr>
              <a:t>What did I change?</a:t>
            </a:r>
            <a:endParaRPr lang="en-US" sz="1450" dirty="0"/>
          </a:p>
        </p:txBody>
      </p:sp>
      <p:sp>
        <p:nvSpPr>
          <p:cNvPr id="8" name="Text 6"/>
          <p:cNvSpPr txBox="1"/>
          <p:nvPr/>
        </p:nvSpPr>
        <p:spPr>
          <a:xfrm>
            <a:off x="4480560" y="1444752"/>
            <a:ext cx="3977640" cy="658368"/>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The block between &lt;&lt;&lt;&lt;&lt;&lt;&lt; and =======. Your branch, your work.</a:t>
            </a:r>
            <a:endParaRPr lang="en-US" sz="1100" dirty="0"/>
          </a:p>
        </p:txBody>
      </p:sp>
      <p:sp>
        <p:nvSpPr>
          <p:cNvPr id="9" name="Shape 7"/>
          <p:cNvSpPr/>
          <p:nvPr/>
        </p:nvSpPr>
        <p:spPr>
          <a:xfrm>
            <a:off x="502920" y="2286000"/>
            <a:ext cx="8183880" cy="804672"/>
          </a:xfrm>
          <a:prstGeom prst="roundRect">
            <a:avLst>
              <a:gd name="adj" fmla="val 6818"/>
            </a:avLst>
          </a:prstGeom>
          <a:solidFill>
            <a:srgbClr val="F3F5F7"/>
          </a:solidFill>
          <a:ln w="12700">
            <a:solidFill>
              <a:srgbClr val="D5DCE3"/>
            </a:solidFill>
            <a:prstDash val="solid"/>
          </a:ln>
        </p:spPr>
      </p:sp>
      <p:sp>
        <p:nvSpPr>
          <p:cNvPr id="10" name="Shape 8"/>
          <p:cNvSpPr/>
          <p:nvPr/>
        </p:nvSpPr>
        <p:spPr>
          <a:xfrm>
            <a:off x="731520" y="2487168"/>
            <a:ext cx="402336" cy="402336"/>
          </a:xfrm>
          <a:prstGeom prst="ellipse">
            <a:avLst/>
          </a:prstGeom>
          <a:solidFill>
            <a:srgbClr val="7B3FD4"/>
          </a:solidFill>
          <a:ln w="12700">
            <a:solidFill>
              <a:srgbClr val="7B3FD4"/>
            </a:solidFill>
            <a:prstDash val="solid"/>
          </a:ln>
        </p:spPr>
      </p:sp>
      <p:sp>
        <p:nvSpPr>
          <p:cNvPr id="11" name="Text 9"/>
          <p:cNvSpPr txBox="1"/>
          <p:nvPr/>
        </p:nvSpPr>
        <p:spPr>
          <a:xfrm>
            <a:off x="73152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1298448" y="2359152"/>
            <a:ext cx="3108960" cy="658368"/>
          </a:xfrm>
          <a:prstGeom prst="rect">
            <a:avLst/>
          </a:prstGeom>
          <a:noFill/>
          <a:ln/>
        </p:spPr>
        <p:txBody>
          <a:bodyPr wrap="square" lIns="0" tIns="0" rIns="0" bIns="0" rtlCol="0" anchor="ctr"/>
          <a:lstStyle/>
          <a:p>
            <a:pPr indent="0" marL="0">
              <a:buNone/>
            </a:pPr>
            <a:r>
              <a:rPr lang="en-US" sz="1450" b="1" dirty="0">
                <a:solidFill>
                  <a:srgbClr val="16191D"/>
                </a:solidFill>
                <a:latin typeface="Arial" pitchFamily="34" charset="0"/>
                <a:ea typeface="Arial" pitchFamily="34" charset="-122"/>
                <a:cs typeface="Arial" pitchFamily="34" charset="-120"/>
              </a:rPr>
              <a:t>What did they change?</a:t>
            </a:r>
            <a:endParaRPr lang="en-US" sz="1450" dirty="0"/>
          </a:p>
        </p:txBody>
      </p:sp>
      <p:sp>
        <p:nvSpPr>
          <p:cNvPr id="13" name="Text 11"/>
          <p:cNvSpPr txBox="1"/>
          <p:nvPr/>
        </p:nvSpPr>
        <p:spPr>
          <a:xfrm>
            <a:off x="4480560" y="2359152"/>
            <a:ext cx="3977640" cy="658368"/>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The block between ======= and &gt;&gt;&gt;&gt;&gt;&gt;&gt;. Someone else spent hours on this.</a:t>
            </a:r>
            <a:endParaRPr lang="en-US" sz="1100" dirty="0"/>
          </a:p>
        </p:txBody>
      </p:sp>
      <p:sp>
        <p:nvSpPr>
          <p:cNvPr id="14" name="Shape 12"/>
          <p:cNvSpPr/>
          <p:nvPr/>
        </p:nvSpPr>
        <p:spPr>
          <a:xfrm>
            <a:off x="502920" y="3200400"/>
            <a:ext cx="8183880" cy="804672"/>
          </a:xfrm>
          <a:prstGeom prst="roundRect">
            <a:avLst>
              <a:gd name="adj" fmla="val 6818"/>
            </a:avLst>
          </a:prstGeom>
          <a:solidFill>
            <a:srgbClr val="F3F5F7"/>
          </a:solidFill>
          <a:ln w="12700">
            <a:solidFill>
              <a:srgbClr val="D5DCE3"/>
            </a:solidFill>
            <a:prstDash val="solid"/>
          </a:ln>
        </p:spPr>
      </p:sp>
      <p:sp>
        <p:nvSpPr>
          <p:cNvPr id="15" name="Shape 13"/>
          <p:cNvSpPr/>
          <p:nvPr/>
        </p:nvSpPr>
        <p:spPr>
          <a:xfrm>
            <a:off x="731520" y="3401568"/>
            <a:ext cx="402336" cy="402336"/>
          </a:xfrm>
          <a:prstGeom prst="ellipse">
            <a:avLst/>
          </a:prstGeom>
          <a:solidFill>
            <a:srgbClr val="7B3FD4"/>
          </a:solidFill>
          <a:ln w="12700">
            <a:solidFill>
              <a:srgbClr val="7B3FD4"/>
            </a:solidFill>
            <a:prstDash val="solid"/>
          </a:ln>
        </p:spPr>
      </p:sp>
      <p:sp>
        <p:nvSpPr>
          <p:cNvPr id="16" name="Text 14"/>
          <p:cNvSpPr txBox="1"/>
          <p:nvPr/>
        </p:nvSpPr>
        <p:spPr>
          <a:xfrm>
            <a:off x="73152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298448" y="3273552"/>
            <a:ext cx="3108960" cy="658368"/>
          </a:xfrm>
          <a:prstGeom prst="rect">
            <a:avLst/>
          </a:prstGeom>
          <a:noFill/>
          <a:ln/>
        </p:spPr>
        <p:txBody>
          <a:bodyPr wrap="square" lIns="0" tIns="0" rIns="0" bIns="0" rtlCol="0" anchor="ctr"/>
          <a:lstStyle/>
          <a:p>
            <a:pPr indent="0" marL="0">
              <a:buNone/>
            </a:pPr>
            <a:r>
              <a:rPr lang="en-US" sz="1450" b="1" dirty="0">
                <a:solidFill>
                  <a:srgbClr val="16191D"/>
                </a:solidFill>
                <a:latin typeface="Arial" pitchFamily="34" charset="0"/>
                <a:ea typeface="Arial" pitchFamily="34" charset="-122"/>
                <a:cs typeface="Arial" pitchFamily="34" charset="-120"/>
              </a:rPr>
              <a:t>What should this file say now?</a:t>
            </a:r>
            <a:endParaRPr lang="en-US" sz="1450" dirty="0"/>
          </a:p>
        </p:txBody>
      </p:sp>
      <p:sp>
        <p:nvSpPr>
          <p:cNvPr id="18" name="Text 16"/>
          <p:cNvSpPr txBox="1"/>
          <p:nvPr/>
        </p:nvSpPr>
        <p:spPr>
          <a:xfrm>
            <a:off x="4480560" y="3273552"/>
            <a:ext cx="3977640" cy="658368"/>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Usually BOTH. Sometimes one. Occasionally something new that you write.</a:t>
            </a:r>
            <a:endParaRPr lang="en-US" sz="1100" dirty="0"/>
          </a:p>
        </p:txBody>
      </p:sp>
      <p:sp>
        <p:nvSpPr>
          <p:cNvPr id="19" name="Shape 17"/>
          <p:cNvSpPr/>
          <p:nvPr/>
        </p:nvSpPr>
        <p:spPr>
          <a:xfrm>
            <a:off x="502920" y="4206240"/>
            <a:ext cx="8183880" cy="566928"/>
          </a:xfrm>
          <a:prstGeom prst="roundRect">
            <a:avLst>
              <a:gd name="adj" fmla="val 9677"/>
            </a:avLst>
          </a:prstGeom>
          <a:solidFill>
            <a:srgbClr val="FBECEC"/>
          </a:solidFill>
          <a:ln w="12700">
            <a:solidFill>
              <a:srgbClr val="F0C9C9"/>
            </a:solidFill>
            <a:prstDash val="solid"/>
          </a:ln>
        </p:spPr>
      </p:sp>
      <p:sp>
        <p:nvSpPr>
          <p:cNvPr id="20" name="Text 18"/>
          <p:cNvSpPr txBox="1"/>
          <p:nvPr/>
        </p:nvSpPr>
        <p:spPr>
          <a:xfrm>
            <a:off x="777240" y="4206240"/>
            <a:ext cx="7772400" cy="566928"/>
          </a:xfrm>
          <a:prstGeom prst="rect">
            <a:avLst/>
          </a:prstGeom>
          <a:noFill/>
          <a:ln/>
        </p:spPr>
        <p:txBody>
          <a:bodyPr wrap="square" lIns="0" tIns="0" rIns="0" bIns="0" rtlCol="0" anchor="ctr"/>
          <a:lstStyle/>
          <a:p>
            <a:pPr indent="0" marL="0">
              <a:buNone/>
            </a:pPr>
            <a:r>
              <a:rPr lang="en-US" sz="1250" b="1" dirty="0">
                <a:solidFill>
                  <a:srgbClr val="C1211F"/>
                </a:solidFill>
                <a:latin typeface="Arial" pitchFamily="34" charset="0"/>
                <a:ea typeface="Arial" pitchFamily="34" charset="-122"/>
                <a:cs typeface="Arial" pitchFamily="34" charset="-120"/>
              </a:rPr>
              <a:t>Never delete their block just to make the red markers disappear. That is how teammates silently lose a day of work.</a:t>
            </a:r>
            <a:endParaRPr lang="en-US" sz="1250" dirty="0"/>
          </a:p>
        </p:txBody>
      </p:sp>
      <p:sp>
        <p:nvSpPr>
          <p:cNvPr id="21" name="Text 19"/>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1F8A42"/>
                </a:solidFill>
                <a:latin typeface="Arial" pitchFamily="34" charset="0"/>
                <a:ea typeface="Arial" pitchFamily="34" charset="-122"/>
                <a:cs typeface="Arial" pitchFamily="34" charset="-120"/>
              </a:rPr>
              <a:t>THE COMMAND THAT REMOVES THE FEAR</a:t>
            </a:r>
            <a:endParaRPr lang="en-US" sz="1000" dirty="0"/>
          </a:p>
        </p:txBody>
      </p:sp>
      <p:sp>
        <p:nvSpPr>
          <p:cNvPr id="3" name="Text 1"/>
          <p:cNvSpPr txBox="1"/>
          <p:nvPr/>
        </p:nvSpPr>
        <p:spPr>
          <a:xfrm>
            <a:off x="640080" y="1234440"/>
            <a:ext cx="7863840" cy="731520"/>
          </a:xfrm>
          <a:prstGeom prst="rect">
            <a:avLst/>
          </a:prstGeom>
          <a:noFill/>
          <a:ln/>
        </p:spPr>
        <p:txBody>
          <a:bodyPr wrap="square" lIns="0" tIns="0" rIns="0" bIns="0" rtlCol="0" anchor="ctr"/>
          <a:lstStyle/>
          <a:p>
            <a:pPr indent="0" marL="0">
              <a:buNone/>
            </a:pPr>
            <a:r>
              <a:rPr lang="en-US" sz="3600" b="1" dirty="0">
                <a:solidFill>
                  <a:srgbClr val="8FE3A3"/>
                </a:solidFill>
                <a:latin typeface="Courier New" pitchFamily="34" charset="0"/>
                <a:ea typeface="Courier New" pitchFamily="34" charset="-122"/>
                <a:cs typeface="Courier New" pitchFamily="34" charset="-120"/>
              </a:rPr>
              <a:t>git merge --abort</a:t>
            </a:r>
            <a:endParaRPr lang="en-US" sz="3600" dirty="0"/>
          </a:p>
        </p:txBody>
      </p:sp>
      <p:sp>
        <p:nvSpPr>
          <p:cNvPr id="4" name="Text 2"/>
          <p:cNvSpPr txBox="1"/>
          <p:nvPr/>
        </p:nvSpPr>
        <p:spPr>
          <a:xfrm>
            <a:off x="640080" y="2057400"/>
            <a:ext cx="7863840" cy="73152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Undoes the whole merge. Every marker gone. Your branch is exactly as it was</a:t>
            </a:r>
            <a:endParaRPr lang="en-US" sz="1500" dirty="0"/>
          </a:p>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sixty seconds ago. Nothing lost, nothing committed, no trace.</a:t>
            </a:r>
            <a:endParaRPr lang="en-US" sz="1500" dirty="0"/>
          </a:p>
        </p:txBody>
      </p:sp>
      <p:sp>
        <p:nvSpPr>
          <p:cNvPr id="5" name="Shape 3"/>
          <p:cNvSpPr/>
          <p:nvPr/>
        </p:nvSpPr>
        <p:spPr>
          <a:xfrm>
            <a:off x="640080" y="3017520"/>
            <a:ext cx="3794760" cy="1280160"/>
          </a:xfrm>
          <a:prstGeom prst="roundRect">
            <a:avLst>
              <a:gd name="adj" fmla="val 4286"/>
            </a:avLst>
          </a:prstGeom>
          <a:solidFill>
            <a:srgbClr val="20252B"/>
          </a:solidFill>
          <a:ln w="12700">
            <a:solidFill>
              <a:srgbClr val="3A424C"/>
            </a:solidFill>
            <a:prstDash val="solid"/>
          </a:ln>
        </p:spPr>
      </p:sp>
      <p:sp>
        <p:nvSpPr>
          <p:cNvPr id="6" name="Text 4"/>
          <p:cNvSpPr txBox="1"/>
          <p:nvPr/>
        </p:nvSpPr>
        <p:spPr>
          <a:xfrm>
            <a:off x="868680" y="3127248"/>
            <a:ext cx="3291840" cy="256032"/>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Use it when</a:t>
            </a:r>
            <a:endParaRPr lang="en-US" sz="1200" dirty="0"/>
          </a:p>
        </p:txBody>
      </p:sp>
      <p:sp>
        <p:nvSpPr>
          <p:cNvPr id="7" name="Text 5"/>
          <p:cNvSpPr txBox="1"/>
          <p:nvPr/>
        </p:nvSpPr>
        <p:spPr>
          <a:xfrm>
            <a:off x="868680" y="3401568"/>
            <a:ext cx="3383280" cy="8229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C9D1D9"/>
                </a:solidFill>
                <a:latin typeface="Calibri" pitchFamily="34" charset="0"/>
                <a:ea typeface="Calibri" pitchFamily="34" charset="-122"/>
                <a:cs typeface="Calibri" pitchFamily="34" charset="-120"/>
              </a:rPr>
              <a:t>The conflict is bigger than expected</a:t>
            </a:r>
            <a:endParaRPr lang="en-US" sz="1050" dirty="0"/>
          </a:p>
          <a:p>
            <a:pPr marL="177800" indent="-177800">
              <a:spcAft>
                <a:spcPts val="500"/>
              </a:spcAft>
              <a:buSzPct val="100000"/>
              <a:buChar char="•"/>
            </a:pPr>
            <a:r>
              <a:rPr lang="en-US" sz="1050" dirty="0">
                <a:solidFill>
                  <a:srgbClr val="C9D1D9"/>
                </a:solidFill>
                <a:latin typeface="Calibri" pitchFamily="34" charset="0"/>
                <a:ea typeface="Calibri" pitchFamily="34" charset="-122"/>
                <a:cs typeface="Calibri" pitchFamily="34" charset="-120"/>
              </a:rPr>
              <a:t>You need to ask a teammate first</a:t>
            </a:r>
            <a:endParaRPr lang="en-US" sz="1050" dirty="0"/>
          </a:p>
          <a:p>
            <a:pPr marL="177800" indent="-177800">
              <a:spcAft>
                <a:spcPts val="500"/>
              </a:spcAft>
              <a:buSzPct val="100000"/>
              <a:buChar char="•"/>
            </a:pPr>
            <a:r>
              <a:rPr lang="en-US" sz="1050" dirty="0">
                <a:solidFill>
                  <a:srgbClr val="C9D1D9"/>
                </a:solidFill>
                <a:latin typeface="Calibri" pitchFamily="34" charset="0"/>
                <a:ea typeface="Calibri" pitchFamily="34" charset="-122"/>
                <a:cs typeface="Calibri" pitchFamily="34" charset="-120"/>
              </a:rPr>
              <a:t>You have made a mess and want a clean start</a:t>
            </a:r>
            <a:endParaRPr lang="en-US" sz="1050" dirty="0"/>
          </a:p>
        </p:txBody>
      </p:sp>
      <p:sp>
        <p:nvSpPr>
          <p:cNvPr id="8" name="Shape 6"/>
          <p:cNvSpPr/>
          <p:nvPr/>
        </p:nvSpPr>
        <p:spPr>
          <a:xfrm>
            <a:off x="4709160" y="3017520"/>
            <a:ext cx="3977640" cy="1280160"/>
          </a:xfrm>
          <a:prstGeom prst="roundRect">
            <a:avLst>
              <a:gd name="adj" fmla="val 4286"/>
            </a:avLst>
          </a:prstGeom>
          <a:solidFill>
            <a:srgbClr val="20252B"/>
          </a:solidFill>
          <a:ln w="12700">
            <a:solidFill>
              <a:srgbClr val="3A424C"/>
            </a:solidFill>
            <a:prstDash val="solid"/>
          </a:ln>
        </p:spPr>
      </p:sp>
      <p:sp>
        <p:nvSpPr>
          <p:cNvPr id="9" name="Text 7"/>
          <p:cNvSpPr txBox="1"/>
          <p:nvPr/>
        </p:nvSpPr>
        <p:spPr>
          <a:xfrm>
            <a:off x="4937760" y="3127248"/>
            <a:ext cx="3474720" cy="256032"/>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The general truth</a:t>
            </a:r>
            <a:endParaRPr lang="en-US" sz="1200" dirty="0"/>
          </a:p>
        </p:txBody>
      </p:sp>
      <p:sp>
        <p:nvSpPr>
          <p:cNvPr id="10" name="Text 8"/>
          <p:cNvSpPr txBox="1"/>
          <p:nvPr/>
        </p:nvSpPr>
        <p:spPr>
          <a:xfrm>
            <a:off x="4937760" y="3401568"/>
            <a:ext cx="3566160" cy="777240"/>
          </a:xfrm>
          <a:prstGeom prst="rect">
            <a:avLst/>
          </a:prstGeom>
          <a:noFill/>
          <a:ln/>
        </p:spPr>
        <p:txBody>
          <a:bodyPr wrap="square" lIns="0" tIns="0" rIns="0" bIns="0" rtlCol="0" anchor="ctr"/>
          <a:lstStyle/>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Almost everything in Git is reversible. If your work was committed, it can be recovered — even when it looks gone.</a:t>
            </a:r>
            <a:endParaRPr lang="en-US" sz="1100" dirty="0"/>
          </a:p>
        </p:txBody>
      </p:sp>
      <p:sp>
        <p:nvSpPr>
          <p:cNvPr id="11" name="Text 9"/>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WHAT THE TL SWITCHES ON DAY ONE</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Making the rules impossible to break</a:t>
            </a:r>
            <a:endParaRPr lang="en-US" sz="2900" dirty="0"/>
          </a:p>
        </p:txBody>
      </p:sp>
      <p:sp>
        <p:nvSpPr>
          <p:cNvPr id="4" name="Shape 2"/>
          <p:cNvSpPr/>
          <p:nvPr/>
        </p:nvSpPr>
        <p:spPr>
          <a:xfrm>
            <a:off x="502920" y="1325880"/>
            <a:ext cx="4937760" cy="2743200"/>
          </a:xfrm>
          <a:prstGeom prst="roundRect">
            <a:avLst>
              <a:gd name="adj" fmla="val 2000"/>
            </a:avLst>
          </a:prstGeom>
          <a:solidFill>
            <a:srgbClr val="F3F5F7"/>
          </a:solidFill>
          <a:ln w="12700">
            <a:solidFill>
              <a:srgbClr val="D5DCE3"/>
            </a:solidFill>
            <a:prstDash val="solid"/>
          </a:ln>
        </p:spPr>
      </p:sp>
      <p:sp>
        <p:nvSpPr>
          <p:cNvPr id="5" name="Text 3"/>
          <p:cNvSpPr txBox="1"/>
          <p:nvPr/>
        </p:nvSpPr>
        <p:spPr>
          <a:xfrm>
            <a:off x="731520" y="1444752"/>
            <a:ext cx="4480560" cy="274320"/>
          </a:xfrm>
          <a:prstGeom prst="rect">
            <a:avLst/>
          </a:prstGeom>
          <a:noFill/>
          <a:ln/>
        </p:spPr>
        <p:txBody>
          <a:bodyPr wrap="square" lIns="0" tIns="0" rIns="0" bIns="0" rtlCol="0" anchor="ctr"/>
          <a:lstStyle/>
          <a:p>
            <a:pPr indent="0" marL="0">
              <a:buNone/>
            </a:pPr>
            <a:r>
              <a:rPr lang="en-US" sz="950" dirty="0">
                <a:solidFill>
                  <a:srgbClr val="5A6572"/>
                </a:solidFill>
                <a:latin typeface="Courier New" pitchFamily="34" charset="0"/>
                <a:ea typeface="Courier New" pitchFamily="34" charset="-122"/>
                <a:cs typeface="Courier New" pitchFamily="34" charset="-120"/>
              </a:rPr>
              <a:t>Settings → Branches → Add branch protection rule → main</a:t>
            </a:r>
            <a:endParaRPr lang="en-US" sz="950" dirty="0"/>
          </a:p>
        </p:txBody>
      </p:sp>
      <p:sp>
        <p:nvSpPr>
          <p:cNvPr id="6" name="Shape 4"/>
          <p:cNvSpPr/>
          <p:nvPr/>
        </p:nvSpPr>
        <p:spPr>
          <a:xfrm>
            <a:off x="777240" y="1865376"/>
            <a:ext cx="182880" cy="182880"/>
          </a:xfrm>
          <a:prstGeom prst="roundRect">
            <a:avLst>
              <a:gd name="adj" fmla="val 20000"/>
            </a:avLst>
          </a:prstGeom>
          <a:solidFill>
            <a:srgbClr val="1F8A42"/>
          </a:solidFill>
          <a:ln w="12700">
            <a:solidFill>
              <a:srgbClr val="1F8A42"/>
            </a:solidFill>
            <a:prstDash val="solid"/>
          </a:ln>
        </p:spPr>
      </p:sp>
      <p:sp>
        <p:nvSpPr>
          <p:cNvPr id="7" name="Text 5"/>
          <p:cNvSpPr txBox="1"/>
          <p:nvPr/>
        </p:nvSpPr>
        <p:spPr>
          <a:xfrm>
            <a:off x="1097280" y="1828800"/>
            <a:ext cx="4206240" cy="256032"/>
          </a:xfrm>
          <a:prstGeom prst="rect">
            <a:avLst/>
          </a:prstGeom>
          <a:noFill/>
          <a:ln/>
        </p:spPr>
        <p:txBody>
          <a:bodyPr wrap="square" lIns="0" tIns="0" rIns="0" bIns="0" rtlCol="0" anchor="ctr"/>
          <a:lstStyle/>
          <a:p>
            <a:pPr indent="0" marL="0">
              <a:buNone/>
            </a:pPr>
            <a:r>
              <a:rPr lang="en-US" sz="1100" dirty="0">
                <a:solidFill>
                  <a:srgbClr val="16191D"/>
                </a:solidFill>
                <a:latin typeface="Calibri" pitchFamily="34" charset="0"/>
                <a:ea typeface="Calibri" pitchFamily="34" charset="-122"/>
                <a:cs typeface="Calibri" pitchFamily="34" charset="-120"/>
              </a:rPr>
              <a:t>Require a pull request before merging</a:t>
            </a:r>
            <a:endParaRPr lang="en-US" sz="1100" dirty="0"/>
          </a:p>
        </p:txBody>
      </p:sp>
      <p:sp>
        <p:nvSpPr>
          <p:cNvPr id="8" name="Shape 6"/>
          <p:cNvSpPr/>
          <p:nvPr/>
        </p:nvSpPr>
        <p:spPr>
          <a:xfrm>
            <a:off x="777240" y="2212848"/>
            <a:ext cx="182880" cy="182880"/>
          </a:xfrm>
          <a:prstGeom prst="roundRect">
            <a:avLst>
              <a:gd name="adj" fmla="val 20000"/>
            </a:avLst>
          </a:prstGeom>
          <a:solidFill>
            <a:srgbClr val="1F8A42"/>
          </a:solidFill>
          <a:ln w="12700">
            <a:solidFill>
              <a:srgbClr val="1F8A42"/>
            </a:solidFill>
            <a:prstDash val="solid"/>
          </a:ln>
        </p:spPr>
      </p:sp>
      <p:sp>
        <p:nvSpPr>
          <p:cNvPr id="9" name="Text 7"/>
          <p:cNvSpPr txBox="1"/>
          <p:nvPr/>
        </p:nvSpPr>
        <p:spPr>
          <a:xfrm>
            <a:off x="1097280" y="2176272"/>
            <a:ext cx="4206240" cy="256032"/>
          </a:xfrm>
          <a:prstGeom prst="rect">
            <a:avLst/>
          </a:prstGeom>
          <a:noFill/>
          <a:ln/>
        </p:spPr>
        <p:txBody>
          <a:bodyPr wrap="square" lIns="0" tIns="0" rIns="0" bIns="0" rtlCol="0" anchor="ctr"/>
          <a:lstStyle/>
          <a:p>
            <a:pPr indent="0" marL="0">
              <a:buNone/>
            </a:pPr>
            <a:r>
              <a:rPr lang="en-US" sz="1100" dirty="0">
                <a:solidFill>
                  <a:srgbClr val="16191D"/>
                </a:solidFill>
                <a:latin typeface="Calibri" pitchFamily="34" charset="0"/>
                <a:ea typeface="Calibri" pitchFamily="34" charset="-122"/>
                <a:cs typeface="Calibri" pitchFamily="34" charset="-120"/>
              </a:rPr>
              <a:t>Require 1 approval before merging</a:t>
            </a:r>
            <a:endParaRPr lang="en-US" sz="1100" dirty="0"/>
          </a:p>
        </p:txBody>
      </p:sp>
      <p:sp>
        <p:nvSpPr>
          <p:cNvPr id="10" name="Shape 8"/>
          <p:cNvSpPr/>
          <p:nvPr/>
        </p:nvSpPr>
        <p:spPr>
          <a:xfrm>
            <a:off x="777240" y="2560320"/>
            <a:ext cx="182880" cy="182880"/>
          </a:xfrm>
          <a:prstGeom prst="roundRect">
            <a:avLst>
              <a:gd name="adj" fmla="val 20000"/>
            </a:avLst>
          </a:prstGeom>
          <a:solidFill>
            <a:srgbClr val="1F8A42"/>
          </a:solidFill>
          <a:ln w="12700">
            <a:solidFill>
              <a:srgbClr val="1F8A42"/>
            </a:solidFill>
            <a:prstDash val="solid"/>
          </a:ln>
        </p:spPr>
      </p:sp>
      <p:sp>
        <p:nvSpPr>
          <p:cNvPr id="11" name="Text 9"/>
          <p:cNvSpPr txBox="1"/>
          <p:nvPr/>
        </p:nvSpPr>
        <p:spPr>
          <a:xfrm>
            <a:off x="1097280" y="2523744"/>
            <a:ext cx="4206240" cy="256032"/>
          </a:xfrm>
          <a:prstGeom prst="rect">
            <a:avLst/>
          </a:prstGeom>
          <a:noFill/>
          <a:ln/>
        </p:spPr>
        <p:txBody>
          <a:bodyPr wrap="square" lIns="0" tIns="0" rIns="0" bIns="0" rtlCol="0" anchor="ctr"/>
          <a:lstStyle/>
          <a:p>
            <a:pPr indent="0" marL="0">
              <a:buNone/>
            </a:pPr>
            <a:r>
              <a:rPr lang="en-US" sz="1100" dirty="0">
                <a:solidFill>
                  <a:srgbClr val="16191D"/>
                </a:solidFill>
                <a:latin typeface="Calibri" pitchFamily="34" charset="0"/>
                <a:ea typeface="Calibri" pitchFamily="34" charset="-122"/>
                <a:cs typeface="Calibri" pitchFamily="34" charset="-120"/>
              </a:rPr>
              <a:t>Dismiss stale approvals on new commits</a:t>
            </a:r>
            <a:endParaRPr lang="en-US" sz="1100" dirty="0"/>
          </a:p>
        </p:txBody>
      </p:sp>
      <p:sp>
        <p:nvSpPr>
          <p:cNvPr id="12" name="Shape 10"/>
          <p:cNvSpPr/>
          <p:nvPr/>
        </p:nvSpPr>
        <p:spPr>
          <a:xfrm>
            <a:off x="777240" y="2907792"/>
            <a:ext cx="182880" cy="182880"/>
          </a:xfrm>
          <a:prstGeom prst="roundRect">
            <a:avLst>
              <a:gd name="adj" fmla="val 20000"/>
            </a:avLst>
          </a:prstGeom>
          <a:solidFill>
            <a:srgbClr val="1F8A42"/>
          </a:solidFill>
          <a:ln w="12700">
            <a:solidFill>
              <a:srgbClr val="1F8A42"/>
            </a:solidFill>
            <a:prstDash val="solid"/>
          </a:ln>
        </p:spPr>
      </p:sp>
      <p:sp>
        <p:nvSpPr>
          <p:cNvPr id="13" name="Text 11"/>
          <p:cNvSpPr txBox="1"/>
          <p:nvPr/>
        </p:nvSpPr>
        <p:spPr>
          <a:xfrm>
            <a:off x="1097280" y="2871216"/>
            <a:ext cx="4206240" cy="256032"/>
          </a:xfrm>
          <a:prstGeom prst="rect">
            <a:avLst/>
          </a:prstGeom>
          <a:noFill/>
          <a:ln/>
        </p:spPr>
        <p:txBody>
          <a:bodyPr wrap="square" lIns="0" tIns="0" rIns="0" bIns="0" rtlCol="0" anchor="ctr"/>
          <a:lstStyle/>
          <a:p>
            <a:pPr indent="0" marL="0">
              <a:buNone/>
            </a:pPr>
            <a:r>
              <a:rPr lang="en-US" sz="1100" dirty="0">
                <a:solidFill>
                  <a:srgbClr val="16191D"/>
                </a:solidFill>
                <a:latin typeface="Calibri" pitchFamily="34" charset="0"/>
                <a:ea typeface="Calibri" pitchFamily="34" charset="-122"/>
                <a:cs typeface="Calibri" pitchFamily="34" charset="-120"/>
              </a:rPr>
              <a:t>Require status checks (tests) to pass</a:t>
            </a:r>
            <a:endParaRPr lang="en-US" sz="1100" dirty="0"/>
          </a:p>
        </p:txBody>
      </p:sp>
      <p:sp>
        <p:nvSpPr>
          <p:cNvPr id="14" name="Shape 12"/>
          <p:cNvSpPr/>
          <p:nvPr/>
        </p:nvSpPr>
        <p:spPr>
          <a:xfrm>
            <a:off x="777240" y="3255264"/>
            <a:ext cx="182880" cy="182880"/>
          </a:xfrm>
          <a:prstGeom prst="roundRect">
            <a:avLst>
              <a:gd name="adj" fmla="val 20000"/>
            </a:avLst>
          </a:prstGeom>
          <a:solidFill>
            <a:srgbClr val="1F8A42"/>
          </a:solidFill>
          <a:ln w="12700">
            <a:solidFill>
              <a:srgbClr val="1F8A42"/>
            </a:solidFill>
            <a:prstDash val="solid"/>
          </a:ln>
        </p:spPr>
      </p:sp>
      <p:sp>
        <p:nvSpPr>
          <p:cNvPr id="15" name="Text 13"/>
          <p:cNvSpPr txBox="1"/>
          <p:nvPr/>
        </p:nvSpPr>
        <p:spPr>
          <a:xfrm>
            <a:off x="1097280" y="3218688"/>
            <a:ext cx="4206240" cy="256032"/>
          </a:xfrm>
          <a:prstGeom prst="rect">
            <a:avLst/>
          </a:prstGeom>
          <a:noFill/>
          <a:ln/>
        </p:spPr>
        <p:txBody>
          <a:bodyPr wrap="square" lIns="0" tIns="0" rIns="0" bIns="0" rtlCol="0" anchor="ctr"/>
          <a:lstStyle/>
          <a:p>
            <a:pPr indent="0" marL="0">
              <a:buNone/>
            </a:pPr>
            <a:r>
              <a:rPr lang="en-US" sz="1100" dirty="0">
                <a:solidFill>
                  <a:srgbClr val="16191D"/>
                </a:solidFill>
                <a:latin typeface="Calibri" pitchFamily="34" charset="0"/>
                <a:ea typeface="Calibri" pitchFamily="34" charset="-122"/>
                <a:cs typeface="Calibri" pitchFamily="34" charset="-120"/>
              </a:rPr>
              <a:t>Block force pushes to main</a:t>
            </a:r>
            <a:endParaRPr lang="en-US" sz="1100" dirty="0"/>
          </a:p>
        </p:txBody>
      </p:sp>
      <p:sp>
        <p:nvSpPr>
          <p:cNvPr id="16" name="Shape 14"/>
          <p:cNvSpPr/>
          <p:nvPr/>
        </p:nvSpPr>
        <p:spPr>
          <a:xfrm>
            <a:off x="777240" y="3602736"/>
            <a:ext cx="182880" cy="182880"/>
          </a:xfrm>
          <a:prstGeom prst="roundRect">
            <a:avLst>
              <a:gd name="adj" fmla="val 20000"/>
            </a:avLst>
          </a:prstGeom>
          <a:solidFill>
            <a:srgbClr val="1F8A42"/>
          </a:solidFill>
          <a:ln w="12700">
            <a:solidFill>
              <a:srgbClr val="1F8A42"/>
            </a:solidFill>
            <a:prstDash val="solid"/>
          </a:ln>
        </p:spPr>
      </p:sp>
      <p:sp>
        <p:nvSpPr>
          <p:cNvPr id="17" name="Text 15"/>
          <p:cNvSpPr txBox="1"/>
          <p:nvPr/>
        </p:nvSpPr>
        <p:spPr>
          <a:xfrm>
            <a:off x="1097280" y="3566160"/>
            <a:ext cx="4206240" cy="256032"/>
          </a:xfrm>
          <a:prstGeom prst="rect">
            <a:avLst/>
          </a:prstGeom>
          <a:noFill/>
          <a:ln/>
        </p:spPr>
        <p:txBody>
          <a:bodyPr wrap="square" lIns="0" tIns="0" rIns="0" bIns="0" rtlCol="0" anchor="ctr"/>
          <a:lstStyle/>
          <a:p>
            <a:pPr indent="0" marL="0">
              <a:buNone/>
            </a:pPr>
            <a:r>
              <a:rPr lang="en-US" sz="1100" dirty="0">
                <a:solidFill>
                  <a:srgbClr val="16191D"/>
                </a:solidFill>
                <a:latin typeface="Calibri" pitchFamily="34" charset="0"/>
                <a:ea typeface="Calibri" pitchFamily="34" charset="-122"/>
                <a:cs typeface="Calibri" pitchFamily="34" charset="-120"/>
              </a:rPr>
              <a:t>Block deleting the main branch</a:t>
            </a:r>
            <a:endParaRPr lang="en-US" sz="1100" dirty="0"/>
          </a:p>
        </p:txBody>
      </p:sp>
      <p:sp>
        <p:nvSpPr>
          <p:cNvPr id="18" name="Shape 16"/>
          <p:cNvSpPr/>
          <p:nvPr/>
        </p:nvSpPr>
        <p:spPr>
          <a:xfrm>
            <a:off x="5669280" y="1325880"/>
            <a:ext cx="3017520" cy="2743200"/>
          </a:xfrm>
          <a:prstGeom prst="roundRect">
            <a:avLst>
              <a:gd name="adj" fmla="val 2000"/>
            </a:avLst>
          </a:prstGeom>
          <a:solidFill>
            <a:srgbClr val="16191D"/>
          </a:solidFill>
          <a:ln w="12700">
            <a:solidFill>
              <a:srgbClr val="16191D"/>
            </a:solidFill>
            <a:prstDash val="solid"/>
          </a:ln>
        </p:spPr>
      </p:sp>
      <p:sp>
        <p:nvSpPr>
          <p:cNvPr id="19" name="Text 17"/>
          <p:cNvSpPr txBox="1"/>
          <p:nvPr/>
        </p:nvSpPr>
        <p:spPr>
          <a:xfrm>
            <a:off x="5897880" y="1463040"/>
            <a:ext cx="256032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Rules vs walls</a:t>
            </a:r>
            <a:endParaRPr lang="en-US" sz="1350" dirty="0"/>
          </a:p>
        </p:txBody>
      </p:sp>
      <p:sp>
        <p:nvSpPr>
          <p:cNvPr id="20" name="Text 18"/>
          <p:cNvSpPr txBox="1"/>
          <p:nvPr/>
        </p:nvSpPr>
        <p:spPr>
          <a:xfrm>
            <a:off x="5897880" y="1810512"/>
            <a:ext cx="2560320" cy="2103120"/>
          </a:xfrm>
          <a:prstGeom prst="rect">
            <a:avLst/>
          </a:prstGeom>
          <a:noFill/>
          <a:ln/>
        </p:spPr>
        <p:txBody>
          <a:bodyPr wrap="square" lIns="0" tIns="0" rIns="0" bIns="0" rtlCol="0" anchor="ctr"/>
          <a:lstStyle/>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In Session 1 we said "never commit to main". That was a rule — and rules get broken at 6 PM on a Friday.</a:t>
            </a:r>
            <a:endParaRPr lang="en-US" sz="1050" dirty="0"/>
          </a:p>
          <a:p>
            <a:pPr indent="0" marL="0">
              <a:lnSpc>
                <a:spcPct val="135000"/>
              </a:lnSpc>
              <a:buNone/>
            </a:pP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Branch protection turns the rule into a wall. Now Git itself refuses.</a:t>
            </a:r>
            <a:endParaRPr lang="en-US" sz="1050" dirty="0"/>
          </a:p>
          <a:p>
            <a:pPr indent="0" marL="0">
              <a:lnSpc>
                <a:spcPct val="135000"/>
              </a:lnSpc>
              <a:buNone/>
            </a:pP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It applies to everyone. The TL cannot bypass it either.</a:t>
            </a:r>
            <a:endParaRPr lang="en-US" sz="1050" dirty="0"/>
          </a:p>
        </p:txBody>
      </p:sp>
      <p:sp>
        <p:nvSpPr>
          <p:cNvPr id="21" name="Text 19"/>
          <p:cNvSpPr txBox="1"/>
          <p:nvPr/>
        </p:nvSpPr>
        <p:spPr>
          <a:xfrm>
            <a:off x="502920" y="4251960"/>
            <a:ext cx="8183880" cy="274320"/>
          </a:xfrm>
          <a:prstGeom prst="rect">
            <a:avLst/>
          </a:prstGeom>
          <a:noFill/>
          <a:ln/>
        </p:spPr>
        <p:txBody>
          <a:bodyPr wrap="square" lIns="0" tIns="0" rIns="0" bIns="0" rtlCol="0" anchor="ctr"/>
          <a:lstStyle/>
          <a:p>
            <a:pPr indent="0" marL="0">
              <a:buNone/>
            </a:pPr>
            <a:r>
              <a:rPr lang="en-US" sz="1150" b="1" dirty="0">
                <a:solidFill>
                  <a:srgbClr val="7B3FD4"/>
                </a:solidFill>
                <a:latin typeface="Calibri" pitchFamily="34" charset="0"/>
                <a:ea typeface="Calibri" pitchFamily="34" charset="-122"/>
                <a:cs typeface="Calibri" pitchFamily="34" charset="-120"/>
              </a:rPr>
              <a:t>Add this to your capstone repo. Recruiters who look at your GitHub notice it.</a:t>
            </a:r>
            <a:endParaRPr lang="en-US" sz="1150" dirty="0"/>
          </a:p>
        </p:txBody>
      </p:sp>
      <p:sp>
        <p:nvSpPr>
          <p:cNvPr id="22" name="Text 20"/>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C1211F"/>
                </a:solidFill>
                <a:latin typeface="Arial" pitchFamily="34" charset="0"/>
                <a:ea typeface="Arial" pitchFamily="34" charset="-122"/>
                <a:cs typeface="Arial" pitchFamily="34" charset="-120"/>
              </a:rPr>
              <a:t>THINGS THAT REALLY HAPPEN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16191D"/>
                </a:solidFill>
                <a:latin typeface="Arial" pitchFamily="34" charset="0"/>
                <a:ea typeface="Arial" pitchFamily="34" charset="-122"/>
                <a:cs typeface="Arial" pitchFamily="34" charset="-120"/>
              </a:rPr>
              <a:t>Five ways teams get hurt — and the fix</a:t>
            </a:r>
            <a:endParaRPr lang="en-US" sz="2900" dirty="0"/>
          </a:p>
        </p:txBody>
      </p:sp>
      <p:sp>
        <p:nvSpPr>
          <p:cNvPr id="4" name="Shape 2"/>
          <p:cNvSpPr/>
          <p:nvPr/>
        </p:nvSpPr>
        <p:spPr>
          <a:xfrm>
            <a:off x="502920" y="1325880"/>
            <a:ext cx="8183880" cy="566928"/>
          </a:xfrm>
          <a:prstGeom prst="roundRect">
            <a:avLst>
              <a:gd name="adj" fmla="val 9677"/>
            </a:avLst>
          </a:prstGeom>
          <a:solidFill>
            <a:srgbClr val="F3F5F7"/>
          </a:solidFill>
          <a:ln w="12700">
            <a:solidFill>
              <a:srgbClr val="D5DCE3"/>
            </a:solidFill>
            <a:prstDash val="solid"/>
          </a:ln>
        </p:spPr>
      </p:sp>
      <p:sp>
        <p:nvSpPr>
          <p:cNvPr id="5" name="Text 3"/>
          <p:cNvSpPr txBox="1"/>
          <p:nvPr/>
        </p:nvSpPr>
        <p:spPr>
          <a:xfrm>
            <a:off x="731520" y="1325880"/>
            <a:ext cx="3840480" cy="566928"/>
          </a:xfrm>
          <a:prstGeom prst="rect">
            <a:avLst/>
          </a:prstGeom>
          <a:noFill/>
          <a:ln/>
        </p:spPr>
        <p:txBody>
          <a:bodyPr wrap="square" lIns="0" tIns="0" rIns="0" bIns="0" rtlCol="0" anchor="ctr"/>
          <a:lstStyle/>
          <a:p>
            <a:pPr indent="0" marL="0">
              <a:buNone/>
            </a:pPr>
            <a:r>
              <a:rPr lang="en-US" sz="1100" b="1" dirty="0">
                <a:solidFill>
                  <a:srgbClr val="C1211F"/>
                </a:solidFill>
                <a:latin typeface="Calibri" pitchFamily="34" charset="0"/>
                <a:ea typeface="Calibri" pitchFamily="34" charset="-122"/>
                <a:cs typeface="Calibri" pitchFamily="34" charset="-120"/>
              </a:rPr>
              <a:t>Pushed .env with the live database password</a:t>
            </a:r>
            <a:endParaRPr lang="en-US" sz="1100" dirty="0"/>
          </a:p>
        </p:txBody>
      </p:sp>
      <p:sp>
        <p:nvSpPr>
          <p:cNvPr id="6" name="Text 4"/>
          <p:cNvSpPr txBox="1"/>
          <p:nvPr/>
        </p:nvSpPr>
        <p:spPr>
          <a:xfrm>
            <a:off x="4709160" y="1325880"/>
            <a:ext cx="3794760" cy="56692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.gitignore BEFORE commit 1. If it leaks: rotate the password immediately.</a:t>
            </a:r>
            <a:endParaRPr lang="en-US" sz="1050" dirty="0"/>
          </a:p>
        </p:txBody>
      </p:sp>
      <p:sp>
        <p:nvSpPr>
          <p:cNvPr id="7" name="Shape 5"/>
          <p:cNvSpPr/>
          <p:nvPr/>
        </p:nvSpPr>
        <p:spPr>
          <a:xfrm>
            <a:off x="502920" y="1984248"/>
            <a:ext cx="8183880" cy="566928"/>
          </a:xfrm>
          <a:prstGeom prst="roundRect">
            <a:avLst>
              <a:gd name="adj" fmla="val 9677"/>
            </a:avLst>
          </a:prstGeom>
          <a:solidFill>
            <a:srgbClr val="FFFFFF"/>
          </a:solidFill>
          <a:ln w="12700">
            <a:solidFill>
              <a:srgbClr val="D5DCE3"/>
            </a:solidFill>
            <a:prstDash val="solid"/>
          </a:ln>
        </p:spPr>
      </p:sp>
      <p:sp>
        <p:nvSpPr>
          <p:cNvPr id="8" name="Text 6"/>
          <p:cNvSpPr txBox="1"/>
          <p:nvPr/>
        </p:nvSpPr>
        <p:spPr>
          <a:xfrm>
            <a:off x="731520" y="1984248"/>
            <a:ext cx="3840480" cy="566928"/>
          </a:xfrm>
          <a:prstGeom prst="rect">
            <a:avLst/>
          </a:prstGeom>
          <a:noFill/>
          <a:ln/>
        </p:spPr>
        <p:txBody>
          <a:bodyPr wrap="square" lIns="0" tIns="0" rIns="0" bIns="0" rtlCol="0" anchor="ctr"/>
          <a:lstStyle/>
          <a:p>
            <a:pPr indent="0" marL="0">
              <a:buNone/>
            </a:pPr>
            <a:r>
              <a:rPr lang="en-US" sz="1100" b="1" dirty="0">
                <a:solidFill>
                  <a:srgbClr val="C1211F"/>
                </a:solidFill>
                <a:latin typeface="Calibri" pitchFamily="34" charset="0"/>
                <a:ea typeface="Calibri" pitchFamily="34" charset="-122"/>
                <a:cs typeface="Calibri" pitchFamily="34" charset="-120"/>
              </a:rPr>
              <a:t>Committed .venv — 12,000 files in one PR</a:t>
            </a:r>
            <a:endParaRPr lang="en-US" sz="1100" dirty="0"/>
          </a:p>
        </p:txBody>
      </p:sp>
      <p:sp>
        <p:nvSpPr>
          <p:cNvPr id="9" name="Text 7"/>
          <p:cNvSpPr txBox="1"/>
          <p:nvPr/>
        </p:nvSpPr>
        <p:spPr>
          <a:xfrm>
            <a:off x="4709160" y="1984248"/>
            <a:ext cx="3794760" cy="56692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.gitignore it. Nobody can review 12,000 files, and the repo gets huge.</a:t>
            </a:r>
            <a:endParaRPr lang="en-US" sz="1050" dirty="0"/>
          </a:p>
        </p:txBody>
      </p:sp>
      <p:sp>
        <p:nvSpPr>
          <p:cNvPr id="10" name="Shape 8"/>
          <p:cNvSpPr/>
          <p:nvPr/>
        </p:nvSpPr>
        <p:spPr>
          <a:xfrm>
            <a:off x="502920" y="2642616"/>
            <a:ext cx="8183880" cy="566928"/>
          </a:xfrm>
          <a:prstGeom prst="roundRect">
            <a:avLst>
              <a:gd name="adj" fmla="val 9677"/>
            </a:avLst>
          </a:prstGeom>
          <a:solidFill>
            <a:srgbClr val="F3F5F7"/>
          </a:solidFill>
          <a:ln w="12700">
            <a:solidFill>
              <a:srgbClr val="D5DCE3"/>
            </a:solidFill>
            <a:prstDash val="solid"/>
          </a:ln>
        </p:spPr>
      </p:sp>
      <p:sp>
        <p:nvSpPr>
          <p:cNvPr id="11" name="Text 9"/>
          <p:cNvSpPr txBox="1"/>
          <p:nvPr/>
        </p:nvSpPr>
        <p:spPr>
          <a:xfrm>
            <a:off x="731520" y="2642616"/>
            <a:ext cx="3840480" cy="566928"/>
          </a:xfrm>
          <a:prstGeom prst="rect">
            <a:avLst/>
          </a:prstGeom>
          <a:noFill/>
          <a:ln/>
        </p:spPr>
        <p:txBody>
          <a:bodyPr wrap="square" lIns="0" tIns="0" rIns="0" bIns="0" rtlCol="0" anchor="ctr"/>
          <a:lstStyle/>
          <a:p>
            <a:pPr indent="0" marL="0">
              <a:buNone/>
            </a:pPr>
            <a:r>
              <a:rPr lang="en-US" sz="1100" b="1" dirty="0">
                <a:solidFill>
                  <a:srgbClr val="C1211F"/>
                </a:solidFill>
                <a:latin typeface="Calibri" pitchFamily="34" charset="0"/>
                <a:ea typeface="Calibri" pitchFamily="34" charset="-122"/>
                <a:cs typeface="Calibri" pitchFamily="34" charset="-120"/>
              </a:rPr>
              <a:t>Force-pushed main and erased a day of team work</a:t>
            </a:r>
            <a:endParaRPr lang="en-US" sz="1100" dirty="0"/>
          </a:p>
        </p:txBody>
      </p:sp>
      <p:sp>
        <p:nvSpPr>
          <p:cNvPr id="12" name="Text 10"/>
          <p:cNvSpPr txBox="1"/>
          <p:nvPr/>
        </p:nvSpPr>
        <p:spPr>
          <a:xfrm>
            <a:off x="4709160" y="2642616"/>
            <a:ext cx="3794760" cy="56692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Never --force on a shared branch. Branch protection blocks it entirely.</a:t>
            </a:r>
            <a:endParaRPr lang="en-US" sz="1050" dirty="0"/>
          </a:p>
        </p:txBody>
      </p:sp>
      <p:sp>
        <p:nvSpPr>
          <p:cNvPr id="13" name="Shape 11"/>
          <p:cNvSpPr/>
          <p:nvPr/>
        </p:nvSpPr>
        <p:spPr>
          <a:xfrm>
            <a:off x="502920" y="3300984"/>
            <a:ext cx="8183880" cy="566928"/>
          </a:xfrm>
          <a:prstGeom prst="roundRect">
            <a:avLst>
              <a:gd name="adj" fmla="val 9677"/>
            </a:avLst>
          </a:prstGeom>
          <a:solidFill>
            <a:srgbClr val="FFFFFF"/>
          </a:solidFill>
          <a:ln w="12700">
            <a:solidFill>
              <a:srgbClr val="D5DCE3"/>
            </a:solidFill>
            <a:prstDash val="solid"/>
          </a:ln>
        </p:spPr>
      </p:sp>
      <p:sp>
        <p:nvSpPr>
          <p:cNvPr id="14" name="Text 12"/>
          <p:cNvSpPr txBox="1"/>
          <p:nvPr/>
        </p:nvSpPr>
        <p:spPr>
          <a:xfrm>
            <a:off x="731520" y="3300984"/>
            <a:ext cx="3840480" cy="566928"/>
          </a:xfrm>
          <a:prstGeom prst="rect">
            <a:avLst/>
          </a:prstGeom>
          <a:noFill/>
          <a:ln/>
        </p:spPr>
        <p:txBody>
          <a:bodyPr wrap="square" lIns="0" tIns="0" rIns="0" bIns="0" rtlCol="0" anchor="ctr"/>
          <a:lstStyle/>
          <a:p>
            <a:pPr indent="0" marL="0">
              <a:buNone/>
            </a:pPr>
            <a:r>
              <a:rPr lang="en-US" sz="1100" b="1" dirty="0">
                <a:solidFill>
                  <a:srgbClr val="C1211F"/>
                </a:solidFill>
                <a:latin typeface="Calibri" pitchFamily="34" charset="0"/>
                <a:ea typeface="Calibri" pitchFamily="34" charset="-122"/>
                <a:cs typeface="Calibri" pitchFamily="34" charset="-120"/>
              </a:rPr>
              <a:t>A 400-file PR that sat unreviewed for a week</a:t>
            </a:r>
            <a:endParaRPr lang="en-US" sz="1100" dirty="0"/>
          </a:p>
        </p:txBody>
      </p:sp>
      <p:sp>
        <p:nvSpPr>
          <p:cNvPr id="15" name="Text 13"/>
          <p:cNvSpPr txBox="1"/>
          <p:nvPr/>
        </p:nvSpPr>
        <p:spPr>
          <a:xfrm>
            <a:off x="4709160" y="3300984"/>
            <a:ext cx="3794760" cy="56692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One task, one branch, one small PR. Small PRs get merged the same day.</a:t>
            </a:r>
            <a:endParaRPr lang="en-US" sz="1050" dirty="0"/>
          </a:p>
        </p:txBody>
      </p:sp>
      <p:sp>
        <p:nvSpPr>
          <p:cNvPr id="16" name="Shape 14"/>
          <p:cNvSpPr/>
          <p:nvPr/>
        </p:nvSpPr>
        <p:spPr>
          <a:xfrm>
            <a:off x="502920" y="3959352"/>
            <a:ext cx="8183880" cy="566928"/>
          </a:xfrm>
          <a:prstGeom prst="roundRect">
            <a:avLst>
              <a:gd name="adj" fmla="val 9677"/>
            </a:avLst>
          </a:prstGeom>
          <a:solidFill>
            <a:srgbClr val="F3F5F7"/>
          </a:solidFill>
          <a:ln w="12700">
            <a:solidFill>
              <a:srgbClr val="D5DCE3"/>
            </a:solidFill>
            <a:prstDash val="solid"/>
          </a:ln>
        </p:spPr>
      </p:sp>
      <p:sp>
        <p:nvSpPr>
          <p:cNvPr id="17" name="Text 15"/>
          <p:cNvSpPr txBox="1"/>
          <p:nvPr/>
        </p:nvSpPr>
        <p:spPr>
          <a:xfrm>
            <a:off x="731520" y="3959352"/>
            <a:ext cx="3840480" cy="566928"/>
          </a:xfrm>
          <a:prstGeom prst="rect">
            <a:avLst/>
          </a:prstGeom>
          <a:noFill/>
          <a:ln/>
        </p:spPr>
        <p:txBody>
          <a:bodyPr wrap="square" lIns="0" tIns="0" rIns="0" bIns="0" rtlCol="0" anchor="ctr"/>
          <a:lstStyle/>
          <a:p>
            <a:pPr indent="0" marL="0">
              <a:buNone/>
            </a:pPr>
            <a:r>
              <a:rPr lang="en-US" sz="1100" b="1" dirty="0">
                <a:solidFill>
                  <a:srgbClr val="C1211F"/>
                </a:solidFill>
                <a:latin typeface="Calibri" pitchFamily="34" charset="0"/>
                <a:ea typeface="Calibri" pitchFamily="34" charset="-122"/>
                <a:cs typeface="Calibri" pitchFamily="34" charset="-120"/>
              </a:rPr>
              <a:t>Forty commits all saying "changes"</a:t>
            </a:r>
            <a:endParaRPr lang="en-US" sz="1100" dirty="0"/>
          </a:p>
        </p:txBody>
      </p:sp>
      <p:sp>
        <p:nvSpPr>
          <p:cNvPr id="18" name="Text 16"/>
          <p:cNvSpPr txBox="1"/>
          <p:nvPr/>
        </p:nvSpPr>
        <p:spPr>
          <a:xfrm>
            <a:off x="4709160" y="3959352"/>
            <a:ext cx="3794760" cy="566928"/>
          </a:xfrm>
          <a:prstGeom prst="rect">
            <a:avLst/>
          </a:prstGeom>
          <a:noFill/>
          <a:ln/>
        </p:spPr>
        <p:txBody>
          <a:bodyPr wrap="square" lIns="0" tIns="0" rIns="0" bIns="0" rtlCol="0" anchor="ctr"/>
          <a:lstStyle/>
          <a:p>
            <a:pPr indent="0" marL="0">
              <a:buNone/>
            </a:pPr>
            <a:r>
              <a:rPr lang="en-US" sz="1050" dirty="0">
                <a:solidFill>
                  <a:srgbClr val="5A6572"/>
                </a:solidFill>
                <a:latin typeface="Calibri" pitchFamily="34" charset="0"/>
                <a:ea typeface="Calibri" pitchFamily="34" charset="-122"/>
                <a:cs typeface="Calibri" pitchFamily="34" charset="-120"/>
              </a:rPr>
              <a:t>One idea per commit, with a message that finishes "this commit will ___".</a:t>
            </a:r>
            <a:endParaRPr lang="en-US" sz="1050" dirty="0"/>
          </a:p>
        </p:txBody>
      </p:sp>
      <p:sp>
        <p:nvSpPr>
          <p:cNvPr id="19" name="Text 17"/>
          <p:cNvSpPr txBox="1"/>
          <p:nvPr/>
        </p:nvSpPr>
        <p:spPr>
          <a:xfrm>
            <a:off x="502920" y="4645152"/>
            <a:ext cx="8183880" cy="274320"/>
          </a:xfrm>
          <a:prstGeom prst="rect">
            <a:avLst/>
          </a:prstGeom>
          <a:noFill/>
          <a:ln/>
        </p:spPr>
        <p:txBody>
          <a:bodyPr wrap="square" lIns="0" tIns="0" rIns="0" bIns="0" rtlCol="0" anchor="ctr"/>
          <a:lstStyle/>
          <a:p>
            <a:pPr indent="0" marL="0">
              <a:buNone/>
            </a:pPr>
            <a:r>
              <a:rPr lang="en-US" sz="1150" i="1" dirty="0">
                <a:solidFill>
                  <a:srgbClr val="5A6572"/>
                </a:solidFill>
                <a:latin typeface="Calibri" pitchFamily="34" charset="0"/>
                <a:ea typeface="Calibri" pitchFamily="34" charset="-122"/>
                <a:cs typeface="Calibri" pitchFamily="34" charset="-120"/>
              </a:rPr>
              <a:t>Every one of these is prevented by habits you already learned in these two sessions.</a:t>
            </a:r>
            <a:endParaRPr lang="en-US" sz="1150" dirty="0"/>
          </a:p>
        </p:txBody>
      </p:sp>
      <p:sp>
        <p:nvSpPr>
          <p:cNvPr id="20" name="Text 18"/>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C1211F"/>
                </a:solidFill>
                <a:latin typeface="Arial" pitchFamily="34" charset="0"/>
                <a:ea typeface="Arial" pitchFamily="34" charset="-122"/>
                <a:cs typeface="Arial" pitchFamily="34" charset="-120"/>
              </a:rPr>
              <a:t>THE ONE MISTAKE WITH REAL-WORLD CONSEQUENCES</a:t>
            </a:r>
            <a:endParaRPr lang="en-US" sz="1000" dirty="0"/>
          </a:p>
        </p:txBody>
      </p:sp>
      <p:sp>
        <p:nvSpPr>
          <p:cNvPr id="3" name="Text 1"/>
          <p:cNvSpPr txBox="1"/>
          <p:nvPr/>
        </p:nvSpPr>
        <p:spPr>
          <a:xfrm>
            <a:off x="640080" y="1188720"/>
            <a:ext cx="7863840" cy="1005840"/>
          </a:xfrm>
          <a:prstGeom prst="rect">
            <a:avLst/>
          </a:prstGeom>
          <a:noFill/>
          <a:ln/>
        </p:spPr>
        <p:txBody>
          <a:bodyPr wrap="square" lIns="0" tIns="0" rIns="0" bIns="0" rtlCol="0" anchor="ctr"/>
          <a:lstStyle/>
          <a:p>
            <a:pPr indent="0" marL="0">
              <a:lnSpc>
                <a:spcPct val="125000"/>
              </a:lnSpc>
              <a:buNone/>
            </a:pPr>
            <a:r>
              <a:rPr lang="en-US" sz="2600" b="1" dirty="0">
                <a:solidFill>
                  <a:srgbClr val="FFFFFF"/>
                </a:solidFill>
                <a:latin typeface="Arial" pitchFamily="34" charset="0"/>
                <a:ea typeface="Arial" pitchFamily="34" charset="-122"/>
                <a:cs typeface="Arial" pitchFamily="34" charset="-120"/>
              </a:rPr>
              <a:t>Git never forgets.</a:t>
            </a:r>
            <a:endParaRPr lang="en-US" sz="2600" dirty="0"/>
          </a:p>
          <a:p>
            <a:pPr indent="0" marL="0">
              <a:lnSpc>
                <a:spcPct val="125000"/>
              </a:lnSpc>
              <a:buNone/>
            </a:pPr>
            <a:r>
              <a:rPr lang="en-US" sz="2600" b="1" dirty="0">
                <a:solidFill>
                  <a:srgbClr val="FFFFFF"/>
                </a:solidFill>
                <a:latin typeface="Arial" pitchFamily="34" charset="0"/>
                <a:ea typeface="Arial" pitchFamily="34" charset="-122"/>
                <a:cs typeface="Arial" pitchFamily="34" charset="-120"/>
              </a:rPr>
              <a:t>Deleting a secret does not unpublish it.</a:t>
            </a:r>
            <a:endParaRPr lang="en-US" sz="2600" dirty="0"/>
          </a:p>
        </p:txBody>
      </p:sp>
      <p:sp>
        <p:nvSpPr>
          <p:cNvPr id="4" name="Shape 2"/>
          <p:cNvSpPr/>
          <p:nvPr/>
        </p:nvSpPr>
        <p:spPr>
          <a:xfrm>
            <a:off x="640080" y="2377440"/>
            <a:ext cx="3794760" cy="1828800"/>
          </a:xfrm>
          <a:prstGeom prst="roundRect">
            <a:avLst>
              <a:gd name="adj" fmla="val 3000"/>
            </a:avLst>
          </a:prstGeom>
          <a:solidFill>
            <a:srgbClr val="2E211F"/>
          </a:solidFill>
          <a:ln w="12700">
            <a:solidFill>
              <a:srgbClr val="5A3A34"/>
            </a:solidFill>
            <a:prstDash val="solid"/>
          </a:ln>
        </p:spPr>
      </p:sp>
      <p:sp>
        <p:nvSpPr>
          <p:cNvPr id="5" name="Text 3"/>
          <p:cNvSpPr txBox="1"/>
          <p:nvPr/>
        </p:nvSpPr>
        <p:spPr>
          <a:xfrm>
            <a:off x="868680" y="2496312"/>
            <a:ext cx="3291840" cy="274320"/>
          </a:xfrm>
          <a:prstGeom prst="rect">
            <a:avLst/>
          </a:prstGeom>
          <a:noFill/>
          <a:ln/>
        </p:spPr>
        <p:txBody>
          <a:bodyPr wrap="square" lIns="0" tIns="0" rIns="0" bIns="0" rtlCol="0" anchor="ctr"/>
          <a:lstStyle/>
          <a:p>
            <a:pPr indent="0" marL="0">
              <a:buNone/>
            </a:pPr>
            <a:r>
              <a:rPr lang="en-US" sz="1250" b="1" dirty="0">
                <a:solidFill>
                  <a:srgbClr val="FF8A7A"/>
                </a:solidFill>
                <a:latin typeface="Arial" pitchFamily="34" charset="0"/>
                <a:ea typeface="Arial" pitchFamily="34" charset="-122"/>
                <a:cs typeface="Arial" pitchFamily="34" charset="-120"/>
              </a:rPr>
              <a:t>If you commit a password</a:t>
            </a:r>
            <a:endParaRPr lang="en-US" sz="1250" dirty="0"/>
          </a:p>
        </p:txBody>
      </p:sp>
      <p:sp>
        <p:nvSpPr>
          <p:cNvPr id="6" name="Text 4"/>
          <p:cNvSpPr txBox="1"/>
          <p:nvPr/>
        </p:nvSpPr>
        <p:spPr>
          <a:xfrm>
            <a:off x="868680" y="2798064"/>
            <a:ext cx="3337560" cy="1280160"/>
          </a:xfrm>
          <a:prstGeom prst="rect">
            <a:avLst/>
          </a:prstGeom>
          <a:noFill/>
          <a:ln/>
        </p:spPr>
        <p:txBody>
          <a:bodyPr wrap="square" lIns="0" tIns="0" rIns="0" bIns="0" rtlCol="0" anchor="ctr"/>
          <a:lstStyle/>
          <a:p>
            <a:pPr indent="0" marL="0">
              <a:lnSpc>
                <a:spcPct val="130000"/>
              </a:lnSpc>
              <a:buNone/>
            </a:pPr>
            <a:r>
              <a:rPr lang="en-US" sz="1050" dirty="0">
                <a:solidFill>
                  <a:srgbClr val="C9D1D9"/>
                </a:solidFill>
                <a:latin typeface="Calibri" pitchFamily="34" charset="0"/>
                <a:ea typeface="Calibri" pitchFamily="34" charset="-122"/>
                <a:cs typeface="Calibri" pitchFamily="34" charset="-120"/>
              </a:rPr>
              <a:t>Deleting the file in the next commit does NOT help. The old commit still contains it, and anyone who cloned the repo has it forever.</a:t>
            </a:r>
            <a:endParaRPr lang="en-US" sz="1050" dirty="0"/>
          </a:p>
          <a:p>
            <a:pPr indent="0" marL="0">
              <a:lnSpc>
                <a:spcPct val="130000"/>
              </a:lnSpc>
              <a:buNone/>
            </a:pPr>
            <a:endParaRPr lang="en-US" sz="1050" dirty="0"/>
          </a:p>
          <a:p>
            <a:pPr indent="0" marL="0">
              <a:lnSpc>
                <a:spcPct val="130000"/>
              </a:lnSpc>
              <a:buNone/>
            </a:pPr>
            <a:r>
              <a:rPr lang="en-US" sz="1050" dirty="0">
                <a:solidFill>
                  <a:srgbClr val="C9D1D9"/>
                </a:solidFill>
                <a:latin typeface="Calibri" pitchFamily="34" charset="0"/>
                <a:ea typeface="Calibri" pitchFamily="34" charset="-122"/>
                <a:cs typeface="Calibri" pitchFamily="34" charset="-120"/>
              </a:rPr>
              <a:t>Assume it is public the moment you push.</a:t>
            </a:r>
            <a:endParaRPr lang="en-US" sz="1050" dirty="0"/>
          </a:p>
        </p:txBody>
      </p:sp>
      <p:sp>
        <p:nvSpPr>
          <p:cNvPr id="7" name="Shape 5"/>
          <p:cNvSpPr/>
          <p:nvPr/>
        </p:nvSpPr>
        <p:spPr>
          <a:xfrm>
            <a:off x="4709160" y="2377440"/>
            <a:ext cx="3977640" cy="1828800"/>
          </a:xfrm>
          <a:prstGeom prst="roundRect">
            <a:avLst>
              <a:gd name="adj" fmla="val 3000"/>
            </a:avLst>
          </a:prstGeom>
          <a:solidFill>
            <a:srgbClr val="1B2A1F"/>
          </a:solidFill>
          <a:ln w="12700">
            <a:solidFill>
              <a:srgbClr val="2F5137"/>
            </a:solidFill>
            <a:prstDash val="solid"/>
          </a:ln>
        </p:spPr>
      </p:sp>
      <p:sp>
        <p:nvSpPr>
          <p:cNvPr id="8" name="Text 6"/>
          <p:cNvSpPr txBox="1"/>
          <p:nvPr/>
        </p:nvSpPr>
        <p:spPr>
          <a:xfrm>
            <a:off x="4937760" y="2496312"/>
            <a:ext cx="3474720" cy="274320"/>
          </a:xfrm>
          <a:prstGeom prst="rect">
            <a:avLst/>
          </a:prstGeom>
          <a:noFill/>
          <a:ln/>
        </p:spPr>
        <p:txBody>
          <a:bodyPr wrap="square" lIns="0" tIns="0" rIns="0" bIns="0" rtlCol="0" anchor="ctr"/>
          <a:lstStyle/>
          <a:p>
            <a:pPr indent="0" marL="0">
              <a:buNone/>
            </a:pPr>
            <a:r>
              <a:rPr lang="en-US" sz="1250" b="1" dirty="0">
                <a:solidFill>
                  <a:srgbClr val="8FE3A3"/>
                </a:solidFill>
                <a:latin typeface="Arial" pitchFamily="34" charset="0"/>
                <a:ea typeface="Arial" pitchFamily="34" charset="-122"/>
                <a:cs typeface="Arial" pitchFamily="34" charset="-120"/>
              </a:rPr>
              <a:t>What to do instead</a:t>
            </a:r>
            <a:endParaRPr lang="en-US" sz="1250" dirty="0"/>
          </a:p>
        </p:txBody>
      </p:sp>
      <p:sp>
        <p:nvSpPr>
          <p:cNvPr id="9" name="Text 7"/>
          <p:cNvSpPr txBox="1"/>
          <p:nvPr/>
        </p:nvSpPr>
        <p:spPr>
          <a:xfrm>
            <a:off x="4937760" y="2798064"/>
            <a:ext cx="3520440" cy="1280160"/>
          </a:xfrm>
          <a:prstGeom prst="rect">
            <a:avLst/>
          </a:prstGeom>
          <a:noFill/>
          <a:ln/>
        </p:spPr>
        <p:txBody>
          <a:bodyPr wrap="square" lIns="0" tIns="0" rIns="0" bIns="0" rtlCol="0" anchor="ctr"/>
          <a:lstStyle/>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.env in .gitignore before commit 1</a:t>
            </a: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Commit .env.example with blank values</a:t>
            </a: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Read real values with os.environ</a:t>
            </a:r>
            <a:endParaRPr lang="en-US" sz="1050" dirty="0"/>
          </a:p>
          <a:p>
            <a:pPr indent="0" marL="0">
              <a:lnSpc>
                <a:spcPct val="135000"/>
              </a:lnSpc>
              <a:buNone/>
            </a:pPr>
            <a:endParaRPr lang="en-US" sz="1050" dirty="0"/>
          </a:p>
          <a:p>
            <a:pPr indent="0" marL="0">
              <a:lnSpc>
                <a:spcPct val="135000"/>
              </a:lnSpc>
              <a:buNone/>
            </a:pPr>
            <a:r>
              <a:rPr lang="en-US" sz="1050" dirty="0">
                <a:solidFill>
                  <a:srgbClr val="C9D1D9"/>
                </a:solidFill>
                <a:latin typeface="Calibri" pitchFamily="34" charset="0"/>
                <a:ea typeface="Calibri" pitchFamily="34" charset="-122"/>
                <a:cs typeface="Calibri" pitchFamily="34" charset="-120"/>
              </a:rPr>
              <a:t>If it leaks: change the password first, clean the history second.</a:t>
            </a:r>
            <a:endParaRPr lang="en-US" sz="1050" dirty="0"/>
          </a:p>
        </p:txBody>
      </p:sp>
      <p:sp>
        <p:nvSpPr>
          <p:cNvPr id="10" name="Text 8"/>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PHOTOGRAPH THIS SLIDE</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900" b="1" dirty="0">
                <a:solidFill>
                  <a:srgbClr val="FFFFFF"/>
                </a:solidFill>
                <a:latin typeface="Arial" pitchFamily="34" charset="0"/>
                <a:ea typeface="Arial" pitchFamily="34" charset="-122"/>
                <a:cs typeface="Arial" pitchFamily="34" charset="-120"/>
              </a:rPr>
              <a:t>Your day as a developer, in nine steps</a:t>
            </a:r>
            <a:endParaRPr lang="en-US" sz="2900" dirty="0"/>
          </a:p>
        </p:txBody>
      </p:sp>
      <p:sp>
        <p:nvSpPr>
          <p:cNvPr id="4" name="Shape 2"/>
          <p:cNvSpPr/>
          <p:nvPr/>
        </p:nvSpPr>
        <p:spPr>
          <a:xfrm>
            <a:off x="502920" y="1371600"/>
            <a:ext cx="2606040" cy="868680"/>
          </a:xfrm>
          <a:prstGeom prst="roundRect">
            <a:avLst>
              <a:gd name="adj" fmla="val 6316"/>
            </a:avLst>
          </a:prstGeom>
          <a:solidFill>
            <a:srgbClr val="20252B"/>
          </a:solidFill>
          <a:ln w="12700">
            <a:solidFill>
              <a:srgbClr val="3A424C"/>
            </a:solidFill>
            <a:prstDash val="solid"/>
          </a:ln>
        </p:spPr>
      </p:sp>
      <p:sp>
        <p:nvSpPr>
          <p:cNvPr id="5" name="Text 3"/>
          <p:cNvSpPr txBox="1"/>
          <p:nvPr/>
        </p:nvSpPr>
        <p:spPr>
          <a:xfrm>
            <a:off x="667512" y="146304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1</a:t>
            </a:r>
            <a:endParaRPr lang="en-US" sz="1100" dirty="0"/>
          </a:p>
        </p:txBody>
      </p:sp>
      <p:sp>
        <p:nvSpPr>
          <p:cNvPr id="6" name="Text 4"/>
          <p:cNvSpPr txBox="1"/>
          <p:nvPr/>
        </p:nvSpPr>
        <p:spPr>
          <a:xfrm>
            <a:off x="667512" y="170078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git switch main</a:t>
            </a:r>
            <a:endParaRPr lang="en-US" sz="950" dirty="0"/>
          </a:p>
        </p:txBody>
      </p:sp>
      <p:sp>
        <p:nvSpPr>
          <p:cNvPr id="7" name="Text 5"/>
          <p:cNvSpPr txBox="1"/>
          <p:nvPr/>
        </p:nvSpPr>
        <p:spPr>
          <a:xfrm>
            <a:off x="667512" y="195681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start clean</a:t>
            </a:r>
            <a:endParaRPr lang="en-US" sz="950" dirty="0"/>
          </a:p>
        </p:txBody>
      </p:sp>
      <p:sp>
        <p:nvSpPr>
          <p:cNvPr id="8" name="Shape 6"/>
          <p:cNvSpPr/>
          <p:nvPr/>
        </p:nvSpPr>
        <p:spPr>
          <a:xfrm>
            <a:off x="3291840" y="1371600"/>
            <a:ext cx="2606040" cy="868680"/>
          </a:xfrm>
          <a:prstGeom prst="roundRect">
            <a:avLst>
              <a:gd name="adj" fmla="val 6316"/>
            </a:avLst>
          </a:prstGeom>
          <a:solidFill>
            <a:srgbClr val="20252B"/>
          </a:solidFill>
          <a:ln w="12700">
            <a:solidFill>
              <a:srgbClr val="3A424C"/>
            </a:solidFill>
            <a:prstDash val="solid"/>
          </a:ln>
        </p:spPr>
      </p:sp>
      <p:sp>
        <p:nvSpPr>
          <p:cNvPr id="9" name="Text 7"/>
          <p:cNvSpPr txBox="1"/>
          <p:nvPr/>
        </p:nvSpPr>
        <p:spPr>
          <a:xfrm>
            <a:off x="3456432" y="146304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2</a:t>
            </a:r>
            <a:endParaRPr lang="en-US" sz="1100" dirty="0"/>
          </a:p>
        </p:txBody>
      </p:sp>
      <p:sp>
        <p:nvSpPr>
          <p:cNvPr id="10" name="Text 8"/>
          <p:cNvSpPr txBox="1"/>
          <p:nvPr/>
        </p:nvSpPr>
        <p:spPr>
          <a:xfrm>
            <a:off x="3456432" y="170078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git pull</a:t>
            </a:r>
            <a:endParaRPr lang="en-US" sz="950" dirty="0"/>
          </a:p>
        </p:txBody>
      </p:sp>
      <p:sp>
        <p:nvSpPr>
          <p:cNvPr id="11" name="Text 9"/>
          <p:cNvSpPr txBox="1"/>
          <p:nvPr/>
        </p:nvSpPr>
        <p:spPr>
          <a:xfrm>
            <a:off x="3456432" y="195681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get today's code</a:t>
            </a:r>
            <a:endParaRPr lang="en-US" sz="950" dirty="0"/>
          </a:p>
        </p:txBody>
      </p:sp>
      <p:sp>
        <p:nvSpPr>
          <p:cNvPr id="12" name="Shape 10"/>
          <p:cNvSpPr/>
          <p:nvPr/>
        </p:nvSpPr>
        <p:spPr>
          <a:xfrm>
            <a:off x="6080760" y="1371600"/>
            <a:ext cx="2606040" cy="868680"/>
          </a:xfrm>
          <a:prstGeom prst="roundRect">
            <a:avLst>
              <a:gd name="adj" fmla="val 6316"/>
            </a:avLst>
          </a:prstGeom>
          <a:solidFill>
            <a:srgbClr val="20252B"/>
          </a:solidFill>
          <a:ln w="12700">
            <a:solidFill>
              <a:srgbClr val="3A424C"/>
            </a:solidFill>
            <a:prstDash val="solid"/>
          </a:ln>
        </p:spPr>
      </p:sp>
      <p:sp>
        <p:nvSpPr>
          <p:cNvPr id="13" name="Text 11"/>
          <p:cNvSpPr txBox="1"/>
          <p:nvPr/>
        </p:nvSpPr>
        <p:spPr>
          <a:xfrm>
            <a:off x="6245352" y="146304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3</a:t>
            </a:r>
            <a:endParaRPr lang="en-US" sz="1100" dirty="0"/>
          </a:p>
        </p:txBody>
      </p:sp>
      <p:sp>
        <p:nvSpPr>
          <p:cNvPr id="14" name="Text 12"/>
          <p:cNvSpPr txBox="1"/>
          <p:nvPr/>
        </p:nvSpPr>
        <p:spPr>
          <a:xfrm>
            <a:off x="6245352" y="170078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git switch -c feature/x</a:t>
            </a:r>
            <a:endParaRPr lang="en-US" sz="950" dirty="0"/>
          </a:p>
        </p:txBody>
      </p:sp>
      <p:sp>
        <p:nvSpPr>
          <p:cNvPr id="15" name="Text 13"/>
          <p:cNvSpPr txBox="1"/>
          <p:nvPr/>
        </p:nvSpPr>
        <p:spPr>
          <a:xfrm>
            <a:off x="6245352" y="195681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your own line</a:t>
            </a:r>
            <a:endParaRPr lang="en-US" sz="950" dirty="0"/>
          </a:p>
        </p:txBody>
      </p:sp>
      <p:sp>
        <p:nvSpPr>
          <p:cNvPr id="16" name="Shape 14"/>
          <p:cNvSpPr/>
          <p:nvPr/>
        </p:nvSpPr>
        <p:spPr>
          <a:xfrm>
            <a:off x="502920" y="2377440"/>
            <a:ext cx="2606040" cy="868680"/>
          </a:xfrm>
          <a:prstGeom prst="roundRect">
            <a:avLst>
              <a:gd name="adj" fmla="val 6316"/>
            </a:avLst>
          </a:prstGeom>
          <a:solidFill>
            <a:srgbClr val="20252B"/>
          </a:solidFill>
          <a:ln w="12700">
            <a:solidFill>
              <a:srgbClr val="3A424C"/>
            </a:solidFill>
            <a:prstDash val="solid"/>
          </a:ln>
        </p:spPr>
      </p:sp>
      <p:sp>
        <p:nvSpPr>
          <p:cNvPr id="17" name="Text 15"/>
          <p:cNvSpPr txBox="1"/>
          <p:nvPr/>
        </p:nvSpPr>
        <p:spPr>
          <a:xfrm>
            <a:off x="667512" y="246888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4</a:t>
            </a:r>
            <a:endParaRPr lang="en-US" sz="1100" dirty="0"/>
          </a:p>
        </p:txBody>
      </p:sp>
      <p:sp>
        <p:nvSpPr>
          <p:cNvPr id="18" name="Text 16"/>
          <p:cNvSpPr txBox="1"/>
          <p:nvPr/>
        </p:nvSpPr>
        <p:spPr>
          <a:xfrm>
            <a:off x="667512" y="270662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write code</a:t>
            </a:r>
            <a:endParaRPr lang="en-US" sz="950" dirty="0"/>
          </a:p>
        </p:txBody>
      </p:sp>
      <p:sp>
        <p:nvSpPr>
          <p:cNvPr id="19" name="Text 17"/>
          <p:cNvSpPr txBox="1"/>
          <p:nvPr/>
        </p:nvSpPr>
        <p:spPr>
          <a:xfrm>
            <a:off x="667512" y="296265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the actual job</a:t>
            </a:r>
            <a:endParaRPr lang="en-US" sz="950" dirty="0"/>
          </a:p>
        </p:txBody>
      </p:sp>
      <p:sp>
        <p:nvSpPr>
          <p:cNvPr id="20" name="Shape 18"/>
          <p:cNvSpPr/>
          <p:nvPr/>
        </p:nvSpPr>
        <p:spPr>
          <a:xfrm>
            <a:off x="3291840" y="2377440"/>
            <a:ext cx="2606040" cy="868680"/>
          </a:xfrm>
          <a:prstGeom prst="roundRect">
            <a:avLst>
              <a:gd name="adj" fmla="val 6316"/>
            </a:avLst>
          </a:prstGeom>
          <a:solidFill>
            <a:srgbClr val="20252B"/>
          </a:solidFill>
          <a:ln w="12700">
            <a:solidFill>
              <a:srgbClr val="3A424C"/>
            </a:solidFill>
            <a:prstDash val="solid"/>
          </a:ln>
        </p:spPr>
      </p:sp>
      <p:sp>
        <p:nvSpPr>
          <p:cNvPr id="21" name="Text 19"/>
          <p:cNvSpPr txBox="1"/>
          <p:nvPr/>
        </p:nvSpPr>
        <p:spPr>
          <a:xfrm>
            <a:off x="3456432" y="246888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5</a:t>
            </a:r>
            <a:endParaRPr lang="en-US" sz="1100" dirty="0"/>
          </a:p>
        </p:txBody>
      </p:sp>
      <p:sp>
        <p:nvSpPr>
          <p:cNvPr id="22" name="Text 20"/>
          <p:cNvSpPr txBox="1"/>
          <p:nvPr/>
        </p:nvSpPr>
        <p:spPr>
          <a:xfrm>
            <a:off x="3456432" y="270662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git add . &amp;&amp; git commit</a:t>
            </a:r>
            <a:endParaRPr lang="en-US" sz="950" dirty="0"/>
          </a:p>
        </p:txBody>
      </p:sp>
      <p:sp>
        <p:nvSpPr>
          <p:cNvPr id="23" name="Text 21"/>
          <p:cNvSpPr txBox="1"/>
          <p:nvPr/>
        </p:nvSpPr>
        <p:spPr>
          <a:xfrm>
            <a:off x="3456432" y="296265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small, often</a:t>
            </a:r>
            <a:endParaRPr lang="en-US" sz="950" dirty="0"/>
          </a:p>
        </p:txBody>
      </p:sp>
      <p:sp>
        <p:nvSpPr>
          <p:cNvPr id="24" name="Shape 22"/>
          <p:cNvSpPr/>
          <p:nvPr/>
        </p:nvSpPr>
        <p:spPr>
          <a:xfrm>
            <a:off x="6080760" y="2377440"/>
            <a:ext cx="2606040" cy="868680"/>
          </a:xfrm>
          <a:prstGeom prst="roundRect">
            <a:avLst>
              <a:gd name="adj" fmla="val 6316"/>
            </a:avLst>
          </a:prstGeom>
          <a:solidFill>
            <a:srgbClr val="20252B"/>
          </a:solidFill>
          <a:ln w="12700">
            <a:solidFill>
              <a:srgbClr val="3A424C"/>
            </a:solidFill>
            <a:prstDash val="solid"/>
          </a:ln>
        </p:spPr>
      </p:sp>
      <p:sp>
        <p:nvSpPr>
          <p:cNvPr id="25" name="Text 23"/>
          <p:cNvSpPr txBox="1"/>
          <p:nvPr/>
        </p:nvSpPr>
        <p:spPr>
          <a:xfrm>
            <a:off x="6245352" y="246888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6</a:t>
            </a:r>
            <a:endParaRPr lang="en-US" sz="1100" dirty="0"/>
          </a:p>
        </p:txBody>
      </p:sp>
      <p:sp>
        <p:nvSpPr>
          <p:cNvPr id="26" name="Text 24"/>
          <p:cNvSpPr txBox="1"/>
          <p:nvPr/>
        </p:nvSpPr>
        <p:spPr>
          <a:xfrm>
            <a:off x="6245352" y="270662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git push -u origin feature/x</a:t>
            </a:r>
            <a:endParaRPr lang="en-US" sz="950" dirty="0"/>
          </a:p>
        </p:txBody>
      </p:sp>
      <p:sp>
        <p:nvSpPr>
          <p:cNvPr id="27" name="Text 25"/>
          <p:cNvSpPr txBox="1"/>
          <p:nvPr/>
        </p:nvSpPr>
        <p:spPr>
          <a:xfrm>
            <a:off x="6245352" y="296265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backup + broadcast</a:t>
            </a:r>
            <a:endParaRPr lang="en-US" sz="950" dirty="0"/>
          </a:p>
        </p:txBody>
      </p:sp>
      <p:sp>
        <p:nvSpPr>
          <p:cNvPr id="28" name="Shape 26"/>
          <p:cNvSpPr/>
          <p:nvPr/>
        </p:nvSpPr>
        <p:spPr>
          <a:xfrm>
            <a:off x="502920" y="3383280"/>
            <a:ext cx="2606040" cy="868680"/>
          </a:xfrm>
          <a:prstGeom prst="roundRect">
            <a:avLst>
              <a:gd name="adj" fmla="val 6316"/>
            </a:avLst>
          </a:prstGeom>
          <a:solidFill>
            <a:srgbClr val="20252B"/>
          </a:solidFill>
          <a:ln w="12700">
            <a:solidFill>
              <a:srgbClr val="3A424C"/>
            </a:solidFill>
            <a:prstDash val="solid"/>
          </a:ln>
        </p:spPr>
      </p:sp>
      <p:sp>
        <p:nvSpPr>
          <p:cNvPr id="29" name="Text 27"/>
          <p:cNvSpPr txBox="1"/>
          <p:nvPr/>
        </p:nvSpPr>
        <p:spPr>
          <a:xfrm>
            <a:off x="667512" y="347472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7</a:t>
            </a:r>
            <a:endParaRPr lang="en-US" sz="1100" dirty="0"/>
          </a:p>
        </p:txBody>
      </p:sp>
      <p:sp>
        <p:nvSpPr>
          <p:cNvPr id="30" name="Text 28"/>
          <p:cNvSpPr txBox="1"/>
          <p:nvPr/>
        </p:nvSpPr>
        <p:spPr>
          <a:xfrm>
            <a:off x="667512" y="371246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open a Pull Request</a:t>
            </a:r>
            <a:endParaRPr lang="en-US" sz="950" dirty="0"/>
          </a:p>
        </p:txBody>
      </p:sp>
      <p:sp>
        <p:nvSpPr>
          <p:cNvPr id="31" name="Text 29"/>
          <p:cNvSpPr txBox="1"/>
          <p:nvPr/>
        </p:nvSpPr>
        <p:spPr>
          <a:xfrm>
            <a:off x="667512" y="396849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ask for review</a:t>
            </a:r>
            <a:endParaRPr lang="en-US" sz="950" dirty="0"/>
          </a:p>
        </p:txBody>
      </p:sp>
      <p:sp>
        <p:nvSpPr>
          <p:cNvPr id="32" name="Shape 30"/>
          <p:cNvSpPr/>
          <p:nvPr/>
        </p:nvSpPr>
        <p:spPr>
          <a:xfrm>
            <a:off x="3291840" y="3383280"/>
            <a:ext cx="2606040" cy="868680"/>
          </a:xfrm>
          <a:prstGeom prst="roundRect">
            <a:avLst>
              <a:gd name="adj" fmla="val 6316"/>
            </a:avLst>
          </a:prstGeom>
          <a:solidFill>
            <a:srgbClr val="20252B"/>
          </a:solidFill>
          <a:ln w="12700">
            <a:solidFill>
              <a:srgbClr val="3A424C"/>
            </a:solidFill>
            <a:prstDash val="solid"/>
          </a:ln>
        </p:spPr>
      </p:sp>
      <p:sp>
        <p:nvSpPr>
          <p:cNvPr id="33" name="Text 31"/>
          <p:cNvSpPr txBox="1"/>
          <p:nvPr/>
        </p:nvSpPr>
        <p:spPr>
          <a:xfrm>
            <a:off x="3456432" y="347472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8</a:t>
            </a:r>
            <a:endParaRPr lang="en-US" sz="1100" dirty="0"/>
          </a:p>
        </p:txBody>
      </p:sp>
      <p:sp>
        <p:nvSpPr>
          <p:cNvPr id="34" name="Text 32"/>
          <p:cNvSpPr txBox="1"/>
          <p:nvPr/>
        </p:nvSpPr>
        <p:spPr>
          <a:xfrm>
            <a:off x="3456432" y="371246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fix comments, push again</a:t>
            </a:r>
            <a:endParaRPr lang="en-US" sz="950" dirty="0"/>
          </a:p>
        </p:txBody>
      </p:sp>
      <p:sp>
        <p:nvSpPr>
          <p:cNvPr id="35" name="Text 33"/>
          <p:cNvSpPr txBox="1"/>
          <p:nvPr/>
        </p:nvSpPr>
        <p:spPr>
          <a:xfrm>
            <a:off x="3456432" y="396849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same PR updates</a:t>
            </a:r>
            <a:endParaRPr lang="en-US" sz="950" dirty="0"/>
          </a:p>
        </p:txBody>
      </p:sp>
      <p:sp>
        <p:nvSpPr>
          <p:cNvPr id="36" name="Shape 34"/>
          <p:cNvSpPr/>
          <p:nvPr/>
        </p:nvSpPr>
        <p:spPr>
          <a:xfrm>
            <a:off x="6080760" y="3383280"/>
            <a:ext cx="2606040" cy="868680"/>
          </a:xfrm>
          <a:prstGeom prst="roundRect">
            <a:avLst>
              <a:gd name="adj" fmla="val 6316"/>
            </a:avLst>
          </a:prstGeom>
          <a:solidFill>
            <a:srgbClr val="20252B"/>
          </a:solidFill>
          <a:ln w="12700">
            <a:solidFill>
              <a:srgbClr val="3A424C"/>
            </a:solidFill>
            <a:prstDash val="solid"/>
          </a:ln>
        </p:spPr>
      </p:sp>
      <p:sp>
        <p:nvSpPr>
          <p:cNvPr id="37" name="Text 35"/>
          <p:cNvSpPr txBox="1"/>
          <p:nvPr/>
        </p:nvSpPr>
        <p:spPr>
          <a:xfrm>
            <a:off x="6245352" y="3474720"/>
            <a:ext cx="274320" cy="237744"/>
          </a:xfrm>
          <a:prstGeom prst="rect">
            <a:avLst/>
          </a:prstGeom>
          <a:noFill/>
          <a:ln/>
        </p:spPr>
        <p:txBody>
          <a:bodyPr wrap="square" lIns="0" tIns="0" rIns="0" bIns="0" rtlCol="0" anchor="ctr"/>
          <a:lstStyle/>
          <a:p>
            <a:pPr indent="0" marL="0">
              <a:buNone/>
            </a:pPr>
            <a:r>
              <a:rPr lang="en-US" sz="1100" b="1" dirty="0">
                <a:solidFill>
                  <a:srgbClr val="E04A29"/>
                </a:solidFill>
                <a:latin typeface="Arial" pitchFamily="34" charset="0"/>
                <a:ea typeface="Arial" pitchFamily="34" charset="-122"/>
                <a:cs typeface="Arial" pitchFamily="34" charset="-120"/>
              </a:rPr>
              <a:t>9</a:t>
            </a:r>
            <a:endParaRPr lang="en-US" sz="1100" dirty="0"/>
          </a:p>
        </p:txBody>
      </p:sp>
      <p:sp>
        <p:nvSpPr>
          <p:cNvPr id="38" name="Text 36"/>
          <p:cNvSpPr txBox="1"/>
          <p:nvPr/>
        </p:nvSpPr>
        <p:spPr>
          <a:xfrm>
            <a:off x="6245352" y="3712464"/>
            <a:ext cx="2286000" cy="256032"/>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merge, delete branch, pull main</a:t>
            </a:r>
            <a:endParaRPr lang="en-US" sz="950" dirty="0"/>
          </a:p>
        </p:txBody>
      </p:sp>
      <p:sp>
        <p:nvSpPr>
          <p:cNvPr id="39" name="Text 37"/>
          <p:cNvSpPr txBox="1"/>
          <p:nvPr/>
        </p:nvSpPr>
        <p:spPr>
          <a:xfrm>
            <a:off x="6245352" y="3968496"/>
            <a:ext cx="2286000" cy="219456"/>
          </a:xfrm>
          <a:prstGeom prst="rect">
            <a:avLst/>
          </a:prstGeom>
          <a:noFill/>
          <a:ln/>
        </p:spPr>
        <p:txBody>
          <a:bodyPr wrap="square" lIns="0" tIns="0" rIns="0" bIns="0" rtlCol="0" anchor="ctr"/>
          <a:lstStyle/>
          <a:p>
            <a:pPr indent="0" marL="0">
              <a:buNone/>
            </a:pPr>
            <a:r>
              <a:rPr lang="en-US" sz="950" dirty="0">
                <a:solidFill>
                  <a:srgbClr val="8B949E"/>
                </a:solidFill>
                <a:latin typeface="Calibri" pitchFamily="34" charset="0"/>
                <a:ea typeface="Calibri" pitchFamily="34" charset="-122"/>
                <a:cs typeface="Calibri" pitchFamily="34" charset="-120"/>
              </a:rPr>
              <a:t>and repeat tomorrow</a:t>
            </a:r>
            <a:endParaRPr lang="en-US" sz="950" dirty="0"/>
          </a:p>
        </p:txBody>
      </p:sp>
      <p:sp>
        <p:nvSpPr>
          <p:cNvPr id="40" name="Text 38"/>
          <p:cNvSpPr txBox="1"/>
          <p:nvPr/>
        </p:nvSpPr>
        <p:spPr>
          <a:xfrm>
            <a:off x="502920" y="4480560"/>
            <a:ext cx="8183880" cy="274320"/>
          </a:xfrm>
          <a:prstGeom prst="rect">
            <a:avLst/>
          </a:prstGeom>
          <a:noFill/>
          <a:ln/>
        </p:spPr>
        <p:txBody>
          <a:bodyPr wrap="square" lIns="0" tIns="0" rIns="0" bIns="0" rtlCol="0" anchor="ctr"/>
          <a:lstStyle/>
          <a:p>
            <a:pPr algn="ctr" indent="0" marL="0">
              <a:buNone/>
            </a:pPr>
            <a:r>
              <a:rPr lang="en-US" sz="1250" b="1" dirty="0">
                <a:solidFill>
                  <a:srgbClr val="FFAA64"/>
                </a:solidFill>
                <a:latin typeface="Calibri" pitchFamily="34" charset="0"/>
                <a:ea typeface="Calibri" pitchFamily="34" charset="-122"/>
                <a:cs typeface="Calibri" pitchFamily="34" charset="-120"/>
              </a:rPr>
              <a:t>That is the loop. It is the same on day 1 and in year 10.</a:t>
            </a:r>
            <a:endParaRPr lang="en-US" sz="1250" dirty="0"/>
          </a:p>
        </p:txBody>
      </p:sp>
      <p:sp>
        <p:nvSpPr>
          <p:cNvPr id="41" name="Text 39"/>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TWO ROLES, ONE REPOSITORY</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Who does what — the full picture</a:t>
            </a:r>
            <a:endParaRPr lang="en-US" sz="3000" dirty="0"/>
          </a:p>
        </p:txBody>
      </p:sp>
      <p:sp>
        <p:nvSpPr>
          <p:cNvPr id="4" name="Shape 2"/>
          <p:cNvSpPr/>
          <p:nvPr/>
        </p:nvSpPr>
        <p:spPr>
          <a:xfrm>
            <a:off x="502920" y="1325880"/>
            <a:ext cx="3977640" cy="3200400"/>
          </a:xfrm>
          <a:prstGeom prst="roundRect">
            <a:avLst>
              <a:gd name="adj" fmla="val 1714"/>
            </a:avLst>
          </a:prstGeom>
          <a:solidFill>
            <a:srgbClr val="FCEEE9"/>
          </a:solidFill>
          <a:ln w="12700">
            <a:solidFill>
              <a:srgbClr val="F2CBBC"/>
            </a:solidFill>
            <a:prstDash val="solid"/>
          </a:ln>
        </p:spPr>
      </p:sp>
      <p:sp>
        <p:nvSpPr>
          <p:cNvPr id="5" name="Shape 3"/>
          <p:cNvSpPr/>
          <p:nvPr/>
        </p:nvSpPr>
        <p:spPr>
          <a:xfrm>
            <a:off x="731520" y="1481328"/>
            <a:ext cx="402336" cy="402336"/>
          </a:xfrm>
          <a:prstGeom prst="ellipse">
            <a:avLst/>
          </a:prstGeom>
          <a:solidFill>
            <a:srgbClr val="E04A29"/>
          </a:solidFill>
          <a:ln w="12700">
            <a:solidFill>
              <a:srgbClr val="E04A29"/>
            </a:solidFill>
            <a:prstDash val="solid"/>
          </a:ln>
        </p:spPr>
      </p:sp>
      <p:sp>
        <p:nvSpPr>
          <p:cNvPr id="6" name="Text 4"/>
          <p:cNvSpPr txBox="1"/>
          <p:nvPr/>
        </p:nvSpPr>
        <p:spPr>
          <a:xfrm>
            <a:off x="731520" y="14813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TL</a:t>
            </a:r>
            <a:endParaRPr lang="en-US" sz="1150" dirty="0"/>
          </a:p>
        </p:txBody>
      </p:sp>
      <p:sp>
        <p:nvSpPr>
          <p:cNvPr id="7" name="Text 5"/>
          <p:cNvSpPr txBox="1"/>
          <p:nvPr/>
        </p:nvSpPr>
        <p:spPr>
          <a:xfrm>
            <a:off x="1298448" y="1481328"/>
            <a:ext cx="2743200" cy="402336"/>
          </a:xfrm>
          <a:prstGeom prst="rect">
            <a:avLst/>
          </a:prstGeom>
          <a:noFill/>
          <a:ln/>
        </p:spPr>
        <p:txBody>
          <a:bodyPr wrap="square" lIns="0" tIns="0" rIns="0" bIns="0" rtlCol="0" anchor="ctr"/>
          <a:lstStyle/>
          <a:p>
            <a:pPr indent="0" marL="0">
              <a:buNone/>
            </a:pPr>
            <a:r>
              <a:rPr lang="en-US" sz="1600" b="1" dirty="0">
                <a:solidFill>
                  <a:srgbClr val="16191D"/>
                </a:solidFill>
                <a:latin typeface="Arial" pitchFamily="34" charset="0"/>
                <a:ea typeface="Arial" pitchFamily="34" charset="-122"/>
                <a:cs typeface="Arial" pitchFamily="34" charset="-120"/>
              </a:rPr>
              <a:t>Team Lead</a:t>
            </a:r>
            <a:endParaRPr lang="en-US" sz="1600" dirty="0"/>
          </a:p>
        </p:txBody>
      </p:sp>
      <p:sp>
        <p:nvSpPr>
          <p:cNvPr id="8" name="Text 6"/>
          <p:cNvSpPr txBox="1"/>
          <p:nvPr/>
        </p:nvSpPr>
        <p:spPr>
          <a:xfrm>
            <a:off x="777240" y="2011680"/>
            <a:ext cx="3520440" cy="2377440"/>
          </a:xfrm>
          <a:prstGeom prst="rect">
            <a:avLst/>
          </a:prstGeom>
          <a:noFill/>
          <a:ln/>
        </p:spPr>
        <p:txBody>
          <a:bodyPr wrap="square" lIns="0" tIns="0" rIns="0" bIns="0" rtlCol="0" anchor="t"/>
          <a:lstStyle/>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Creates the repo, sets branch protection</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Adds collaborators with the right access</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Reviews PRs and requests changes</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Decides when main is merged into</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Keeps main always deployable</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Also writes features, on branches, like everyone</a:t>
            </a:r>
            <a:endParaRPr lang="en-US" sz="1100" dirty="0"/>
          </a:p>
        </p:txBody>
      </p:sp>
      <p:sp>
        <p:nvSpPr>
          <p:cNvPr id="9" name="Shape 7"/>
          <p:cNvSpPr/>
          <p:nvPr/>
        </p:nvSpPr>
        <p:spPr>
          <a:xfrm>
            <a:off x="4709160" y="1325880"/>
            <a:ext cx="3977640" cy="3200400"/>
          </a:xfrm>
          <a:prstGeom prst="roundRect">
            <a:avLst>
              <a:gd name="adj" fmla="val 1714"/>
            </a:avLst>
          </a:prstGeom>
          <a:solidFill>
            <a:srgbClr val="F4EFFC"/>
          </a:solidFill>
          <a:ln w="12700">
            <a:solidFill>
              <a:srgbClr val="D9C9F5"/>
            </a:solidFill>
            <a:prstDash val="solid"/>
          </a:ln>
        </p:spPr>
      </p:sp>
      <p:sp>
        <p:nvSpPr>
          <p:cNvPr id="10" name="Shape 8"/>
          <p:cNvSpPr/>
          <p:nvPr/>
        </p:nvSpPr>
        <p:spPr>
          <a:xfrm>
            <a:off x="4937760" y="1481328"/>
            <a:ext cx="402336" cy="402336"/>
          </a:xfrm>
          <a:prstGeom prst="ellipse">
            <a:avLst/>
          </a:prstGeom>
          <a:solidFill>
            <a:srgbClr val="7B3FD4"/>
          </a:solidFill>
          <a:ln w="12700">
            <a:solidFill>
              <a:srgbClr val="7B3FD4"/>
            </a:solidFill>
            <a:prstDash val="solid"/>
          </a:ln>
        </p:spPr>
      </p:sp>
      <p:sp>
        <p:nvSpPr>
          <p:cNvPr id="11" name="Text 9"/>
          <p:cNvSpPr txBox="1"/>
          <p:nvPr/>
        </p:nvSpPr>
        <p:spPr>
          <a:xfrm>
            <a:off x="4937760" y="1481328"/>
            <a:ext cx="402336"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DEV</a:t>
            </a:r>
            <a:endParaRPr lang="en-US" sz="900" dirty="0"/>
          </a:p>
        </p:txBody>
      </p:sp>
      <p:sp>
        <p:nvSpPr>
          <p:cNvPr id="12" name="Text 10"/>
          <p:cNvSpPr txBox="1"/>
          <p:nvPr/>
        </p:nvSpPr>
        <p:spPr>
          <a:xfrm>
            <a:off x="5504688" y="1481328"/>
            <a:ext cx="2926080" cy="402336"/>
          </a:xfrm>
          <a:prstGeom prst="rect">
            <a:avLst/>
          </a:prstGeom>
          <a:noFill/>
          <a:ln/>
        </p:spPr>
        <p:txBody>
          <a:bodyPr wrap="square" lIns="0" tIns="0" rIns="0" bIns="0" rtlCol="0" anchor="ctr"/>
          <a:lstStyle/>
          <a:p>
            <a:pPr indent="0" marL="0">
              <a:buNone/>
            </a:pPr>
            <a:r>
              <a:rPr lang="en-US" sz="1600" b="1" dirty="0">
                <a:solidFill>
                  <a:srgbClr val="16191D"/>
                </a:solidFill>
                <a:latin typeface="Arial" pitchFamily="34" charset="0"/>
                <a:ea typeface="Arial" pitchFamily="34" charset="-122"/>
                <a:cs typeface="Arial" pitchFamily="34" charset="-120"/>
              </a:rPr>
              <a:t>Developer — you</a:t>
            </a:r>
            <a:endParaRPr lang="en-US" sz="1600" dirty="0"/>
          </a:p>
        </p:txBody>
      </p:sp>
      <p:sp>
        <p:nvSpPr>
          <p:cNvPr id="13" name="Text 11"/>
          <p:cNvSpPr txBox="1"/>
          <p:nvPr/>
        </p:nvSpPr>
        <p:spPr>
          <a:xfrm>
            <a:off x="4983480" y="2011680"/>
            <a:ext cx="3520440" cy="2377440"/>
          </a:xfrm>
          <a:prstGeom prst="rect">
            <a:avLst/>
          </a:prstGeom>
          <a:noFill/>
          <a:ln/>
        </p:spPr>
        <p:txBody>
          <a:bodyPr wrap="square" lIns="0" tIns="0" rIns="0" bIns="0" rtlCol="0" anchor="t"/>
          <a:lstStyle/>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Pulls main before starting anything</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Creates one branch per task</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Commits small, with readable messages</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Raises a PR with a real description</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Fixes review comments without ego</a:t>
            </a:r>
            <a:endParaRPr lang="en-US" sz="1100" dirty="0"/>
          </a:p>
          <a:p>
            <a:pPr marL="177800" indent="-177800">
              <a:spcAft>
                <a:spcPts val="900"/>
              </a:spcAft>
              <a:buSzPct val="100000"/>
              <a:buChar char="•"/>
            </a:pPr>
            <a:r>
              <a:rPr lang="en-US" sz="1100" dirty="0">
                <a:solidFill>
                  <a:srgbClr val="16191D"/>
                </a:solidFill>
                <a:latin typeface="Calibri" pitchFamily="34" charset="0"/>
                <a:ea typeface="Calibri" pitchFamily="34" charset="-122"/>
                <a:cs typeface="Calibri" pitchFamily="34" charset="-120"/>
              </a:rPr>
              <a:t>Resolves their own conflicts, asks when unsure</a:t>
            </a:r>
            <a:endParaRPr lang="en-US" sz="1100" dirty="0"/>
          </a:p>
        </p:txBody>
      </p:sp>
      <p:sp>
        <p:nvSpPr>
          <p:cNvPr id="14" name="Text 12"/>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NEXT SESSION</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3000" b="1" dirty="0">
                <a:solidFill>
                  <a:srgbClr val="16191D"/>
                </a:solidFill>
                <a:latin typeface="Arial" pitchFamily="34" charset="0"/>
                <a:ea typeface="Arial" pitchFamily="34" charset="-122"/>
                <a:cs typeface="Arial" pitchFamily="34" charset="-120"/>
              </a:rPr>
              <a:t>Same operations — now with buttons</a:t>
            </a:r>
            <a:endParaRPr lang="en-US" sz="3000" dirty="0"/>
          </a:p>
        </p:txBody>
      </p:sp>
      <p:sp>
        <p:nvSpPr>
          <p:cNvPr id="4" name="Shape 2"/>
          <p:cNvSpPr/>
          <p:nvPr/>
        </p:nvSpPr>
        <p:spPr>
          <a:xfrm>
            <a:off x="502920" y="1371600"/>
            <a:ext cx="8183880" cy="2011680"/>
          </a:xfrm>
          <a:prstGeom prst="roundRect">
            <a:avLst>
              <a:gd name="adj" fmla="val 2727"/>
            </a:avLst>
          </a:prstGeom>
          <a:solidFill>
            <a:srgbClr val="F3F5F7"/>
          </a:solidFill>
          <a:ln w="12700">
            <a:solidFill>
              <a:srgbClr val="D5DCE3"/>
            </a:solidFill>
            <a:prstDash val="solid"/>
          </a:ln>
        </p:spPr>
      </p:sp>
      <p:sp>
        <p:nvSpPr>
          <p:cNvPr id="5" name="Text 3"/>
          <p:cNvSpPr txBox="1"/>
          <p:nvPr/>
        </p:nvSpPr>
        <p:spPr>
          <a:xfrm>
            <a:off x="777240" y="1536192"/>
            <a:ext cx="3291840" cy="292608"/>
          </a:xfrm>
          <a:prstGeom prst="rect">
            <a:avLst/>
          </a:prstGeom>
          <a:noFill/>
          <a:ln/>
        </p:spPr>
        <p:txBody>
          <a:bodyPr wrap="square" lIns="0" tIns="0" rIns="0" bIns="0" rtlCol="0" anchor="ctr"/>
          <a:lstStyle/>
          <a:p>
            <a:pPr indent="0" marL="0">
              <a:buNone/>
            </a:pPr>
            <a:r>
              <a:rPr lang="en-US" sz="1100" b="1" dirty="0">
                <a:solidFill>
                  <a:srgbClr val="16191D"/>
                </a:solidFill>
                <a:latin typeface="Courier New" pitchFamily="34" charset="0"/>
                <a:ea typeface="Courier New" pitchFamily="34" charset="-122"/>
                <a:cs typeface="Courier New" pitchFamily="34" charset="-120"/>
              </a:rPr>
              <a:t>git switch -c feature/x</a:t>
            </a:r>
            <a:endParaRPr lang="en-US" sz="1100" dirty="0"/>
          </a:p>
        </p:txBody>
      </p:sp>
      <p:sp>
        <p:nvSpPr>
          <p:cNvPr id="6" name="Shape 4"/>
          <p:cNvSpPr/>
          <p:nvPr/>
        </p:nvSpPr>
        <p:spPr>
          <a:xfrm>
            <a:off x="4206240" y="1591056"/>
            <a:ext cx="274320" cy="182880"/>
          </a:xfrm>
          <a:prstGeom prst="rightArrow">
            <a:avLst/>
          </a:prstGeom>
          <a:solidFill>
            <a:srgbClr val="D5DCE3"/>
          </a:solidFill>
          <a:ln w="12700">
            <a:solidFill>
              <a:srgbClr val="D5DCE3"/>
            </a:solidFill>
            <a:prstDash val="solid"/>
          </a:ln>
        </p:spPr>
      </p:sp>
      <p:sp>
        <p:nvSpPr>
          <p:cNvPr id="7" name="Text 5"/>
          <p:cNvSpPr txBox="1"/>
          <p:nvPr/>
        </p:nvSpPr>
        <p:spPr>
          <a:xfrm>
            <a:off x="4709160" y="1536192"/>
            <a:ext cx="3840480" cy="292608"/>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Branch menu → New Branch</a:t>
            </a:r>
            <a:endParaRPr lang="en-US" sz="1100" dirty="0"/>
          </a:p>
        </p:txBody>
      </p:sp>
      <p:sp>
        <p:nvSpPr>
          <p:cNvPr id="8" name="Text 6"/>
          <p:cNvSpPr txBox="1"/>
          <p:nvPr/>
        </p:nvSpPr>
        <p:spPr>
          <a:xfrm>
            <a:off x="777240" y="1901952"/>
            <a:ext cx="3291840" cy="292608"/>
          </a:xfrm>
          <a:prstGeom prst="rect">
            <a:avLst/>
          </a:prstGeom>
          <a:noFill/>
          <a:ln/>
        </p:spPr>
        <p:txBody>
          <a:bodyPr wrap="square" lIns="0" tIns="0" rIns="0" bIns="0" rtlCol="0" anchor="ctr"/>
          <a:lstStyle/>
          <a:p>
            <a:pPr indent="0" marL="0">
              <a:buNone/>
            </a:pPr>
            <a:r>
              <a:rPr lang="en-US" sz="1100" b="1" dirty="0">
                <a:solidFill>
                  <a:srgbClr val="16191D"/>
                </a:solidFill>
                <a:latin typeface="Courier New" pitchFamily="34" charset="0"/>
                <a:ea typeface="Courier New" pitchFamily="34" charset="-122"/>
                <a:cs typeface="Courier New" pitchFamily="34" charset="-120"/>
              </a:rPr>
              <a:t>git add . &amp;&amp; git commit</a:t>
            </a:r>
            <a:endParaRPr lang="en-US" sz="1100" dirty="0"/>
          </a:p>
        </p:txBody>
      </p:sp>
      <p:sp>
        <p:nvSpPr>
          <p:cNvPr id="9" name="Shape 7"/>
          <p:cNvSpPr/>
          <p:nvPr/>
        </p:nvSpPr>
        <p:spPr>
          <a:xfrm>
            <a:off x="4206240" y="1956816"/>
            <a:ext cx="274320" cy="182880"/>
          </a:xfrm>
          <a:prstGeom prst="rightArrow">
            <a:avLst/>
          </a:prstGeom>
          <a:solidFill>
            <a:srgbClr val="D5DCE3"/>
          </a:solidFill>
          <a:ln w="12700">
            <a:solidFill>
              <a:srgbClr val="D5DCE3"/>
            </a:solidFill>
            <a:prstDash val="solid"/>
          </a:ln>
        </p:spPr>
      </p:sp>
      <p:sp>
        <p:nvSpPr>
          <p:cNvPr id="10" name="Text 8"/>
          <p:cNvSpPr txBox="1"/>
          <p:nvPr/>
        </p:nvSpPr>
        <p:spPr>
          <a:xfrm>
            <a:off x="4709160" y="1901952"/>
            <a:ext cx="3840480" cy="292608"/>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Commit panel → type message → Commit</a:t>
            </a:r>
            <a:endParaRPr lang="en-US" sz="1100" dirty="0"/>
          </a:p>
        </p:txBody>
      </p:sp>
      <p:sp>
        <p:nvSpPr>
          <p:cNvPr id="11" name="Text 9"/>
          <p:cNvSpPr txBox="1"/>
          <p:nvPr/>
        </p:nvSpPr>
        <p:spPr>
          <a:xfrm>
            <a:off x="777240" y="2267712"/>
            <a:ext cx="3291840" cy="292608"/>
          </a:xfrm>
          <a:prstGeom prst="rect">
            <a:avLst/>
          </a:prstGeom>
          <a:noFill/>
          <a:ln/>
        </p:spPr>
        <p:txBody>
          <a:bodyPr wrap="square" lIns="0" tIns="0" rIns="0" bIns="0" rtlCol="0" anchor="ctr"/>
          <a:lstStyle/>
          <a:p>
            <a:pPr indent="0" marL="0">
              <a:buNone/>
            </a:pPr>
            <a:r>
              <a:rPr lang="en-US" sz="1100" b="1" dirty="0">
                <a:solidFill>
                  <a:srgbClr val="16191D"/>
                </a:solidFill>
                <a:latin typeface="Courier New" pitchFamily="34" charset="0"/>
                <a:ea typeface="Courier New" pitchFamily="34" charset="-122"/>
                <a:cs typeface="Courier New" pitchFamily="34" charset="-120"/>
              </a:rPr>
              <a:t>git push</a:t>
            </a:r>
            <a:endParaRPr lang="en-US" sz="1100" dirty="0"/>
          </a:p>
        </p:txBody>
      </p:sp>
      <p:sp>
        <p:nvSpPr>
          <p:cNvPr id="12" name="Shape 10"/>
          <p:cNvSpPr/>
          <p:nvPr/>
        </p:nvSpPr>
        <p:spPr>
          <a:xfrm>
            <a:off x="4206240" y="2322576"/>
            <a:ext cx="274320" cy="182880"/>
          </a:xfrm>
          <a:prstGeom prst="rightArrow">
            <a:avLst/>
          </a:prstGeom>
          <a:solidFill>
            <a:srgbClr val="D5DCE3"/>
          </a:solidFill>
          <a:ln w="12700">
            <a:solidFill>
              <a:srgbClr val="D5DCE3"/>
            </a:solidFill>
            <a:prstDash val="solid"/>
          </a:ln>
        </p:spPr>
      </p:sp>
      <p:sp>
        <p:nvSpPr>
          <p:cNvPr id="13" name="Text 11"/>
          <p:cNvSpPr txBox="1"/>
          <p:nvPr/>
        </p:nvSpPr>
        <p:spPr>
          <a:xfrm>
            <a:off x="4709160" y="2267712"/>
            <a:ext cx="3840480" cy="292608"/>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Push button (with the up arrow)</a:t>
            </a:r>
            <a:endParaRPr lang="en-US" sz="1100" dirty="0"/>
          </a:p>
        </p:txBody>
      </p:sp>
      <p:sp>
        <p:nvSpPr>
          <p:cNvPr id="14" name="Text 12"/>
          <p:cNvSpPr txBox="1"/>
          <p:nvPr/>
        </p:nvSpPr>
        <p:spPr>
          <a:xfrm>
            <a:off x="777240" y="2633472"/>
            <a:ext cx="3291840" cy="292608"/>
          </a:xfrm>
          <a:prstGeom prst="rect">
            <a:avLst/>
          </a:prstGeom>
          <a:noFill/>
          <a:ln/>
        </p:spPr>
        <p:txBody>
          <a:bodyPr wrap="square" lIns="0" tIns="0" rIns="0" bIns="0" rtlCol="0" anchor="ctr"/>
          <a:lstStyle/>
          <a:p>
            <a:pPr indent="0" marL="0">
              <a:buNone/>
            </a:pPr>
            <a:r>
              <a:rPr lang="en-US" sz="1100" b="1" dirty="0">
                <a:solidFill>
                  <a:srgbClr val="16191D"/>
                </a:solidFill>
                <a:latin typeface="Courier New" pitchFamily="34" charset="0"/>
                <a:ea typeface="Courier New" pitchFamily="34" charset="-122"/>
                <a:cs typeface="Courier New" pitchFamily="34" charset="-120"/>
              </a:rPr>
              <a:t>git pull</a:t>
            </a:r>
            <a:endParaRPr lang="en-US" sz="1100" dirty="0"/>
          </a:p>
        </p:txBody>
      </p:sp>
      <p:sp>
        <p:nvSpPr>
          <p:cNvPr id="15" name="Shape 13"/>
          <p:cNvSpPr/>
          <p:nvPr/>
        </p:nvSpPr>
        <p:spPr>
          <a:xfrm>
            <a:off x="4206240" y="2688336"/>
            <a:ext cx="274320" cy="182880"/>
          </a:xfrm>
          <a:prstGeom prst="rightArrow">
            <a:avLst/>
          </a:prstGeom>
          <a:solidFill>
            <a:srgbClr val="D5DCE3"/>
          </a:solidFill>
          <a:ln w="12700">
            <a:solidFill>
              <a:srgbClr val="D5DCE3"/>
            </a:solidFill>
            <a:prstDash val="solid"/>
          </a:ln>
        </p:spPr>
      </p:sp>
      <p:sp>
        <p:nvSpPr>
          <p:cNvPr id="16" name="Text 14"/>
          <p:cNvSpPr txBox="1"/>
          <p:nvPr/>
        </p:nvSpPr>
        <p:spPr>
          <a:xfrm>
            <a:off x="4709160" y="2633472"/>
            <a:ext cx="3840480" cy="292608"/>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Pull / Update Project</a:t>
            </a:r>
            <a:endParaRPr lang="en-US" sz="1100" dirty="0"/>
          </a:p>
        </p:txBody>
      </p:sp>
      <p:sp>
        <p:nvSpPr>
          <p:cNvPr id="17" name="Text 15"/>
          <p:cNvSpPr txBox="1"/>
          <p:nvPr/>
        </p:nvSpPr>
        <p:spPr>
          <a:xfrm>
            <a:off x="777240" y="2999232"/>
            <a:ext cx="3291840" cy="292608"/>
          </a:xfrm>
          <a:prstGeom prst="rect">
            <a:avLst/>
          </a:prstGeom>
          <a:noFill/>
          <a:ln/>
        </p:spPr>
        <p:txBody>
          <a:bodyPr wrap="square" lIns="0" tIns="0" rIns="0" bIns="0" rtlCol="0" anchor="ctr"/>
          <a:lstStyle/>
          <a:p>
            <a:pPr indent="0" marL="0">
              <a:buNone/>
            </a:pPr>
            <a:r>
              <a:rPr lang="en-US" sz="1100" b="1" dirty="0">
                <a:solidFill>
                  <a:srgbClr val="16191D"/>
                </a:solidFill>
                <a:latin typeface="Courier New" pitchFamily="34" charset="0"/>
                <a:ea typeface="Courier New" pitchFamily="34" charset="-122"/>
                <a:cs typeface="Courier New" pitchFamily="34" charset="-120"/>
              </a:rPr>
              <a:t>resolve a conflict</a:t>
            </a:r>
            <a:endParaRPr lang="en-US" sz="1100" dirty="0"/>
          </a:p>
        </p:txBody>
      </p:sp>
      <p:sp>
        <p:nvSpPr>
          <p:cNvPr id="18" name="Shape 16"/>
          <p:cNvSpPr/>
          <p:nvPr/>
        </p:nvSpPr>
        <p:spPr>
          <a:xfrm>
            <a:off x="4206240" y="3054096"/>
            <a:ext cx="274320" cy="182880"/>
          </a:xfrm>
          <a:prstGeom prst="rightArrow">
            <a:avLst/>
          </a:prstGeom>
          <a:solidFill>
            <a:srgbClr val="D5DCE3"/>
          </a:solidFill>
          <a:ln w="12700">
            <a:solidFill>
              <a:srgbClr val="D5DCE3"/>
            </a:solidFill>
            <a:prstDash val="solid"/>
          </a:ln>
        </p:spPr>
      </p:sp>
      <p:sp>
        <p:nvSpPr>
          <p:cNvPr id="19" name="Text 17"/>
          <p:cNvSpPr txBox="1"/>
          <p:nvPr/>
        </p:nvSpPr>
        <p:spPr>
          <a:xfrm>
            <a:off x="4709160" y="2999232"/>
            <a:ext cx="3840480" cy="292608"/>
          </a:xfrm>
          <a:prstGeom prst="rect">
            <a:avLst/>
          </a:prstGeom>
          <a:noFill/>
          <a:ln/>
        </p:spPr>
        <p:txBody>
          <a:bodyPr wrap="square" lIns="0" tIns="0" rIns="0" bIns="0" rtlCol="0" anchor="ctr"/>
          <a:lstStyle/>
          <a:p>
            <a:pPr indent="0" marL="0">
              <a:buNone/>
            </a:pPr>
            <a:r>
              <a:rPr lang="en-US" sz="1100" dirty="0">
                <a:solidFill>
                  <a:srgbClr val="5A6572"/>
                </a:solidFill>
                <a:latin typeface="Calibri" pitchFamily="34" charset="0"/>
                <a:ea typeface="Calibri" pitchFamily="34" charset="-122"/>
                <a:cs typeface="Calibri" pitchFamily="34" charset="-120"/>
              </a:rPr>
              <a:t>Three-way merge editor</a:t>
            </a:r>
            <a:endParaRPr lang="en-US" sz="1100" dirty="0"/>
          </a:p>
        </p:txBody>
      </p:sp>
      <p:sp>
        <p:nvSpPr>
          <p:cNvPr id="20" name="Shape 18"/>
          <p:cNvSpPr/>
          <p:nvPr/>
        </p:nvSpPr>
        <p:spPr>
          <a:xfrm>
            <a:off x="502920" y="3566160"/>
            <a:ext cx="8183880" cy="960120"/>
          </a:xfrm>
          <a:prstGeom prst="roundRect">
            <a:avLst>
              <a:gd name="adj" fmla="val 5714"/>
            </a:avLst>
          </a:prstGeom>
          <a:solidFill>
            <a:srgbClr val="16191D"/>
          </a:solidFill>
          <a:ln w="12700">
            <a:solidFill>
              <a:srgbClr val="16191D"/>
            </a:solidFill>
            <a:prstDash val="solid"/>
          </a:ln>
        </p:spPr>
      </p:sp>
      <p:sp>
        <p:nvSpPr>
          <p:cNvPr id="21" name="Text 19"/>
          <p:cNvSpPr txBox="1"/>
          <p:nvPr/>
        </p:nvSpPr>
        <p:spPr>
          <a:xfrm>
            <a:off x="777240" y="3675888"/>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Why we did the hard way first</a:t>
            </a:r>
            <a:endParaRPr lang="en-US" sz="1250" dirty="0"/>
          </a:p>
        </p:txBody>
      </p:sp>
      <p:sp>
        <p:nvSpPr>
          <p:cNvPr id="22" name="Text 20"/>
          <p:cNvSpPr txBox="1"/>
          <p:nvPr/>
        </p:nvSpPr>
        <p:spPr>
          <a:xfrm>
            <a:off x="777240" y="3950208"/>
            <a:ext cx="7680960" cy="502920"/>
          </a:xfrm>
          <a:prstGeom prst="rect">
            <a:avLst/>
          </a:prstGeom>
          <a:noFill/>
          <a:ln/>
        </p:spPr>
        <p:txBody>
          <a:bodyPr wrap="square" lIns="0" tIns="0" rIns="0" bIns="0" rtlCol="0" anchor="ctr"/>
          <a:lstStyle/>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The buttons hide what is happening. When a button fails — and it will — the person who knows the commands fixes it in</a:t>
            </a:r>
            <a:endParaRPr lang="en-US" sz="1100" dirty="0"/>
          </a:p>
          <a:p>
            <a:pPr indent="0" marL="0">
              <a:lnSpc>
                <a:spcPct val="130000"/>
              </a:lnSpc>
              <a:buNone/>
            </a:pPr>
            <a:r>
              <a:rPr lang="en-US" sz="1100" dirty="0">
                <a:solidFill>
                  <a:srgbClr val="C9D1D9"/>
                </a:solidFill>
                <a:latin typeface="Calibri" pitchFamily="34" charset="0"/>
                <a:ea typeface="Calibri" pitchFamily="34" charset="-122"/>
                <a:cs typeface="Calibri" pitchFamily="34" charset="-120"/>
              </a:rPr>
              <a:t>two minutes. The person who only knows the buttons files a ticket.</a:t>
            </a:r>
            <a:endParaRPr lang="en-US" sz="1100" dirty="0"/>
          </a:p>
        </p:txBody>
      </p:sp>
      <p:sp>
        <p:nvSpPr>
          <p:cNvPr id="23" name="Text 21"/>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7B3FD4"/>
                </a:solidFill>
                <a:latin typeface="Arial" pitchFamily="34" charset="0"/>
                <a:ea typeface="Arial" pitchFamily="34" charset="-122"/>
                <a:cs typeface="Arial" pitchFamily="34" charset="-120"/>
              </a:rPr>
              <a:t>YOU WILL BE ASKED THESE</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16191D"/>
                </a:solidFill>
                <a:latin typeface="Arial" pitchFamily="34" charset="0"/>
                <a:ea typeface="Arial" pitchFamily="34" charset="-122"/>
                <a:cs typeface="Arial" pitchFamily="34" charset="-120"/>
              </a:rPr>
              <a:t>Interview questions from these two sessions</a:t>
            </a:r>
            <a:endParaRPr lang="en-US" sz="2800" dirty="0"/>
          </a:p>
        </p:txBody>
      </p:sp>
      <p:sp>
        <p:nvSpPr>
          <p:cNvPr id="4" name="Shape 2"/>
          <p:cNvSpPr/>
          <p:nvPr/>
        </p:nvSpPr>
        <p:spPr>
          <a:xfrm>
            <a:off x="502920" y="1280160"/>
            <a:ext cx="8183880" cy="621792"/>
          </a:xfrm>
          <a:prstGeom prst="roundRect">
            <a:avLst>
              <a:gd name="adj" fmla="val 8824"/>
            </a:avLst>
          </a:prstGeom>
          <a:solidFill>
            <a:srgbClr val="F3F5F7"/>
          </a:solidFill>
          <a:ln w="12700">
            <a:solidFill>
              <a:srgbClr val="D5DCE3"/>
            </a:solidFill>
            <a:prstDash val="solid"/>
          </a:ln>
        </p:spPr>
      </p:sp>
      <p:sp>
        <p:nvSpPr>
          <p:cNvPr id="5" name="Text 3"/>
          <p:cNvSpPr txBox="1"/>
          <p:nvPr/>
        </p:nvSpPr>
        <p:spPr>
          <a:xfrm>
            <a:off x="731520" y="1335024"/>
            <a:ext cx="3017520" cy="530352"/>
          </a:xfrm>
          <a:prstGeom prst="rect">
            <a:avLst/>
          </a:prstGeom>
          <a:noFill/>
          <a:ln/>
        </p:spPr>
        <p:txBody>
          <a:bodyPr wrap="square" lIns="0" tIns="0" rIns="0" bIns="0" rtlCol="0" anchor="ctr"/>
          <a:lstStyle/>
          <a:p>
            <a:pPr indent="0" marL="0">
              <a:buNone/>
            </a:pPr>
            <a:r>
              <a:rPr lang="en-US" sz="1050" b="1" dirty="0">
                <a:solidFill>
                  <a:srgbClr val="16191D"/>
                </a:solidFill>
                <a:latin typeface="Calibri" pitchFamily="34" charset="0"/>
                <a:ea typeface="Calibri" pitchFamily="34" charset="-122"/>
                <a:cs typeface="Calibri" pitchFamily="34" charset="-120"/>
              </a:rPr>
              <a:t>What is the difference between Git and GitHub?</a:t>
            </a:r>
            <a:endParaRPr lang="en-US" sz="1050" dirty="0"/>
          </a:p>
        </p:txBody>
      </p:sp>
      <p:sp>
        <p:nvSpPr>
          <p:cNvPr id="6" name="Text 4"/>
          <p:cNvSpPr txBox="1"/>
          <p:nvPr/>
        </p:nvSpPr>
        <p:spPr>
          <a:xfrm>
            <a:off x="3886200" y="1335024"/>
            <a:ext cx="4617720" cy="530352"/>
          </a:xfrm>
          <a:prstGeom prst="rect">
            <a:avLst/>
          </a:prstGeom>
          <a:noFill/>
          <a:ln/>
        </p:spPr>
        <p:txBody>
          <a:bodyPr wrap="square" lIns="0" tIns="0" rIns="0" bIns="0" rtlCol="0" anchor="ctr"/>
          <a:lstStyle/>
          <a:p>
            <a:pPr indent="0" marL="0">
              <a:lnSpc>
                <a:spcPct val="115000"/>
              </a:lnSpc>
              <a:buNone/>
            </a:pPr>
            <a:r>
              <a:rPr lang="en-US" sz="950" dirty="0">
                <a:solidFill>
                  <a:srgbClr val="5A6572"/>
                </a:solidFill>
                <a:latin typeface="Calibri" pitchFamily="34" charset="0"/>
                <a:ea typeface="Calibri" pitchFamily="34" charset="-122"/>
                <a:cs typeface="Calibri" pitchFamily="34" charset="-120"/>
              </a:rPr>
              <a:t>Git = version control tool on your machine, works offline. GitHub = website hosting Git repos, adds PRs, reviews, Issues.</a:t>
            </a:r>
            <a:endParaRPr lang="en-US" sz="950" dirty="0"/>
          </a:p>
        </p:txBody>
      </p:sp>
      <p:sp>
        <p:nvSpPr>
          <p:cNvPr id="7" name="Shape 5"/>
          <p:cNvSpPr/>
          <p:nvPr/>
        </p:nvSpPr>
        <p:spPr>
          <a:xfrm>
            <a:off x="502920" y="1975104"/>
            <a:ext cx="8183880" cy="621792"/>
          </a:xfrm>
          <a:prstGeom prst="roundRect">
            <a:avLst>
              <a:gd name="adj" fmla="val 8824"/>
            </a:avLst>
          </a:prstGeom>
          <a:solidFill>
            <a:srgbClr val="FFFFFF"/>
          </a:solidFill>
          <a:ln w="12700">
            <a:solidFill>
              <a:srgbClr val="D5DCE3"/>
            </a:solidFill>
            <a:prstDash val="solid"/>
          </a:ln>
        </p:spPr>
      </p:sp>
      <p:sp>
        <p:nvSpPr>
          <p:cNvPr id="8" name="Text 6"/>
          <p:cNvSpPr txBox="1"/>
          <p:nvPr/>
        </p:nvSpPr>
        <p:spPr>
          <a:xfrm>
            <a:off x="731520" y="2029968"/>
            <a:ext cx="3017520" cy="530352"/>
          </a:xfrm>
          <a:prstGeom prst="rect">
            <a:avLst/>
          </a:prstGeom>
          <a:noFill/>
          <a:ln/>
        </p:spPr>
        <p:txBody>
          <a:bodyPr wrap="square" lIns="0" tIns="0" rIns="0" bIns="0" rtlCol="0" anchor="ctr"/>
          <a:lstStyle/>
          <a:p>
            <a:pPr indent="0" marL="0">
              <a:buNone/>
            </a:pPr>
            <a:r>
              <a:rPr lang="en-US" sz="1050" b="1" dirty="0">
                <a:solidFill>
                  <a:srgbClr val="16191D"/>
                </a:solidFill>
                <a:latin typeface="Calibri" pitchFamily="34" charset="0"/>
                <a:ea typeface="Calibri" pitchFamily="34" charset="-122"/>
                <a:cs typeface="Calibri" pitchFamily="34" charset="-120"/>
              </a:rPr>
              <a:t>What is a Pull Request?</a:t>
            </a:r>
            <a:endParaRPr lang="en-US" sz="1050" dirty="0"/>
          </a:p>
        </p:txBody>
      </p:sp>
      <p:sp>
        <p:nvSpPr>
          <p:cNvPr id="9" name="Text 7"/>
          <p:cNvSpPr txBox="1"/>
          <p:nvPr/>
        </p:nvSpPr>
        <p:spPr>
          <a:xfrm>
            <a:off x="3886200" y="2029968"/>
            <a:ext cx="4617720" cy="530352"/>
          </a:xfrm>
          <a:prstGeom prst="rect">
            <a:avLst/>
          </a:prstGeom>
          <a:noFill/>
          <a:ln/>
        </p:spPr>
        <p:txBody>
          <a:bodyPr wrap="square" lIns="0" tIns="0" rIns="0" bIns="0" rtlCol="0" anchor="ctr"/>
          <a:lstStyle/>
          <a:p>
            <a:pPr indent="0" marL="0">
              <a:lnSpc>
                <a:spcPct val="115000"/>
              </a:lnSpc>
              <a:buNone/>
            </a:pPr>
            <a:r>
              <a:rPr lang="en-US" sz="950" dirty="0">
                <a:solidFill>
                  <a:srgbClr val="5A6572"/>
                </a:solidFill>
                <a:latin typeface="Calibri" pitchFamily="34" charset="0"/>
                <a:ea typeface="Calibri" pitchFamily="34" charset="-122"/>
                <a:cs typeface="Calibri" pitchFamily="34" charset="-120"/>
              </a:rPr>
              <a:t>A request to merge your branch into another, plus a review conversation and a permanent record. A GitHub feature, not a Git command.</a:t>
            </a:r>
            <a:endParaRPr lang="en-US" sz="950" dirty="0"/>
          </a:p>
        </p:txBody>
      </p:sp>
      <p:sp>
        <p:nvSpPr>
          <p:cNvPr id="10" name="Shape 8"/>
          <p:cNvSpPr/>
          <p:nvPr/>
        </p:nvSpPr>
        <p:spPr>
          <a:xfrm>
            <a:off x="502920" y="2670048"/>
            <a:ext cx="8183880" cy="621792"/>
          </a:xfrm>
          <a:prstGeom prst="roundRect">
            <a:avLst>
              <a:gd name="adj" fmla="val 8824"/>
            </a:avLst>
          </a:prstGeom>
          <a:solidFill>
            <a:srgbClr val="F3F5F7"/>
          </a:solidFill>
          <a:ln w="12700">
            <a:solidFill>
              <a:srgbClr val="D5DCE3"/>
            </a:solidFill>
            <a:prstDash val="solid"/>
          </a:ln>
        </p:spPr>
      </p:sp>
      <p:sp>
        <p:nvSpPr>
          <p:cNvPr id="11" name="Text 9"/>
          <p:cNvSpPr txBox="1"/>
          <p:nvPr/>
        </p:nvSpPr>
        <p:spPr>
          <a:xfrm>
            <a:off x="731520" y="2724912"/>
            <a:ext cx="3017520" cy="530352"/>
          </a:xfrm>
          <a:prstGeom prst="rect">
            <a:avLst/>
          </a:prstGeom>
          <a:noFill/>
          <a:ln/>
        </p:spPr>
        <p:txBody>
          <a:bodyPr wrap="square" lIns="0" tIns="0" rIns="0" bIns="0" rtlCol="0" anchor="ctr"/>
          <a:lstStyle/>
          <a:p>
            <a:pPr indent="0" marL="0">
              <a:buNone/>
            </a:pPr>
            <a:r>
              <a:rPr lang="en-US" sz="1050" b="1" dirty="0">
                <a:solidFill>
                  <a:srgbClr val="16191D"/>
                </a:solidFill>
                <a:latin typeface="Calibri" pitchFamily="34" charset="0"/>
                <a:ea typeface="Calibri" pitchFamily="34" charset="-122"/>
                <a:cs typeface="Calibri" pitchFamily="34" charset="-120"/>
              </a:rPr>
              <a:t>How do you resolve a merge conflict?</a:t>
            </a:r>
            <a:endParaRPr lang="en-US" sz="1050" dirty="0"/>
          </a:p>
        </p:txBody>
      </p:sp>
      <p:sp>
        <p:nvSpPr>
          <p:cNvPr id="12" name="Text 10"/>
          <p:cNvSpPr txBox="1"/>
          <p:nvPr/>
        </p:nvSpPr>
        <p:spPr>
          <a:xfrm>
            <a:off x="3886200" y="2724912"/>
            <a:ext cx="4617720" cy="530352"/>
          </a:xfrm>
          <a:prstGeom prst="rect">
            <a:avLst/>
          </a:prstGeom>
          <a:noFill/>
          <a:ln/>
        </p:spPr>
        <p:txBody>
          <a:bodyPr wrap="square" lIns="0" tIns="0" rIns="0" bIns="0" rtlCol="0" anchor="ctr"/>
          <a:lstStyle/>
          <a:p>
            <a:pPr indent="0" marL="0">
              <a:lnSpc>
                <a:spcPct val="115000"/>
              </a:lnSpc>
              <a:buNone/>
            </a:pPr>
            <a:r>
              <a:rPr lang="en-US" sz="950" dirty="0">
                <a:solidFill>
                  <a:srgbClr val="5A6572"/>
                </a:solidFill>
                <a:latin typeface="Calibri" pitchFamily="34" charset="0"/>
                <a:ea typeface="Calibri" pitchFamily="34" charset="-122"/>
                <a:cs typeface="Calibri" pitchFamily="34" charset="-120"/>
              </a:rPr>
              <a:t>Pull/merge the target branch, open the conflicted file, read BOTH sides, write the correct final version, delete the markers, add, commit, push.</a:t>
            </a:r>
            <a:endParaRPr lang="en-US" sz="950" dirty="0"/>
          </a:p>
        </p:txBody>
      </p:sp>
      <p:sp>
        <p:nvSpPr>
          <p:cNvPr id="13" name="Shape 11"/>
          <p:cNvSpPr/>
          <p:nvPr/>
        </p:nvSpPr>
        <p:spPr>
          <a:xfrm>
            <a:off x="502920" y="3364992"/>
            <a:ext cx="8183880" cy="621792"/>
          </a:xfrm>
          <a:prstGeom prst="roundRect">
            <a:avLst>
              <a:gd name="adj" fmla="val 8824"/>
            </a:avLst>
          </a:prstGeom>
          <a:solidFill>
            <a:srgbClr val="FFFFFF"/>
          </a:solidFill>
          <a:ln w="12700">
            <a:solidFill>
              <a:srgbClr val="D5DCE3"/>
            </a:solidFill>
            <a:prstDash val="solid"/>
          </a:ln>
        </p:spPr>
      </p:sp>
      <p:sp>
        <p:nvSpPr>
          <p:cNvPr id="14" name="Text 12"/>
          <p:cNvSpPr txBox="1"/>
          <p:nvPr/>
        </p:nvSpPr>
        <p:spPr>
          <a:xfrm>
            <a:off x="731520" y="3419856"/>
            <a:ext cx="3017520" cy="530352"/>
          </a:xfrm>
          <a:prstGeom prst="rect">
            <a:avLst/>
          </a:prstGeom>
          <a:noFill/>
          <a:ln/>
        </p:spPr>
        <p:txBody>
          <a:bodyPr wrap="square" lIns="0" tIns="0" rIns="0" bIns="0" rtlCol="0" anchor="ctr"/>
          <a:lstStyle/>
          <a:p>
            <a:pPr indent="0" marL="0">
              <a:buNone/>
            </a:pPr>
            <a:r>
              <a:rPr lang="en-US" sz="1050" b="1" dirty="0">
                <a:solidFill>
                  <a:srgbClr val="16191D"/>
                </a:solidFill>
                <a:latin typeface="Calibri" pitchFamily="34" charset="0"/>
                <a:ea typeface="Calibri" pitchFamily="34" charset="-122"/>
                <a:cs typeface="Calibri" pitchFamily="34" charset="-120"/>
              </a:rPr>
              <a:t>Why not commit directly to main?</a:t>
            </a:r>
            <a:endParaRPr lang="en-US" sz="1050" dirty="0"/>
          </a:p>
        </p:txBody>
      </p:sp>
      <p:sp>
        <p:nvSpPr>
          <p:cNvPr id="15" name="Text 13"/>
          <p:cNvSpPr txBox="1"/>
          <p:nvPr/>
        </p:nvSpPr>
        <p:spPr>
          <a:xfrm>
            <a:off x="3886200" y="3419856"/>
            <a:ext cx="4617720" cy="530352"/>
          </a:xfrm>
          <a:prstGeom prst="rect">
            <a:avLst/>
          </a:prstGeom>
          <a:noFill/>
          <a:ln/>
        </p:spPr>
        <p:txBody>
          <a:bodyPr wrap="square" lIns="0" tIns="0" rIns="0" bIns="0" rtlCol="0" anchor="ctr"/>
          <a:lstStyle/>
          <a:p>
            <a:pPr indent="0" marL="0">
              <a:lnSpc>
                <a:spcPct val="115000"/>
              </a:lnSpc>
              <a:buNone/>
            </a:pPr>
            <a:r>
              <a:rPr lang="en-US" sz="950" dirty="0">
                <a:solidFill>
                  <a:srgbClr val="5A6572"/>
                </a:solidFill>
                <a:latin typeface="Calibri" pitchFamily="34" charset="0"/>
                <a:ea typeface="Calibri" pitchFamily="34" charset="-122"/>
                <a:cs typeface="Calibri" pitchFamily="34" charset="-120"/>
              </a:rPr>
              <a:t>No review, no record, no tests, and a broken main blocks the whole team. Branch protection usually forbids it.</a:t>
            </a:r>
            <a:endParaRPr lang="en-US" sz="950" dirty="0"/>
          </a:p>
        </p:txBody>
      </p:sp>
      <p:sp>
        <p:nvSpPr>
          <p:cNvPr id="16" name="Shape 14"/>
          <p:cNvSpPr/>
          <p:nvPr/>
        </p:nvSpPr>
        <p:spPr>
          <a:xfrm>
            <a:off x="502920" y="4059936"/>
            <a:ext cx="8183880" cy="621792"/>
          </a:xfrm>
          <a:prstGeom prst="roundRect">
            <a:avLst>
              <a:gd name="adj" fmla="val 8824"/>
            </a:avLst>
          </a:prstGeom>
          <a:solidFill>
            <a:srgbClr val="F3F5F7"/>
          </a:solidFill>
          <a:ln w="12700">
            <a:solidFill>
              <a:srgbClr val="D5DCE3"/>
            </a:solidFill>
            <a:prstDash val="solid"/>
          </a:ln>
        </p:spPr>
      </p:sp>
      <p:sp>
        <p:nvSpPr>
          <p:cNvPr id="17" name="Text 15"/>
          <p:cNvSpPr txBox="1"/>
          <p:nvPr/>
        </p:nvSpPr>
        <p:spPr>
          <a:xfrm>
            <a:off x="731520" y="4114800"/>
            <a:ext cx="3017520" cy="530352"/>
          </a:xfrm>
          <a:prstGeom prst="rect">
            <a:avLst/>
          </a:prstGeom>
          <a:noFill/>
          <a:ln/>
        </p:spPr>
        <p:txBody>
          <a:bodyPr wrap="square" lIns="0" tIns="0" rIns="0" bIns="0" rtlCol="0" anchor="ctr"/>
          <a:lstStyle/>
          <a:p>
            <a:pPr indent="0" marL="0">
              <a:buNone/>
            </a:pPr>
            <a:r>
              <a:rPr lang="en-US" sz="1050" b="1" dirty="0">
                <a:solidFill>
                  <a:srgbClr val="16191D"/>
                </a:solidFill>
                <a:latin typeface="Calibri" pitchFamily="34" charset="0"/>
                <a:ea typeface="Calibri" pitchFamily="34" charset="-122"/>
                <a:cs typeface="Calibri" pitchFamily="34" charset="-120"/>
              </a:rPr>
              <a:t>What goes in .gitignore, and why?</a:t>
            </a:r>
            <a:endParaRPr lang="en-US" sz="1050" dirty="0"/>
          </a:p>
        </p:txBody>
      </p:sp>
      <p:sp>
        <p:nvSpPr>
          <p:cNvPr id="18" name="Text 16"/>
          <p:cNvSpPr txBox="1"/>
          <p:nvPr/>
        </p:nvSpPr>
        <p:spPr>
          <a:xfrm>
            <a:off x="3886200" y="4114800"/>
            <a:ext cx="4617720" cy="530352"/>
          </a:xfrm>
          <a:prstGeom prst="rect">
            <a:avLst/>
          </a:prstGeom>
          <a:noFill/>
          <a:ln/>
        </p:spPr>
        <p:txBody>
          <a:bodyPr wrap="square" lIns="0" tIns="0" rIns="0" bIns="0" rtlCol="0" anchor="ctr"/>
          <a:lstStyle/>
          <a:p>
            <a:pPr indent="0" marL="0">
              <a:lnSpc>
                <a:spcPct val="115000"/>
              </a:lnSpc>
              <a:buNone/>
            </a:pPr>
            <a:r>
              <a:rPr lang="en-US" sz="950" dirty="0">
                <a:solidFill>
                  <a:srgbClr val="5A6572"/>
                </a:solidFill>
                <a:latin typeface="Calibri" pitchFamily="34" charset="0"/>
                <a:ea typeface="Calibri" pitchFamily="34" charset="-122"/>
                <a:cs typeface="Calibri" pitchFamily="34" charset="-120"/>
              </a:rPr>
              <a:t>venv, __pycache__, .env, IDE folders. Secrets must never be committed — Git history keeps them forever.</a:t>
            </a:r>
            <a:endParaRPr lang="en-US" sz="950" dirty="0"/>
          </a:p>
        </p:txBody>
      </p:sp>
      <p:sp>
        <p:nvSpPr>
          <p:cNvPr id="19" name="Text 17"/>
          <p:cNvSpPr txBox="1"/>
          <p:nvPr/>
        </p:nvSpPr>
        <p:spPr>
          <a:xfrm>
            <a:off x="502920" y="4736592"/>
            <a:ext cx="8138160" cy="256032"/>
          </a:xfrm>
          <a:prstGeom prst="rect">
            <a:avLst/>
          </a:prstGeom>
          <a:noFill/>
          <a:ln/>
        </p:spPr>
        <p:txBody>
          <a:bodyPr wrap="square" lIns="0" tIns="0" rIns="0" bIns="0" rtlCol="0" anchor="ctr"/>
          <a:lstStyle/>
          <a:p>
            <a:pPr indent="0" marL="0">
              <a:buNone/>
            </a:pPr>
            <a:r>
              <a:rPr lang="en-US" sz="1000" i="1" dirty="0">
                <a:solidFill>
                  <a:srgbClr val="8A94A0"/>
                </a:solidFill>
                <a:latin typeface="Calibri" pitchFamily="34" charset="0"/>
                <a:ea typeface="Calibri" pitchFamily="34" charset="-122"/>
                <a:cs typeface="Calibri" pitchFamily="34" charset="-120"/>
              </a:rPr>
              <a:t>KSR Trainings · Python Full Stack · CampusCart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502920" y="182880"/>
            <a:ext cx="8138160" cy="219456"/>
          </a:xfrm>
          <a:prstGeom prst="rect">
            <a:avLst/>
          </a:prstGeom>
          <a:noFill/>
          <a:ln/>
        </p:spPr>
        <p:txBody>
          <a:bodyPr wrap="square" lIns="0" tIns="0" rIns="0" bIns="0" rtlCol="0" anchor="ctr"/>
          <a:lstStyle/>
          <a:p>
            <a:pPr indent="0" marL="0">
              <a:buNone/>
            </a:pPr>
            <a:r>
              <a:rPr lang="en-US" sz="1000" b="1" spc="250" kern="0" dirty="0">
                <a:solidFill>
                  <a:srgbClr val="E04A29"/>
                </a:solidFill>
                <a:latin typeface="Arial" pitchFamily="34" charset="0"/>
                <a:ea typeface="Arial" pitchFamily="34" charset="-122"/>
                <a:cs typeface="Arial" pitchFamily="34" charset="-120"/>
              </a:rPr>
              <a:t>ASSIGNMENT · SUBMIT THE REPO URL</a:t>
            </a:r>
            <a:endParaRPr lang="en-US" sz="1000" dirty="0"/>
          </a:p>
        </p:txBody>
      </p:sp>
      <p:sp>
        <p:nvSpPr>
          <p:cNvPr id="3" name="Text 1"/>
          <p:cNvSpPr txBox="1"/>
          <p:nvPr/>
        </p:nvSpPr>
        <p:spPr>
          <a:xfrm>
            <a:off x="502920" y="457200"/>
            <a:ext cx="8138160" cy="804672"/>
          </a:xfrm>
          <a:prstGeom prst="rect">
            <a:avLst/>
          </a:prstGeom>
          <a:noFill/>
          <a:ln/>
        </p:spPr>
        <p:txBody>
          <a:bodyPr wrap="square" lIns="0" tIns="0" rIns="0" bIns="0" rtlCol="0" anchor="t"/>
          <a:lstStyle/>
          <a:p>
            <a:pPr indent="0" marL="0">
              <a:lnSpc>
                <a:spcPct val="108000"/>
              </a:lnSpc>
              <a:buNone/>
            </a:pPr>
            <a:r>
              <a:rPr lang="en-US" sz="2800" b="1" dirty="0">
                <a:solidFill>
                  <a:srgbClr val="FFFFFF"/>
                </a:solidFill>
                <a:latin typeface="Arial" pitchFamily="34" charset="0"/>
                <a:ea typeface="Arial" pitchFamily="34" charset="-122"/>
                <a:cs typeface="Arial" pitchFamily="34" charset="-120"/>
              </a:rPr>
              <a:t>Cause a conflict on purpose. Then fix it.</a:t>
            </a:r>
            <a:endParaRPr lang="en-US" sz="2800" dirty="0"/>
          </a:p>
        </p:txBody>
      </p:sp>
      <p:sp>
        <p:nvSpPr>
          <p:cNvPr id="4" name="Shape 2"/>
          <p:cNvSpPr/>
          <p:nvPr/>
        </p:nvSpPr>
        <p:spPr>
          <a:xfrm>
            <a:off x="502920" y="1325880"/>
            <a:ext cx="5029200" cy="2880360"/>
          </a:xfrm>
          <a:prstGeom prst="roundRect">
            <a:avLst>
              <a:gd name="adj" fmla="val 1905"/>
            </a:avLst>
          </a:prstGeom>
          <a:solidFill>
            <a:srgbClr val="20252B"/>
          </a:solidFill>
          <a:ln w="12700">
            <a:solidFill>
              <a:srgbClr val="3A424C"/>
            </a:solidFill>
            <a:prstDash val="solid"/>
          </a:ln>
        </p:spPr>
      </p:sp>
      <p:sp>
        <p:nvSpPr>
          <p:cNvPr id="5" name="Text 3"/>
          <p:cNvSpPr txBox="1"/>
          <p:nvPr/>
        </p:nvSpPr>
        <p:spPr>
          <a:xfrm>
            <a:off x="731520" y="1444752"/>
            <a:ext cx="4572000" cy="256032"/>
          </a:xfrm>
          <a:prstGeom prst="rect">
            <a:avLst/>
          </a:prstGeom>
          <a:noFill/>
          <a:ln/>
        </p:spPr>
        <p:txBody>
          <a:bodyPr wrap="square" lIns="0" tIns="0" rIns="0" bIns="0" rtlCol="0" anchor="ctr"/>
          <a:lstStyle/>
          <a:p>
            <a:pPr indent="0" marL="0">
              <a:buNone/>
            </a:pPr>
            <a:r>
              <a:rPr lang="en-US" sz="1200" b="1" dirty="0">
                <a:solidFill>
                  <a:srgbClr val="FFAA64"/>
                </a:solidFill>
                <a:latin typeface="Arial" pitchFamily="34" charset="0"/>
                <a:ea typeface="Arial" pitchFamily="34" charset="-122"/>
                <a:cs typeface="Arial" pitchFamily="34" charset="-120"/>
              </a:rPr>
              <a:t>In pairs</a:t>
            </a:r>
            <a:endParaRPr lang="en-US" sz="1200" dirty="0"/>
          </a:p>
        </p:txBody>
      </p:sp>
      <p:sp>
        <p:nvSpPr>
          <p:cNvPr id="6" name="Text 4"/>
          <p:cNvSpPr txBox="1"/>
          <p:nvPr/>
        </p:nvSpPr>
        <p:spPr>
          <a:xfrm>
            <a:off x="777240" y="1737360"/>
            <a:ext cx="4572000" cy="233172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One creates a repo with a README listing 3 features</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Add your partner as a collaborator (Write)</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Turn on branch protection: require a PR + 1 approval</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Both branch off main and edit THE SAME LINE of README</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Both push and raise a Pull Request</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Approve and merge the first PR</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Second person: resolve the conflict, keep BOTH changes</a:t>
            </a:r>
            <a:endParaRPr lang="en-US" sz="1050" dirty="0"/>
          </a:p>
          <a:p>
            <a:pPr marL="177800" indent="-177800">
              <a:spcAft>
                <a:spcPts val="600"/>
              </a:spcAft>
              <a:buSzPct val="100000"/>
              <a:buChar char="•"/>
            </a:pPr>
            <a:r>
              <a:rPr lang="en-US" sz="1050" dirty="0">
                <a:solidFill>
                  <a:srgbClr val="C9D1D9"/>
                </a:solidFill>
                <a:latin typeface="Calibri" pitchFamily="34" charset="0"/>
                <a:ea typeface="Calibri" pitchFamily="34" charset="-122"/>
                <a:cs typeface="Calibri" pitchFamily="34" charset="-120"/>
              </a:rPr>
              <a:t>Approve and merge the second PR</a:t>
            </a:r>
            <a:endParaRPr lang="en-US" sz="1050" dirty="0"/>
          </a:p>
        </p:txBody>
      </p:sp>
      <p:sp>
        <p:nvSpPr>
          <p:cNvPr id="7" name="Shape 5"/>
          <p:cNvSpPr/>
          <p:nvPr/>
        </p:nvSpPr>
        <p:spPr>
          <a:xfrm>
            <a:off x="5806440" y="1325880"/>
            <a:ext cx="2880360" cy="2880360"/>
          </a:xfrm>
          <a:prstGeom prst="roundRect">
            <a:avLst>
              <a:gd name="adj" fmla="val 1905"/>
            </a:avLst>
          </a:prstGeom>
          <a:solidFill>
            <a:srgbClr val="1B2A1F"/>
          </a:solidFill>
          <a:ln w="12700">
            <a:solidFill>
              <a:srgbClr val="2F5137"/>
            </a:solidFill>
            <a:prstDash val="solid"/>
          </a:ln>
        </p:spPr>
      </p:sp>
      <p:sp>
        <p:nvSpPr>
          <p:cNvPr id="8" name="Text 6"/>
          <p:cNvSpPr txBox="1"/>
          <p:nvPr/>
        </p:nvSpPr>
        <p:spPr>
          <a:xfrm>
            <a:off x="6035040" y="1444752"/>
            <a:ext cx="2468880" cy="237744"/>
          </a:xfrm>
          <a:prstGeom prst="rect">
            <a:avLst/>
          </a:prstGeom>
          <a:noFill/>
          <a:ln/>
        </p:spPr>
        <p:txBody>
          <a:bodyPr wrap="square" lIns="0" tIns="0" rIns="0" bIns="0" rtlCol="0" anchor="ctr"/>
          <a:lstStyle/>
          <a:p>
            <a:pPr indent="0" marL="0">
              <a:buNone/>
            </a:pPr>
            <a:r>
              <a:rPr lang="en-US" sz="950" b="1" spc="150" kern="0" dirty="0">
                <a:solidFill>
                  <a:srgbClr val="8FE3A3"/>
                </a:solidFill>
                <a:latin typeface="Arial" pitchFamily="34" charset="0"/>
                <a:ea typeface="Arial" pitchFamily="34" charset="-122"/>
                <a:cs typeface="Arial" pitchFamily="34" charset="-120"/>
              </a:rPr>
              <a:t>DONE WHEN</a:t>
            </a:r>
            <a:endParaRPr lang="en-US" sz="950" dirty="0"/>
          </a:p>
        </p:txBody>
      </p:sp>
      <p:sp>
        <p:nvSpPr>
          <p:cNvPr id="9" name="Text 7"/>
          <p:cNvSpPr txBox="1"/>
          <p:nvPr/>
        </p:nvSpPr>
        <p:spPr>
          <a:xfrm>
            <a:off x="6035040" y="1755648"/>
            <a:ext cx="2468880" cy="1645920"/>
          </a:xfrm>
          <a:prstGeom prst="rect">
            <a:avLst/>
          </a:prstGeom>
          <a:noFill/>
          <a:ln/>
        </p:spPr>
        <p:txBody>
          <a:bodyPr wrap="square" lIns="0" tIns="0" rIns="0" bIns="0" rtlCol="0" anchor="t"/>
          <a:lstStyle/>
          <a:p>
            <a:pPr marL="177800" indent="-177800">
              <a:spcAft>
                <a:spcPts val="700"/>
              </a:spcAft>
              <a:buSzPct val="100000"/>
              <a:buChar char="•"/>
            </a:pPr>
            <a:r>
              <a:rPr lang="en-US" sz="1050" dirty="0">
                <a:solidFill>
                  <a:srgbClr val="C9D1D9"/>
                </a:solidFill>
                <a:latin typeface="Calibri" pitchFamily="34" charset="0"/>
                <a:ea typeface="Calibri" pitchFamily="34" charset="-122"/>
                <a:cs typeface="Calibri" pitchFamily="34" charset="-120"/>
              </a:rPr>
              <a:t>main has both changes</a:t>
            </a:r>
            <a:endParaRPr lang="en-US" sz="1050" dirty="0"/>
          </a:p>
          <a:p>
            <a:pPr marL="177800" indent="-177800">
              <a:spcAft>
                <a:spcPts val="700"/>
              </a:spcAft>
              <a:buSzPct val="100000"/>
              <a:buChar char="•"/>
            </a:pPr>
            <a:r>
              <a:rPr lang="en-US" sz="1050" dirty="0">
                <a:solidFill>
                  <a:srgbClr val="C9D1D9"/>
                </a:solidFill>
                <a:latin typeface="Calibri" pitchFamily="34" charset="0"/>
                <a:ea typeface="Calibri" pitchFamily="34" charset="-122"/>
                <a:cs typeface="Calibri" pitchFamily="34" charset="-120"/>
              </a:rPr>
              <a:t>Two merged PRs, each with an approval</a:t>
            </a:r>
            <a:endParaRPr lang="en-US" sz="1050" dirty="0"/>
          </a:p>
          <a:p>
            <a:pPr marL="177800" indent="-177800">
              <a:spcAft>
                <a:spcPts val="700"/>
              </a:spcAft>
              <a:buSzPct val="100000"/>
              <a:buChar char="•"/>
            </a:pPr>
            <a:r>
              <a:rPr lang="en-US" sz="1050" dirty="0">
                <a:solidFill>
                  <a:srgbClr val="C9D1D9"/>
                </a:solidFill>
                <a:latin typeface="Calibri" pitchFamily="34" charset="0"/>
                <a:ea typeface="Calibri" pitchFamily="34" charset="-122"/>
                <a:cs typeface="Calibri" pitchFamily="34" charset="-120"/>
              </a:rPr>
              <a:t>At least one PR shows a resolved conflict</a:t>
            </a:r>
            <a:endParaRPr lang="en-US" sz="1050" dirty="0"/>
          </a:p>
          <a:p>
            <a:pPr marL="177800" indent="-177800">
              <a:spcAft>
                <a:spcPts val="700"/>
              </a:spcAft>
              <a:buSzPct val="100000"/>
              <a:buChar char="•"/>
            </a:pPr>
            <a:r>
              <a:rPr lang="en-US" sz="1050" dirty="0">
                <a:solidFill>
                  <a:srgbClr val="C9D1D9"/>
                </a:solidFill>
                <a:latin typeface="Calibri" pitchFamily="34" charset="0"/>
                <a:ea typeface="Calibri" pitchFamily="34" charset="-122"/>
                <a:cs typeface="Calibri" pitchFamily="34" charset="-120"/>
              </a:rPr>
              <a:t>Feature branches deleted</a:t>
            </a:r>
            <a:endParaRPr lang="en-US" sz="1050" dirty="0"/>
          </a:p>
          <a:p>
            <a:pPr marL="177800" indent="-177800">
              <a:spcAft>
                <a:spcPts val="700"/>
              </a:spcAft>
              <a:buSzPct val="100000"/>
              <a:buChar char="•"/>
            </a:pPr>
            <a:r>
              <a:rPr lang="en-US" sz="1050" dirty="0">
                <a:solidFill>
                  <a:srgbClr val="C9D1D9"/>
                </a:solidFill>
                <a:latin typeface="Calibri" pitchFamily="34" charset="0"/>
                <a:ea typeface="Calibri" pitchFamily="34" charset="-122"/>
                <a:cs typeface="Calibri" pitchFamily="34" charset="-120"/>
              </a:rPr>
              <a:t>No .env or venv committed</a:t>
            </a:r>
            <a:endParaRPr lang="en-US" sz="1050" dirty="0"/>
          </a:p>
        </p:txBody>
      </p:sp>
      <p:sp>
        <p:nvSpPr>
          <p:cNvPr id="10" name="Text 8"/>
          <p:cNvSpPr txBox="1"/>
          <p:nvPr/>
        </p:nvSpPr>
        <p:spPr>
          <a:xfrm>
            <a:off x="6035040" y="3520440"/>
            <a:ext cx="2468880" cy="548640"/>
          </a:xfrm>
          <a:prstGeom prst="rect">
            <a:avLst/>
          </a:prstGeom>
          <a:noFill/>
          <a:ln/>
        </p:spPr>
        <p:txBody>
          <a:bodyPr wrap="square" lIns="0" tIns="0" rIns="0" bIns="0" rtlCol="0" anchor="ctr"/>
          <a:lstStyle/>
          <a:p>
            <a:pPr indent="0" marL="0">
              <a:lnSpc>
                <a:spcPct val="120000"/>
              </a:lnSpc>
              <a:buNone/>
            </a:pPr>
            <a:r>
              <a:rPr lang="en-US" sz="1000" i="1" dirty="0">
                <a:solidFill>
                  <a:srgbClr val="8B949E"/>
                </a:solidFill>
                <a:latin typeface="Calibri" pitchFamily="34" charset="0"/>
                <a:ea typeface="Calibri" pitchFamily="34" charset="-122"/>
                <a:cs typeface="Calibri" pitchFamily="34" charset="-120"/>
              </a:rPr>
              <a:t>Submit: the repo URL + a screenshot of the conflict you resolved.</a:t>
            </a:r>
            <a:endParaRPr lang="en-US" sz="1000" dirty="0"/>
          </a:p>
        </p:txBody>
      </p:sp>
      <p:sp>
        <p:nvSpPr>
          <p:cNvPr id="11" name="Text 9"/>
          <p:cNvSpPr txBox="1"/>
          <p:nvPr/>
        </p:nvSpPr>
        <p:spPr>
          <a:xfrm>
            <a:off x="502920" y="4370832"/>
            <a:ext cx="8183880" cy="292608"/>
          </a:xfrm>
          <a:prstGeom prst="rect">
            <a:avLst/>
          </a:prstGeom>
          <a:noFill/>
          <a:ln/>
        </p:spPr>
        <p:txBody>
          <a:bodyPr wrap="square" lIns="0" tIns="0" rIns="0" bIns="0" rtlCol="0" anchor="ctr"/>
          <a:lstStyle/>
          <a:p>
            <a:pPr algn="ctr" indent="0" marL="0">
              <a:buNone/>
            </a:pPr>
            <a:r>
              <a:rPr lang="en-US" sz="1350" b="1" dirty="0">
                <a:solidFill>
                  <a:srgbClr val="FFAA64"/>
                </a:solidFill>
                <a:latin typeface="Arial" pitchFamily="34" charset="0"/>
                <a:ea typeface="Arial" pitchFamily="34" charset="-122"/>
                <a:cs typeface="Arial" pitchFamily="34" charset="-120"/>
              </a:rPr>
              <a:t>You have now done everything a first-week developer is expected to do.</a:t>
            </a:r>
            <a:endParaRPr lang="en-US" sz="1350" dirty="0"/>
          </a:p>
        </p:txBody>
      </p:sp>
      <p:sp>
        <p:nvSpPr>
          <p:cNvPr id="12" name="Text 10"/>
          <p:cNvSpPr txBox="1"/>
          <p:nvPr/>
        </p:nvSpPr>
        <p:spPr>
          <a:xfrm>
            <a:off x="502920" y="4736592"/>
            <a:ext cx="8138160" cy="256032"/>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KSR Trainings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GitHub — Working as a Team (Session 2)</dc:title>
  <dc:subject>KSR Trainings · Python Full Stack</dc:subject>
  <dc:creator>KSR Trainings</dc:creator>
  <cp:lastModifiedBy>KSR Trainings</cp:lastModifiedBy>
  <cp:revision>1</cp:revision>
  <dcterms:created xsi:type="dcterms:W3CDTF">2026-09-14T14:53:34Z</dcterms:created>
  <dcterms:modified xsi:type="dcterms:W3CDTF">2026-09-14T14:53:34Z</dcterms:modified>
</cp:coreProperties>
</file>
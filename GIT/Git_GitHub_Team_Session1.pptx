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OF 2 — 90 minutes.
ASSUMES NO PRIOR GIT KNOWLEDGE. Everything is taught and demonstrated from scratch here —
do not rely on anything they may or may not have seen in an earlier module.
WHAT THEY CAN DO BY THE END:
- Explain the difference between Git and GitHub without hesitating
- Set up Git and GitHub on their own laptop, including a working access token
- Initialise a repo, stage, commit and push it to GitHub
- Clone a shared repo, create a feature branch off main, commit and push it
- Understand why the TL guards main and why they never commit to it directly
OPENING LINE:
"Today we build a project the way a real team builds one. We start from an empty folder,
and by the end there will be two people working on it at once."
BEFORE CLASS (run this once, see the setup slide for full commands):
- Two terminal tabs open, one tinted for TL and one for DEV
- ~/gitdemo/TL_campuscart and ~/gitdemo/DEV_campuscart
- Browser logged into GitHub, repo page open
- git config --global pull.rebase false   &lt;-- IMPORTANT, prevents a fatal error in Session 2
Do NOT skip the cold open. The pain has to land before the tool makes sense.
STRUCTURE OF THIS SESSION:
  Slides 2-7    why Git exists (concepts, no laptops)
  Slides 8-12   STUDENT SETUP — laptops open, hands-on, ~15 min
  Slides 13-25  the two-person demo (they watch, you drive)
  Slide 26      homework
TELL STUDENTS TO BRING LAPTOPS. Without them the setup block cannot happen, and without
setup nobody can do the homework or next session's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 do not answer it yourself:
"Honestly — how many of you have a folder like this right now?"
Wait for hands. Let them laugh. Hands WILL go up.
THEN ASK:
"Ravi fixed the cart bug. Priya fixed the login bug. Both started from the same zip.
How do you combine their work?"
Correct answer: somebody opens both folders and copy-pastes by hand. And somebody's work gets lost.
DO NOT say the word 'Git' yet. Let the pain sit for a minute.
TIME: 4 min. This slide earns the next 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these five out loud, slowly. Point at each one.
Number 1 is the killer — say it twice:
"Somebody's whole day of work disappeared, and nobody even noticed until the demo."
Number 4 is the one freshers underestimate. In a company you cannot have 6 developers
taking turns. Everyone works at once, every single day.
TIE BACK: "Every one of these five is solved by one tool. Not by being more careful."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NOT the numbers. It is this sentence:
"At 4 people, zip files are painful. At 400 people, they are impossible.
The industry did not get more disciplined — it got a tool."
HDFC line matters for placement interviews: regulated industries need an AUDIT TRAIL.
Git gives that for free — every line of code has a name and a timestamp attached forever.
If someone asks "do small companies use Git too?" — answer: every company, from 2-person
startups to 400-person teams. There is no company where you will not use it. That is why
this is in the syllabus.
TIME: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say it back. Genuinely — ask the class to repeat "time machine, and many people at once."
Split the sentence for them so they know the shape of the session:
"The first half — the time machine — we build in the next twenty minutes.
The second half — many people at once — is everything after that."
TIME: 1 min. Move fast, this is a punctuation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2 (parallel work) is the whole reason for today's session. Flag it:
"Number 2 is what we are going to DO on this laptop in 20 minutes. You will watch two
people change the same project at the same time."
Power 4 is the one that makes people brave. Say it plainly:
"You stop being scared of your own code. The worst case is you delete a branch."
Power 3 wins interviews — tie it to HDFC from the previous slide.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AN INTERVIEW QUESTION. Tell them that directly.
The analogy that works:
"Git is like MS Word — the program on your laptop that saves versions of a document.
GitHub is like Google Drive — the website where you keep it so others can see it."
PROOF TO OFFER: "Pull Request is NOT a git command. Type 'git pull-request' — nothing happens.
It is a GitHub button. That is the cleanest way to remember which is which."
Optional live proof (10 seconds, very convincing):
  $ git --version          &lt;- works with wifi off
  $ git commit -m "test"   &lt;- works with wifi off
"Your commits do not need internet. Only push and pull do."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TEACHING. Everyone opens a laptop now. This block is hands-on.
Say the plan out loud so nobody drifts:
"Four things. We do them together, right now, in about fifteen minutes. If you get stuck,
put your hand up and keep it up — I will come to you while the others carry on."
MANAGE THE ROOM:
- Ask who already has a GitHub account. Pair anyone stuck with someone who is done.
- Students who finish early: tell them to help their neighbour. It is faster than you
  walking to every desk, and explaining it cements it for them.
Number 4 is the one that will eat your time. Everyone will get stuck there, not on signup.
Do not let anyone skip it — "I will do it at home" means they arrive next session unable
to push, and the assignment stalls.
TIME: 1 min to set up the block. The next four slides are the block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these commands on the board or in the chat — students will mistype them otherwise.
Explain WHY the identity matters, or they will type junk:
"Every commit you make is permanently stamped with this name and email. It shows on GitHub,
it shows in git log, and it is what a recruiter sees on your contribution graph. Use your
real name, and the same email you will use for your GitHub account."
The email does NOT have to be the GitHub one for commits to work, but matching them is what
makes GitHub link your commits to your profile — which is the whole point of a portfolio.
So tell them: use the same email for both.
THE LAST TWO LINES ARE THERE FOR A REASON — both are real problems you will otherwise hit:
- init.defaultBranch main: without it, older Git creates a branch called "master" plus a
  long hint message. Then their branch name does not match anything in these slides.
- pull.rebase false: without it, on Git 2.34+ "git pull" does not merge, it ABORTS with
  "fatal: Need to specify how to reconcile divergent branches". It will happen in their
  assignment. Set it now and it never appears.
VERIFY EVERY STUDENT: they must be able to show you the output of git config --global --list
with all four lines. Do not move on until hands are down.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do this themselves on their own laptops — you walk the room.
MAKE THE USERNAME POINT SERIOUSLY. It is a two-minute decision they live with for years:
"In your interview you will say 'my projects are on GitHub, my username is ___'. Say that
sentence out loud in your head right now with the username you are about to type. If it is
embarrassing, pick a different one. Changing it later breaks every link you have shared."
Practical notes you will be asked:
- Username can be changed later in Settings, but old links stop working. Avoid.
- Use the SAME email you just put in git config, so GitHub links your commits to your profile.
- The verification email sometimes lands in spam — tell them before they ask.
- They must verify the email, or pushing is blocked.
If someone already has an account from school: fine, they skip this slide. Send them straight
to the token slide, because they almost certainly do not have a token.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BUDGET THE MOST TIME HERE. This is where classes lose thirty minutes. ***
Do it on the projector first, slowly, then let them follow. "Developer settings" is at the
very BOTTOM of the long Settings sidebar — everyone misses it. Point at it deliberately.
SETTINGS THAT MATTER when generating:
- Tokens (classic) is simpler than fine-grained. Use classic for this course.
- Expiry: 90 days is fine for the course. Tell them it WILL expire and that is normal —
  when it does, generate another. Nothing is broken.
- Scope: tick "repo" only. That is enough for everything in these two sessions.
SAY THIS BEFORE THEY CLICK GENERATE:
"The next screen shows the token exactly once. Before you click anything else, paste it
somewhere you will find it again — a notes file, your password manager. Not on a slide,
not in a WhatsApp group. It is a password."
TREAT IT LIKE A PASSWORD — this matters and ties to the secrets lesson in Session 2:
never commit it, never share it, never paste it into a chat. If it leaks, delete it on
GitHub and generate a new one.
WHERE IT GOES: when git asks for "Password:", paste the token. The password field will look
empty as you paste — that is normal, terminals hide it. Tell them, or they will paste
five times.
GOOD NEWS TO SHARE: they only do this once per machine. Git for Windows and macOS both save
it automatically (Git Credential Manager / osxkeychain), so later pushes just work.
TIME: 6 min. Expect to spend more. It is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STUDENT RUNS THIS. Do not take "it should be fine" for an answer — the only proof
that a setup works is a successful push.
Walk the room and look at three things on each laptop:
  1. the push output has no red
  2. the file is visible on github.com after a refresh
  3. their username is next to the commit (proves the email matched)
If number 3 fails but the push worked, their git config email does not match their GitHub
account email. Commits still work; they just will not count toward their profile. Fix it
with git config --global user.email and it applies from the next commit onward.
THE ERROR TABLE IS THE MOST USEFUL THING ON THIS SLIDE. Tell them to photograph it.
"Every one of these four will happen to you at some point. Read the error, find the line,
apply the fix. That is the whole skill."
Students who finish: have them delete the "proof" repo on GitHub, or keep it — harmless.
IF SOMEONE STILL CANNOT PUSH after this block: do not hold the class. Note their name, carry
on with the demos, and fix it with them in the break. They can still watch and learn
everything in Demos 1 to 5 without a working account.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THIS PROPERLY — assume they have never seen it. Every command in every demo
today is just movement between these four boxes, so the five minutes here pay for
themselves all session.
Walk left to right, naming the command that moves code between each pair:
  Working Directory --git add--&gt; Staging --git commit--&gt; Local Repo --git push--&gt; GitHub
THE STAGING AREA IS THE ONLY CONFUSING ONE. Use the packing analogy and be concrete:
"You fixed a bug AND started a half-finished feature. You want to save ONLY the bug fix.
git add is you putting just the bug fix into the box. git commit seals and labels it.
Without staging you would be forced to save everything you touched, finished or not."
The question that checks understanding — ask it, do not tell:
"Which of these four boxes can your teammates see?"
Answer: only the fourth. Nothing on your laptop exists for anyone else until you push.
That single idea explains most 'but it works on my machine' confusion later.
Second question if they are quick: "If my laptop is stolen right now, which boxes survive?"
Answer: only what has been pushed.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honestly — this is what their first month looks like:
"In your first job, nobody will let you push straight to main. Not because they don't
trust you — because they don't let ANYONE do it, including the TL. That is the rule,
not a punishment."
Point at the DEV row (highlighted): "This is you in 6 months. Learn this row properly."
If asked "who decides who is TL?" — usually experience, 4+ years. Not a title you
apply for on day one.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cast the way you would introduce characters in a story. Students remember
people far better than they remember commands.
"For the rest of today and all of next session, there are only two people in the world:
Meera the TL, and Arjun the developer. I am going to play both of them on this one laptop."
CRITICAL SETUP LINE — say it now so it is not confusing later:
"Both of them will create a branch off main at the same time. Meera is doing order history.
Arjun is doing product search. Neither one waits for the other. Watch what Git does with that."
Point at the green 'main' chip: "This branch must ALWAYS work. If main is broken, the whole
team is blocked and the demo to the client fails. That is why it is guarded."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BEFORE CLASS — do not do setup live, it wastes 10 minutes:
  git config --global pull.rebase false     # IMPORTANT: without this, 'git pull' aborts
                                            # with "Need to specify how to reconcile
                                            # divergent branches" on Git 2.34+
  mkdir -p ~/gitdemo &amp;&amp; cd ~/gitdemo
Then create the GitHub repo 'campuscart' (empty, no README) and follow DEMO 1.
IN-CLASS DISCIPLINE — this makes or breaks the demo:
1. Colour the two terminal tabs differently (orange-ish = TL, purple-ish = DEV).
   iTerm2/Terminal: Preferences -&gt; Profiles -&gt; Colors, or just two window themes.
2. EVERY TIME you switch tabs, say out loud: "Now I am Arjun" / "Now I am Meera".
   Students lose track otherwise, and the whole lesson collapses.
3. Run 'pwd' whenever you switch. Cheap, and it re-anchors the room.
Optional: set your prompt to show the folder and branch so it is visible on the projector.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 type these in the TL tab. Say "I am Meera" first.
  cd ~/gitdemo
  mkdir TL_campuscart &amp;&amp; cd TL_campuscart
  git init -b main
  git config user.name "Meera (TL)"
  git config user.email "meera@ksr.test"
  mkdir campuscart
  printf '# CampusCart\nCollege e-commerce portal.\n' &gt; README.md
  printf '.venv/\nvenv/\n__pycache__/\n*.pyc\n.env\n.idea/\n.DS_Store\n' &gt; .gitignore
  # create campuscart/urls.py and campuscart/views.py (any small stub)
  git status --short          # three ?? lines
  git add .
  git commit -m "Initial commit: CampusCart skeleton with gitignore"
  git log --oneline
VERIFIED OUTPUT: commit hash will differ from de088a3 on your machine — say so, so nobody
thinks they did it wrong.
THE LINE TO SAY on .gitignore:
"Write .gitignore BEFORE your first commit. Not after. Once a password is in a commit it is
in the history forever, and Git's whole job is to never forget."
Ask: "What happens if I commit .venv?" -&gt; thousands of files, repo becomes huge, and it is
useless to teammates because their machine needs their own venv anyway.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 still in the TL tab.
On GitHub first: New repository -&gt; name "campuscart" -&gt; Public -&gt; do NOT add a README
(you already have one locally; adding one creates a conflict on the very first push,
which is a confusing way to start).
Then in the terminal:
  git remote add origin https://github.com/&lt;your-org&gt;/campuscart.git
  git push -u origin main
  git remote -v
VERIFIED OUTPUT:
   * [new branch]      main -&gt; main
  branch 'main' set up to track 'origin/main'.
Then refresh the GitHub page — the code appears. Let them see that moment.
INVITE ARJUN: Settings -&gt; Collaborators -&gt; Add people -&gt; choose Write, not Admin.
WORTH 30 SECONDS HERE — GitHub access levels, since students always ask:
Read (look only) / Triage (issues) / Write (push branches, raise PRs) / Maintain (settings)
/ Admin (can delete the repo). A fresher gets WRITE. Say it plainly:
"Write is enough to do your entire job. And with Write you cannot destroy the repository
even if you try — the dangerous buttons are not yours to press."
If you are using a second real GitHub account, accept the invite now in a private window.
If you are faking it with two clones, just say: "Arjun has accepted."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TABS. Say it out loud: "Now I am Arjun, on a different laptop, in a different city."
  cd ~/gitdemo
  git clone &lt;repo-url&gt; DEV_campuscart
  cd DEV_campuscart
  git config user.name "Arjun (DEV)"
  git config user.email "arjun@ksr.test"
  git log --oneline
  git branch -a
VERIFIED OUTPUT of git branch -a:
  * main
    remotes/origin/HEAD -&gt; origin/main
    remotes/origin/main
THE MOMENT TO MILK — point at git log:
"Look. Arjun has never met Meera. He just ran one command, and he can see her commit,
her name, her message, and the exact time she wrote it. That is the audit trail from
slide 6, for free."
CONTRAST IT: "Compare with the zip file. A zip has no author, no date, no reason, no history.
It is a photograph. This is a video."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notice board analogy out loud — it is the one that sticks for Indian classrooms.
"Your college puts exam results on the notice board. Would you pin a half-written result
sheet on it? No. You prepare it fully in your notebook first, get it checked, and only then
it goes on the board. main is the notice board. Your branch is the notebook."
KILL THE BIGGEST MISCONCEPTION now — students think a branch copies the folder:
"A branch is not a copy. Git stores a pointer — 'Arjun's work starts from commit de088a3'.
That is why making a branch takes zero seconds even on a huge project."
Ask: "How many branches should a 5-person team have?" -&gt; As many as there are tasks in
progress. Ten branches is normal, not messy.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QUESTION — do not answer it yet:
"Two different features. Two different people. One project. Both starting right now,
this minute. Without Git, what has to happen?"
Let them answer. The answers you will get: "one waits", "they split the files",
"they work separately and merge at the end manually".
Then: "All three of those are painful. Watch what Git does instead."
Keep this slide up for only 60 seconds — it exists to make the NEXT slide land.
TIME: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MOST IMPORTANT SLIDE IN SESSION 1. Slow down. ***
Type it in BOTH tabs, back to back, narrating the switch:
  [TL tab]   git switch -c feature/order-history
             git branch
  [DEV tab]  git switch -c feature/product-search
             git branch
VERIFIED OUTPUT (both):
  Switched to a new branch 'feature/order-history'
  * feature/order-history
    main
THE SENTENCE THAT MAKES THE LESSON LAND — say it slowly:
"Both of them just created a branch from the SAME starting commit, at the SAME time.
Neither one asked the other. Neither one was blocked. This single capability is the
reason software teams can be bigger than one person."
Call back to the WhatsApp slide: "Remember 'bro which one is the latest?' — this is the
answer to that question."
WHY git switch AND NOT git checkout: switch was added in Git 2.23 specifically because
checkout did too many unrelated jobs and confused people. Both work; teach switch.
If a student's Git is very old, 'git checkout -b' is the fallback.
TIME: 5 min. Take the full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whiteboard too, while the slide is up. Students remember what they watch
being drawn far better than a finished picture.
Trace it with your finger:
"One commit here. Two lines leaving it. Orange is Meera's work. Purple is Arjun's work.
They share a past but they have different futures."
THE REASSURANCE THAT MATTERS:
"Notice where the green main label is — it has not moved an inch. Whatever Meera and Arjun
do on those branches, the version the client sees is untouched. That is why teams are not
terrified of new code."
Set up the cliffhanger for Session 2:
"Look at the picture. Those two lines have to come back together eventually.
That is literally all of next session."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not the rule:
"On a real repo you will see 30 open branches. If yours is called 'test2', the TL has to
message you to find out what it is. If it is called 'bugfix/cart-total-wrong', nobody has
to ask anything."
REAL WORKPLACE DETAIL worth mentioning: most companies put the Jira/ticket number in the
branch name — feature/CC-142-product-search. Some tools then link the branch to the ticket
automatically. Mention it so it is not a surprise in their first sprint.
Ask the room to name a branch for: "the login page rejects valid emails" -&gt;
bugfix/login-email-validation. Good, quick participation moment.
TIME: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in both tabs again, announcing each switch.
  [TL tab]   create campuscart/orders.py, add an "orders/" path to campuscart/urls.py
             git add .
             git commit -m "Add order history view and route"
             git log --oneline
  [DEV tab]  create campuscart/search.py, add a "search/" path to campuscart/urls.py
             git add .
             git commit -m "Add product search view and route"
             git log --oneline
VERIFIED: the two logs share de088a3 but have different second commits (8974ca0 vs caeb503).
Put the two terminals side by side on screen and point at the difference.
*** PLANT THE SEED — say this and let it hang: ***
"Both of them just edited the SAME FILE, urls.py, on their own branch. Right now Git is
perfectly happy. Hold that thought until next session."
Do not explain conflicts now. The setup is more valuable than the explanation.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personal and slightly uncomfortable — it works:
"Six months from now, main has a bug. The TL runs git log to find which commit broke it.
They see forty commits that say 'changes'. Whose name is on those commits? Yours.
That is the conversation you are avoiding by typing eight more words today."
THE TEST is the takeaway — have them say it with you:
"If applied, this commit will ___"
Also mention scale: a good commit message is what makes 'git log --oneline' readable as a
project diary. Bad messages turn history into noise, and then nobody uses history at all.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push in both tabs, then REFRESH GITHUB IN THE BROWSER and open the branch dropdown.
Seeing three branches on the real website is what makes it concrete.
VERIFIED OUTPUT:
   * [new branch]      feature/order-history -&gt; feature/order-history
  branch 'feature/order-history' set up to track 'origin/feature/order-history'.
TWO THINGS TO SAY:
1. "Push is your backup. Commit protects you from yourself. Push protects you from your
    laptop." Ask if anyone has lost work to a dead laptop — usually someone has.
2. "Push is also how you tell the team 'this exists'. Until you push, your work is a secret."
POINT AT main IN THE DROPDOWN: "Still clean. Still deployable. Two features in flight and
the live site is in no danger at all."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close the loop with the opening. Scroll back to the WhatsApp slide if you can —
the visual callback is worth the five seconds.
"45 minutes ago you told me you have a folder full of zip files. Look at what we just did
instead — two people, same project, same file even, and not one thing lost."
Ask the room directly: "Is this better? Honestly?"
Let them say yes. That agreement is what carries them through the harder Session 2.
TIME: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write these four in their notebook. Actually pause and wait for pens to move.
On rule 1, pre-empt the objection everyone has:
"Someone is thinking 'but it's a one-line typo fix, surely that's fine on main'.
That is exactly the commit that takes the site down at 6 PM on a Friday. No exceptions —
and in Session 2 you will see the TL switch on a setting that makes it physically impossible."
On rule 3, connect to the conflict you have already planted:
"If you branch off a stale main, you are writing code against last week's project.
That is how you create conflicts for yourself."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pairs yourself if the room is shy — do not leave it to chance, or half of them
will arrive next session with nothing done.
Tell them the failure mode in advance so they do not panic:
"If your push is rejected, or Git asks for a username and password, that is normal on the
first try. Write down the exact message and bring it. We will fix it in two minutes."
AUTH: they set up their token in the setup block earlier today, so pushing should just work.
Anyone who could not finish that block will be blocked here — check your list of names from
slide 12 and sort them out before they leave the room, not next session.
CLOSING LINE:
"Today you learned how two people work apart. Next session: how their work comes back
together — and what happens when it collides."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640080" y="1051560"/>
            <a:ext cx="5486400" cy="274320"/>
          </a:xfrm>
          <a:prstGeom prst="rect">
            <a:avLst/>
          </a:prstGeom>
          <a:noFill/>
          <a:ln/>
        </p:spPr>
        <p:txBody>
          <a:bodyPr wrap="square" lIns="0" tIns="0" rIns="0" bIns="0" rtlCol="0" anchor="ctr"/>
          <a:lstStyle/>
          <a:p>
            <a:pPr indent="0" marL="0">
              <a:buNone/>
            </a:pPr>
            <a:r>
              <a:rPr lang="en-US" sz="1100" b="1" spc="250" kern="0" dirty="0">
                <a:solidFill>
                  <a:srgbClr val="E04A29"/>
                </a:solidFill>
                <a:latin typeface="Arial" pitchFamily="34" charset="0"/>
                <a:ea typeface="Arial" pitchFamily="34" charset="-122"/>
                <a:cs typeface="Arial" pitchFamily="34" charset="-120"/>
              </a:rPr>
              <a:t>SESSION 1 OF 2</a:t>
            </a:r>
            <a:endParaRPr lang="en-US" sz="1100" dirty="0"/>
          </a:p>
        </p:txBody>
      </p:sp>
      <p:sp>
        <p:nvSpPr>
          <p:cNvPr id="3" name="Text 1"/>
          <p:cNvSpPr txBox="1"/>
          <p:nvPr/>
        </p:nvSpPr>
        <p:spPr>
          <a:xfrm>
            <a:off x="640080" y="1371600"/>
            <a:ext cx="5120640" cy="137160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Arial" pitchFamily="34" charset="0"/>
                <a:ea typeface="Arial" pitchFamily="34" charset="-122"/>
                <a:cs typeface="Arial" pitchFamily="34" charset="-120"/>
              </a:rPr>
              <a:t>Git &amp; GitHub:</a:t>
            </a:r>
            <a:endParaRPr lang="en-US" sz="3800" dirty="0"/>
          </a:p>
          <a:p>
            <a:pPr indent="0" marL="0">
              <a:lnSpc>
                <a:spcPct val="105000"/>
              </a:lnSpc>
              <a:buNone/>
            </a:pPr>
            <a:r>
              <a:rPr lang="en-US" sz="3800" b="1" dirty="0">
                <a:solidFill>
                  <a:srgbClr val="FFFFFF"/>
                </a:solidFill>
                <a:latin typeface="Arial" pitchFamily="34" charset="0"/>
                <a:ea typeface="Arial" pitchFamily="34" charset="-122"/>
                <a:cs typeface="Arial" pitchFamily="34" charset="-120"/>
              </a:rPr>
              <a:t>Working as a Team</a:t>
            </a:r>
            <a:endParaRPr lang="en-US" sz="3800" dirty="0"/>
          </a:p>
        </p:txBody>
      </p:sp>
      <p:sp>
        <p:nvSpPr>
          <p:cNvPr id="4" name="Text 2"/>
          <p:cNvSpPr txBox="1"/>
          <p:nvPr/>
        </p:nvSpPr>
        <p:spPr>
          <a:xfrm>
            <a:off x="640080" y="2834640"/>
            <a:ext cx="4937760" cy="457200"/>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Two people. One repository. Nobody loses a line of code.</a:t>
            </a:r>
            <a:endParaRPr lang="en-US" sz="1400" dirty="0"/>
          </a:p>
        </p:txBody>
      </p:sp>
      <p:sp>
        <p:nvSpPr>
          <p:cNvPr id="5" name="Shape 3"/>
          <p:cNvSpPr/>
          <p:nvPr/>
        </p:nvSpPr>
        <p:spPr>
          <a:xfrm>
            <a:off x="640080" y="3474720"/>
            <a:ext cx="420624" cy="420624"/>
          </a:xfrm>
          <a:prstGeom prst="ellipse">
            <a:avLst/>
          </a:prstGeom>
          <a:solidFill>
            <a:srgbClr val="E04A29"/>
          </a:solidFill>
          <a:ln w="12700">
            <a:solidFill>
              <a:srgbClr val="E04A29"/>
            </a:solidFill>
            <a:prstDash val="solid"/>
          </a:ln>
        </p:spPr>
      </p:sp>
      <p:sp>
        <p:nvSpPr>
          <p:cNvPr id="6" name="Text 4"/>
          <p:cNvSpPr txBox="1"/>
          <p:nvPr/>
        </p:nvSpPr>
        <p:spPr>
          <a:xfrm>
            <a:off x="640080" y="3474720"/>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TL</a:t>
            </a:r>
            <a:endParaRPr lang="en-US" sz="1150" dirty="0"/>
          </a:p>
        </p:txBody>
      </p:sp>
      <p:sp>
        <p:nvSpPr>
          <p:cNvPr id="7" name="Text 5"/>
          <p:cNvSpPr txBox="1"/>
          <p:nvPr/>
        </p:nvSpPr>
        <p:spPr>
          <a:xfrm>
            <a:off x="1170432" y="3474720"/>
            <a:ext cx="1143000" cy="420624"/>
          </a:xfrm>
          <a:prstGeom prst="rect">
            <a:avLst/>
          </a:prstGeom>
          <a:noFill/>
          <a:ln/>
        </p:spPr>
        <p:txBody>
          <a:bodyPr wrap="square" lIns="0" tIns="0" rIns="0" bIns="0" rtlCol="0" anchor="ctr"/>
          <a:lstStyle/>
          <a:p>
            <a:pPr indent="0" marL="0">
              <a:buNone/>
            </a:pPr>
            <a:r>
              <a:rPr lang="en-US" sz="1150" dirty="0">
                <a:solidFill>
                  <a:srgbClr val="C9D1D9"/>
                </a:solidFill>
                <a:latin typeface="Calibri" pitchFamily="34" charset="0"/>
                <a:ea typeface="Calibri" pitchFamily="34" charset="-122"/>
                <a:cs typeface="Calibri" pitchFamily="34" charset="-120"/>
              </a:rPr>
              <a:t>Team Lead</a:t>
            </a:r>
            <a:endParaRPr lang="en-US" sz="1150" dirty="0"/>
          </a:p>
        </p:txBody>
      </p:sp>
      <p:sp>
        <p:nvSpPr>
          <p:cNvPr id="8" name="Shape 6"/>
          <p:cNvSpPr/>
          <p:nvPr/>
        </p:nvSpPr>
        <p:spPr>
          <a:xfrm>
            <a:off x="2560320" y="3474720"/>
            <a:ext cx="420624" cy="420624"/>
          </a:xfrm>
          <a:prstGeom prst="ellipse">
            <a:avLst/>
          </a:prstGeom>
          <a:solidFill>
            <a:srgbClr val="7B3FD4"/>
          </a:solidFill>
          <a:ln w="12700">
            <a:solidFill>
              <a:srgbClr val="7B3FD4"/>
            </a:solidFill>
            <a:prstDash val="solid"/>
          </a:ln>
        </p:spPr>
      </p:sp>
      <p:sp>
        <p:nvSpPr>
          <p:cNvPr id="9" name="Text 7"/>
          <p:cNvSpPr txBox="1"/>
          <p:nvPr/>
        </p:nvSpPr>
        <p:spPr>
          <a:xfrm>
            <a:off x="2560320" y="3474720"/>
            <a:ext cx="420624"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DEV</a:t>
            </a:r>
            <a:endParaRPr lang="en-US" sz="900" dirty="0"/>
          </a:p>
        </p:txBody>
      </p:sp>
      <p:sp>
        <p:nvSpPr>
          <p:cNvPr id="10" name="Text 8"/>
          <p:cNvSpPr txBox="1"/>
          <p:nvPr/>
        </p:nvSpPr>
        <p:spPr>
          <a:xfrm>
            <a:off x="3090672" y="3474720"/>
            <a:ext cx="1463040" cy="420624"/>
          </a:xfrm>
          <a:prstGeom prst="rect">
            <a:avLst/>
          </a:prstGeom>
          <a:noFill/>
          <a:ln/>
        </p:spPr>
        <p:txBody>
          <a:bodyPr wrap="square" lIns="0" tIns="0" rIns="0" bIns="0" rtlCol="0" anchor="ctr"/>
          <a:lstStyle/>
          <a:p>
            <a:pPr indent="0" marL="0">
              <a:buNone/>
            </a:pPr>
            <a:r>
              <a:rPr lang="en-US" sz="1150" dirty="0">
                <a:solidFill>
                  <a:srgbClr val="C9D1D9"/>
                </a:solidFill>
                <a:latin typeface="Calibri" pitchFamily="34" charset="0"/>
                <a:ea typeface="Calibri" pitchFamily="34" charset="-122"/>
                <a:cs typeface="Calibri" pitchFamily="34" charset="-120"/>
              </a:rPr>
              <a:t>Developer</a:t>
            </a:r>
            <a:endParaRPr lang="en-US" sz="1150" dirty="0"/>
          </a:p>
        </p:txBody>
      </p:sp>
      <p:sp>
        <p:nvSpPr>
          <p:cNvPr id="11" name="Shape 9"/>
          <p:cNvSpPr/>
          <p:nvPr/>
        </p:nvSpPr>
        <p:spPr>
          <a:xfrm>
            <a:off x="5897880" y="1143000"/>
            <a:ext cx="2743200" cy="2743200"/>
          </a:xfrm>
          <a:prstGeom prst="roundRect">
            <a:avLst>
              <a:gd name="adj" fmla="val 1667"/>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12" name="Shape 10"/>
          <p:cNvSpPr/>
          <p:nvPr/>
        </p:nvSpPr>
        <p:spPr>
          <a:xfrm>
            <a:off x="6035040" y="1275588"/>
            <a:ext cx="77724" cy="77724"/>
          </a:xfrm>
          <a:prstGeom prst="ellipse">
            <a:avLst/>
          </a:prstGeom>
          <a:solidFill>
            <a:srgbClr val="FF5F56"/>
          </a:solidFill>
          <a:ln w="12700">
            <a:solidFill>
              <a:srgbClr val="FF5F56"/>
            </a:solidFill>
            <a:prstDash val="solid"/>
          </a:ln>
        </p:spPr>
      </p:sp>
      <p:sp>
        <p:nvSpPr>
          <p:cNvPr id="13" name="Shape 11"/>
          <p:cNvSpPr/>
          <p:nvPr/>
        </p:nvSpPr>
        <p:spPr>
          <a:xfrm>
            <a:off x="6176772" y="1275588"/>
            <a:ext cx="77724" cy="77724"/>
          </a:xfrm>
          <a:prstGeom prst="ellipse">
            <a:avLst/>
          </a:prstGeom>
          <a:solidFill>
            <a:srgbClr val="FFBD2E"/>
          </a:solidFill>
          <a:ln w="12700">
            <a:solidFill>
              <a:srgbClr val="FFBD2E"/>
            </a:solidFill>
            <a:prstDash val="solid"/>
          </a:ln>
        </p:spPr>
      </p:sp>
      <p:sp>
        <p:nvSpPr>
          <p:cNvPr id="14" name="Shape 12"/>
          <p:cNvSpPr/>
          <p:nvPr/>
        </p:nvSpPr>
        <p:spPr>
          <a:xfrm>
            <a:off x="6318504" y="1275588"/>
            <a:ext cx="77724" cy="77724"/>
          </a:xfrm>
          <a:prstGeom prst="ellipse">
            <a:avLst/>
          </a:prstGeom>
          <a:solidFill>
            <a:srgbClr val="27C93F"/>
          </a:solidFill>
          <a:ln w="12700">
            <a:solidFill>
              <a:srgbClr val="27C93F"/>
            </a:solidFill>
            <a:prstDash val="solid"/>
          </a:ln>
        </p:spPr>
      </p:sp>
      <p:sp>
        <p:nvSpPr>
          <p:cNvPr id="15" name="Text 13"/>
          <p:cNvSpPr txBox="1"/>
          <p:nvPr/>
        </p:nvSpPr>
        <p:spPr>
          <a:xfrm>
            <a:off x="6464808" y="1220724"/>
            <a:ext cx="205740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campuscart</a:t>
            </a:r>
            <a:endParaRPr lang="en-US" sz="850" dirty="0"/>
          </a:p>
        </p:txBody>
      </p:sp>
      <p:sp>
        <p:nvSpPr>
          <p:cNvPr id="16" name="Text 14"/>
          <p:cNvSpPr txBox="1"/>
          <p:nvPr/>
        </p:nvSpPr>
        <p:spPr>
          <a:xfrm>
            <a:off x="6099048" y="1508760"/>
            <a:ext cx="2340864" cy="2240280"/>
          </a:xfrm>
          <a:prstGeom prst="rect">
            <a:avLst/>
          </a:prstGeom>
          <a:noFill/>
          <a:ln/>
        </p:spPr>
        <p:txBody>
          <a:bodyPr wrap="square" lIns="0" tIns="0" rIns="0" bIns="0" rtlCol="0" anchor="t"/>
          <a:lstStyle/>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switch -c feature/</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product-search</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Switched to a new branch</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'feature/product-search'</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push -u origin</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feature/product-search</a:t>
            </a:r>
            <a:endParaRPr lang="en-US" sz="950" dirty="0"/>
          </a:p>
          <a:p>
            <a:pPr indent="0" marL="0">
              <a:lnSpc>
                <a:spcPct val="122000"/>
              </a:lnSpc>
              <a:buNone/>
            </a:pPr>
            <a:r>
              <a:rPr lang="en-US" sz="950" dirty="0">
                <a:solidFill>
                  <a:srgbClr val="6FD37E"/>
                </a:solidFill>
                <a:latin typeface="Courier New" pitchFamily="34" charset="0"/>
                <a:ea typeface="Courier New" pitchFamily="34" charset="-122"/>
                <a:cs typeface="Courier New" pitchFamily="34" charset="-120"/>
              </a:rPr>
              <a:t> * [new branch]</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main is untouched.</a:t>
            </a:r>
            <a:endParaRPr lang="en-US" sz="950" dirty="0"/>
          </a:p>
        </p:txBody>
      </p:sp>
      <p:sp>
        <p:nvSpPr>
          <p:cNvPr id="17" name="Text 15"/>
          <p:cNvSpPr txBox="1"/>
          <p:nvPr/>
        </p:nvSpPr>
        <p:spPr>
          <a:xfrm>
            <a:off x="640080" y="4389120"/>
            <a:ext cx="5486400" cy="274320"/>
          </a:xfrm>
          <a:prstGeom prst="rect">
            <a:avLst/>
          </a:prstGeom>
          <a:noFill/>
          <a:ln/>
        </p:spPr>
        <p:txBody>
          <a:bodyPr wrap="square" lIns="0" tIns="0" rIns="0" bIns="0" rtlCol="0" anchor="ctr"/>
          <a:lstStyle/>
          <a:p>
            <a:pPr indent="0" marL="0">
              <a:buNone/>
            </a:pPr>
            <a:r>
              <a:rPr lang="en-US" sz="1000" i="1" dirty="0">
                <a:solidFill>
                  <a:srgbClr val="5A6572"/>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THE NIGHT BEFORE THE REVIEW</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FFFFFF"/>
                </a:solidFill>
                <a:latin typeface="Arial" pitchFamily="34" charset="0"/>
                <a:ea typeface="Arial" pitchFamily="34" charset="-122"/>
                <a:cs typeface="Arial" pitchFamily="34" charset="-120"/>
              </a:rPr>
              <a:t>You have seen this WhatsApp group</a:t>
            </a:r>
            <a:endParaRPr lang="en-US" sz="3000" dirty="0"/>
          </a:p>
        </p:txBody>
      </p:sp>
      <p:sp>
        <p:nvSpPr>
          <p:cNvPr id="4" name="Shape 2"/>
          <p:cNvSpPr/>
          <p:nvPr/>
        </p:nvSpPr>
        <p:spPr>
          <a:xfrm>
            <a:off x="548640" y="1463040"/>
            <a:ext cx="3931920" cy="384048"/>
          </a:xfrm>
          <a:prstGeom prst="roundRect">
            <a:avLst>
              <a:gd name="adj" fmla="val 19048"/>
            </a:avLst>
          </a:prstGeom>
          <a:solidFill>
            <a:srgbClr val="2A2F36"/>
          </a:solidFill>
          <a:ln w="12700">
            <a:solidFill>
              <a:srgbClr val="3A424C"/>
            </a:solidFill>
            <a:prstDash val="solid"/>
          </a:ln>
        </p:spPr>
      </p:sp>
      <p:sp>
        <p:nvSpPr>
          <p:cNvPr id="5" name="Text 3"/>
          <p:cNvSpPr txBox="1"/>
          <p:nvPr/>
        </p:nvSpPr>
        <p:spPr>
          <a:xfrm>
            <a:off x="548640" y="1463040"/>
            <a:ext cx="3931920" cy="384048"/>
          </a:xfrm>
          <a:prstGeom prst="rect">
            <a:avLst/>
          </a:prstGeom>
          <a:noFill/>
          <a:ln/>
        </p:spPr>
        <p:txBody>
          <a:bodyPr wrap="square" lIns="0" tIns="0" rIns="0" bIns="0" rtlCol="0" anchor="ctr"/>
          <a:lstStyle/>
          <a:p>
            <a:pPr algn="ctr" indent="0" marL="0">
              <a:buNone/>
            </a:pPr>
            <a:r>
              <a:rPr lang="en-US" sz="1050" dirty="0">
                <a:solidFill>
                  <a:srgbClr val="C9D1D9"/>
                </a:solidFill>
                <a:latin typeface="Courier New" pitchFamily="34" charset="0"/>
                <a:ea typeface="Courier New" pitchFamily="34" charset="-122"/>
                <a:cs typeface="Courier New" pitchFamily="34" charset="-120"/>
              </a:rPr>
              <a:t>campuscart_final.zip</a:t>
            </a:r>
            <a:endParaRPr lang="en-US" sz="1050" dirty="0"/>
          </a:p>
        </p:txBody>
      </p:sp>
      <p:sp>
        <p:nvSpPr>
          <p:cNvPr id="6" name="Shape 4"/>
          <p:cNvSpPr/>
          <p:nvPr/>
        </p:nvSpPr>
        <p:spPr>
          <a:xfrm>
            <a:off x="548640" y="1938528"/>
            <a:ext cx="3931920" cy="384048"/>
          </a:xfrm>
          <a:prstGeom prst="roundRect">
            <a:avLst>
              <a:gd name="adj" fmla="val 19048"/>
            </a:avLst>
          </a:prstGeom>
          <a:solidFill>
            <a:srgbClr val="2A2F36"/>
          </a:solidFill>
          <a:ln w="12700">
            <a:solidFill>
              <a:srgbClr val="3A424C"/>
            </a:solidFill>
            <a:prstDash val="solid"/>
          </a:ln>
        </p:spPr>
      </p:sp>
      <p:sp>
        <p:nvSpPr>
          <p:cNvPr id="7" name="Text 5"/>
          <p:cNvSpPr txBox="1"/>
          <p:nvPr/>
        </p:nvSpPr>
        <p:spPr>
          <a:xfrm>
            <a:off x="548640" y="1938528"/>
            <a:ext cx="3931920" cy="384048"/>
          </a:xfrm>
          <a:prstGeom prst="rect">
            <a:avLst/>
          </a:prstGeom>
          <a:noFill/>
          <a:ln/>
        </p:spPr>
        <p:txBody>
          <a:bodyPr wrap="square" lIns="0" tIns="0" rIns="0" bIns="0" rtlCol="0" anchor="ctr"/>
          <a:lstStyle/>
          <a:p>
            <a:pPr algn="ctr" indent="0" marL="0">
              <a:buNone/>
            </a:pPr>
            <a:r>
              <a:rPr lang="en-US" sz="1050" dirty="0">
                <a:solidFill>
                  <a:srgbClr val="C9D1D9"/>
                </a:solidFill>
                <a:latin typeface="Courier New" pitchFamily="34" charset="0"/>
                <a:ea typeface="Courier New" pitchFamily="34" charset="-122"/>
                <a:cs typeface="Courier New" pitchFamily="34" charset="-120"/>
              </a:rPr>
              <a:t>campuscart_final_FINAL.zip</a:t>
            </a:r>
            <a:endParaRPr lang="en-US" sz="1050" dirty="0"/>
          </a:p>
        </p:txBody>
      </p:sp>
      <p:sp>
        <p:nvSpPr>
          <p:cNvPr id="8" name="Shape 6"/>
          <p:cNvSpPr/>
          <p:nvPr/>
        </p:nvSpPr>
        <p:spPr>
          <a:xfrm>
            <a:off x="548640" y="2414016"/>
            <a:ext cx="3931920" cy="384048"/>
          </a:xfrm>
          <a:prstGeom prst="roundRect">
            <a:avLst>
              <a:gd name="adj" fmla="val 19048"/>
            </a:avLst>
          </a:prstGeom>
          <a:solidFill>
            <a:srgbClr val="3A2A2A"/>
          </a:solidFill>
          <a:ln w="12700">
            <a:solidFill>
              <a:srgbClr val="3A424C"/>
            </a:solidFill>
            <a:prstDash val="solid"/>
          </a:ln>
        </p:spPr>
      </p:sp>
      <p:sp>
        <p:nvSpPr>
          <p:cNvPr id="9" name="Text 7"/>
          <p:cNvSpPr txBox="1"/>
          <p:nvPr/>
        </p:nvSpPr>
        <p:spPr>
          <a:xfrm>
            <a:off x="548640" y="2414016"/>
            <a:ext cx="3931920" cy="384048"/>
          </a:xfrm>
          <a:prstGeom prst="rect">
            <a:avLst/>
          </a:prstGeom>
          <a:noFill/>
          <a:ln/>
        </p:spPr>
        <p:txBody>
          <a:bodyPr wrap="square" lIns="0" tIns="0" rIns="0" bIns="0" rtlCol="0" anchor="ctr"/>
          <a:lstStyle/>
          <a:p>
            <a:pPr algn="ctr" indent="0" marL="0">
              <a:buNone/>
            </a:pPr>
            <a:r>
              <a:rPr lang="en-US" sz="1050" dirty="0">
                <a:solidFill>
                  <a:srgbClr val="C9D1D9"/>
                </a:solidFill>
                <a:latin typeface="Courier New" pitchFamily="34" charset="0"/>
                <a:ea typeface="Courier New" pitchFamily="34" charset="-122"/>
                <a:cs typeface="Courier New" pitchFamily="34" charset="-120"/>
              </a:rPr>
              <a:t>campuscart_final_FINAL2_ravi.zip</a:t>
            </a:r>
            <a:endParaRPr lang="en-US" sz="1050" dirty="0"/>
          </a:p>
        </p:txBody>
      </p:sp>
      <p:sp>
        <p:nvSpPr>
          <p:cNvPr id="10" name="Shape 8"/>
          <p:cNvSpPr/>
          <p:nvPr/>
        </p:nvSpPr>
        <p:spPr>
          <a:xfrm>
            <a:off x="548640" y="2889504"/>
            <a:ext cx="3931920" cy="384048"/>
          </a:xfrm>
          <a:prstGeom prst="roundRect">
            <a:avLst>
              <a:gd name="adj" fmla="val 19048"/>
            </a:avLst>
          </a:prstGeom>
          <a:solidFill>
            <a:srgbClr val="3A2A2A"/>
          </a:solidFill>
          <a:ln w="12700">
            <a:solidFill>
              <a:srgbClr val="3A424C"/>
            </a:solidFill>
            <a:prstDash val="solid"/>
          </a:ln>
        </p:spPr>
      </p:sp>
      <p:sp>
        <p:nvSpPr>
          <p:cNvPr id="11" name="Text 9"/>
          <p:cNvSpPr txBox="1"/>
          <p:nvPr/>
        </p:nvSpPr>
        <p:spPr>
          <a:xfrm>
            <a:off x="548640" y="2889504"/>
            <a:ext cx="3931920" cy="384048"/>
          </a:xfrm>
          <a:prstGeom prst="rect">
            <a:avLst/>
          </a:prstGeom>
          <a:noFill/>
          <a:ln/>
        </p:spPr>
        <p:txBody>
          <a:bodyPr wrap="square" lIns="0" tIns="0" rIns="0" bIns="0" rtlCol="0" anchor="ctr"/>
          <a:lstStyle/>
          <a:p>
            <a:pPr algn="ctr" indent="0" marL="0">
              <a:buNone/>
            </a:pPr>
            <a:r>
              <a:rPr lang="en-US" sz="1050" dirty="0">
                <a:solidFill>
                  <a:srgbClr val="C9D1D9"/>
                </a:solidFill>
                <a:latin typeface="Courier New" pitchFamily="34" charset="0"/>
                <a:ea typeface="Courier New" pitchFamily="34" charset="-122"/>
                <a:cs typeface="Courier New" pitchFamily="34" charset="-120"/>
              </a:rPr>
              <a:t>campuscart_USE_THIS_ONE.zip</a:t>
            </a:r>
            <a:endParaRPr lang="en-US" sz="1050" dirty="0"/>
          </a:p>
        </p:txBody>
      </p:sp>
      <p:sp>
        <p:nvSpPr>
          <p:cNvPr id="12" name="Shape 10"/>
          <p:cNvSpPr/>
          <p:nvPr/>
        </p:nvSpPr>
        <p:spPr>
          <a:xfrm>
            <a:off x="548640" y="3364992"/>
            <a:ext cx="3931920" cy="384048"/>
          </a:xfrm>
          <a:prstGeom prst="roundRect">
            <a:avLst>
              <a:gd name="adj" fmla="val 19048"/>
            </a:avLst>
          </a:prstGeom>
          <a:solidFill>
            <a:srgbClr val="2A2F36"/>
          </a:solidFill>
          <a:ln w="12700">
            <a:solidFill>
              <a:srgbClr val="3A424C"/>
            </a:solidFill>
            <a:prstDash val="solid"/>
          </a:ln>
        </p:spPr>
      </p:sp>
      <p:sp>
        <p:nvSpPr>
          <p:cNvPr id="13" name="Text 11"/>
          <p:cNvSpPr txBox="1"/>
          <p:nvPr/>
        </p:nvSpPr>
        <p:spPr>
          <a:xfrm>
            <a:off x="548640" y="3364992"/>
            <a:ext cx="3931920" cy="384048"/>
          </a:xfrm>
          <a:prstGeom prst="rect">
            <a:avLst/>
          </a:prstGeom>
          <a:noFill/>
          <a:ln/>
        </p:spPr>
        <p:txBody>
          <a:bodyPr wrap="square" lIns="0" tIns="0" rIns="0" bIns="0" rtlCol="0" anchor="ctr"/>
          <a:lstStyle/>
          <a:p>
            <a:pPr algn="ctr" indent="0" marL="0">
              <a:buNone/>
            </a:pPr>
            <a:r>
              <a:rPr lang="en-US" sz="1050" dirty="0">
                <a:solidFill>
                  <a:srgbClr val="C9D1D9"/>
                </a:solidFill>
                <a:latin typeface="Courier New" pitchFamily="34" charset="0"/>
                <a:ea typeface="Courier New" pitchFamily="34" charset="-122"/>
                <a:cs typeface="Courier New" pitchFamily="34" charset="-120"/>
              </a:rPr>
              <a:t>campuscart_latest_v2_ok.zip</a:t>
            </a:r>
            <a:endParaRPr lang="en-US" sz="1050" dirty="0"/>
          </a:p>
        </p:txBody>
      </p:sp>
      <p:sp>
        <p:nvSpPr>
          <p:cNvPr id="14" name="Shape 12"/>
          <p:cNvSpPr/>
          <p:nvPr/>
        </p:nvSpPr>
        <p:spPr>
          <a:xfrm>
            <a:off x="4846320" y="1463040"/>
            <a:ext cx="3749040" cy="2029968"/>
          </a:xfrm>
          <a:prstGeom prst="roundRect">
            <a:avLst>
              <a:gd name="adj" fmla="val 2703"/>
            </a:avLst>
          </a:prstGeom>
          <a:solidFill>
            <a:srgbClr val="20252B"/>
          </a:solidFill>
          <a:ln w="12700">
            <a:solidFill>
              <a:srgbClr val="3A424C"/>
            </a:solidFill>
            <a:prstDash val="solid"/>
          </a:ln>
        </p:spPr>
      </p:sp>
      <p:sp>
        <p:nvSpPr>
          <p:cNvPr id="15" name="Text 13"/>
          <p:cNvSpPr txBox="1"/>
          <p:nvPr/>
        </p:nvSpPr>
        <p:spPr>
          <a:xfrm>
            <a:off x="5074920" y="1645920"/>
            <a:ext cx="3291840" cy="365760"/>
          </a:xfrm>
          <a:prstGeom prst="rect">
            <a:avLst/>
          </a:prstGeom>
          <a:noFill/>
          <a:ln/>
        </p:spPr>
        <p:txBody>
          <a:bodyPr wrap="square" lIns="0" tIns="0" rIns="0" bIns="0" rtlCol="0" anchor="ctr"/>
          <a:lstStyle/>
          <a:p>
            <a:pPr indent="0" marL="0">
              <a:buNone/>
            </a:pPr>
            <a:r>
              <a:rPr lang="en-US" sz="1500" b="1" i="1" dirty="0">
                <a:solidFill>
                  <a:srgbClr val="FFFFFF"/>
                </a:solidFill>
                <a:latin typeface="Calibri" pitchFamily="34" charset="0"/>
                <a:ea typeface="Calibri" pitchFamily="34" charset="-122"/>
                <a:cs typeface="Calibri" pitchFamily="34" charset="-120"/>
              </a:rPr>
              <a:t>"bro which one is the latest??"</a:t>
            </a:r>
            <a:endParaRPr lang="en-US" sz="1500" dirty="0"/>
          </a:p>
        </p:txBody>
      </p:sp>
      <p:sp>
        <p:nvSpPr>
          <p:cNvPr id="16" name="Text 14"/>
          <p:cNvSpPr txBox="1"/>
          <p:nvPr/>
        </p:nvSpPr>
        <p:spPr>
          <a:xfrm>
            <a:off x="5074920" y="2103120"/>
            <a:ext cx="3291840" cy="365760"/>
          </a:xfrm>
          <a:prstGeom prst="rect">
            <a:avLst/>
          </a:prstGeom>
          <a:noFill/>
          <a:ln/>
        </p:spPr>
        <p:txBody>
          <a:bodyPr wrap="square" lIns="0" tIns="0" rIns="0" bIns="0" rtlCol="0" anchor="ctr"/>
          <a:lstStyle/>
          <a:p>
            <a:pPr indent="0" marL="0">
              <a:buNone/>
            </a:pPr>
            <a:r>
              <a:rPr lang="en-US" sz="1500" b="1" i="1" dirty="0">
                <a:solidFill>
                  <a:srgbClr val="FFFFFF"/>
                </a:solidFill>
                <a:latin typeface="Calibri" pitchFamily="34" charset="0"/>
                <a:ea typeface="Calibri" pitchFamily="34" charset="-122"/>
                <a:cs typeface="Calibri" pitchFamily="34" charset="-120"/>
              </a:rPr>
              <a:t>"I already fixed that yesterday"</a:t>
            </a:r>
            <a:endParaRPr lang="en-US" sz="1500" dirty="0"/>
          </a:p>
        </p:txBody>
      </p:sp>
      <p:sp>
        <p:nvSpPr>
          <p:cNvPr id="17" name="Text 15"/>
          <p:cNvSpPr txBox="1"/>
          <p:nvPr/>
        </p:nvSpPr>
        <p:spPr>
          <a:xfrm>
            <a:off x="5074920" y="2560320"/>
            <a:ext cx="3291840" cy="365760"/>
          </a:xfrm>
          <a:prstGeom prst="rect">
            <a:avLst/>
          </a:prstGeom>
          <a:noFill/>
          <a:ln/>
        </p:spPr>
        <p:txBody>
          <a:bodyPr wrap="square" lIns="0" tIns="0" rIns="0" bIns="0" rtlCol="0" anchor="ctr"/>
          <a:lstStyle/>
          <a:p>
            <a:pPr indent="0" marL="0">
              <a:buNone/>
            </a:pPr>
            <a:r>
              <a:rPr lang="en-US" sz="1500" b="1" i="1" dirty="0">
                <a:solidFill>
                  <a:srgbClr val="FFAA64"/>
                </a:solidFill>
                <a:latin typeface="Calibri" pitchFamily="34" charset="0"/>
                <a:ea typeface="Calibri" pitchFamily="34" charset="-122"/>
                <a:cs typeface="Calibri" pitchFamily="34" charset="-120"/>
              </a:rPr>
              <a:t>"who deleted my cart code?"</a:t>
            </a:r>
            <a:endParaRPr lang="en-US" sz="1500" dirty="0"/>
          </a:p>
        </p:txBody>
      </p:sp>
      <p:sp>
        <p:nvSpPr>
          <p:cNvPr id="18" name="Text 16"/>
          <p:cNvSpPr txBox="1"/>
          <p:nvPr/>
        </p:nvSpPr>
        <p:spPr>
          <a:xfrm>
            <a:off x="5074920" y="3017520"/>
            <a:ext cx="3291840" cy="365760"/>
          </a:xfrm>
          <a:prstGeom prst="rect">
            <a:avLst/>
          </a:prstGeom>
          <a:noFill/>
          <a:ln/>
        </p:spPr>
        <p:txBody>
          <a:bodyPr wrap="square" lIns="0" tIns="0" rIns="0" bIns="0" rtlCol="0" anchor="ctr"/>
          <a:lstStyle/>
          <a:p>
            <a:pPr indent="0" marL="0">
              <a:buNone/>
            </a:pPr>
            <a:r>
              <a:rPr lang="en-US" sz="1500" b="1" i="1" dirty="0">
                <a:solidFill>
                  <a:srgbClr val="FFFFFF"/>
                </a:solidFill>
                <a:latin typeface="Calibri" pitchFamily="34" charset="0"/>
                <a:ea typeface="Calibri" pitchFamily="34" charset="-122"/>
                <a:cs typeface="Calibri" pitchFamily="34" charset="-120"/>
              </a:rPr>
              <a:t>"send the zip again, mine is old"</a:t>
            </a:r>
            <a:endParaRPr lang="en-US" sz="1500" dirty="0"/>
          </a:p>
        </p:txBody>
      </p:sp>
      <p:sp>
        <p:nvSpPr>
          <p:cNvPr id="19" name="Text 17"/>
          <p:cNvSpPr txBox="1"/>
          <p:nvPr/>
        </p:nvSpPr>
        <p:spPr>
          <a:xfrm>
            <a:off x="4846320" y="3657600"/>
            <a:ext cx="3749040" cy="320040"/>
          </a:xfrm>
          <a:prstGeom prst="rect">
            <a:avLst/>
          </a:prstGeom>
          <a:noFill/>
          <a:ln/>
        </p:spPr>
        <p:txBody>
          <a:bodyPr wrap="square" lIns="0" tIns="0" rIns="0" bIns="0" rtlCol="0" anchor="ctr"/>
          <a:lstStyle/>
          <a:p>
            <a:pPr indent="0" marL="0">
              <a:buNone/>
            </a:pPr>
            <a:r>
              <a:rPr lang="en-US" sz="1250" dirty="0">
                <a:solidFill>
                  <a:srgbClr val="8B949E"/>
                </a:solidFill>
                <a:latin typeface="Calibri" pitchFamily="34" charset="0"/>
                <a:ea typeface="Calibri" pitchFamily="34" charset="-122"/>
                <a:cs typeface="Calibri" pitchFamily="34" charset="-120"/>
              </a:rPr>
              <a:t>Four students. One project. Zero version control.</a:t>
            </a:r>
            <a:endParaRPr lang="en-US" sz="1250" dirty="0"/>
          </a:p>
        </p:txBody>
      </p:sp>
      <p:sp>
        <p:nvSpPr>
          <p:cNvPr id="20" name="Text 18"/>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5A6572"/>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DIAGNOSIS</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16191D"/>
                </a:solidFill>
                <a:latin typeface="Arial" pitchFamily="34" charset="0"/>
                <a:ea typeface="Arial" pitchFamily="34" charset="-122"/>
                <a:cs typeface="Arial" pitchFamily="34" charset="-120"/>
              </a:rPr>
              <a:t>Five things broke — and none were code</a:t>
            </a:r>
            <a:endParaRPr lang="en-US" sz="3000" dirty="0"/>
          </a:p>
        </p:txBody>
      </p:sp>
      <p:sp>
        <p:nvSpPr>
          <p:cNvPr id="4" name="Shape 2"/>
          <p:cNvSpPr/>
          <p:nvPr/>
        </p:nvSpPr>
        <p:spPr>
          <a:xfrm>
            <a:off x="502920" y="1298448"/>
            <a:ext cx="3977640" cy="969264"/>
          </a:xfrm>
          <a:prstGeom prst="roundRect">
            <a:avLst>
              <a:gd name="adj" fmla="val 5660"/>
            </a:avLst>
          </a:prstGeom>
          <a:solidFill>
            <a:srgbClr val="F3F5F7"/>
          </a:solidFill>
          <a:ln w="12700">
            <a:solidFill>
              <a:srgbClr val="D5DCE3"/>
            </a:solidFill>
            <a:prstDash val="solid"/>
          </a:ln>
        </p:spPr>
      </p:sp>
      <p:sp>
        <p:nvSpPr>
          <p:cNvPr id="5" name="Text 3"/>
          <p:cNvSpPr txBox="1"/>
          <p:nvPr/>
        </p:nvSpPr>
        <p:spPr>
          <a:xfrm>
            <a:off x="667512" y="1426464"/>
            <a:ext cx="457200" cy="274320"/>
          </a:xfrm>
          <a:prstGeom prst="rect">
            <a:avLst/>
          </a:prstGeom>
          <a:noFill/>
          <a:ln/>
        </p:spPr>
        <p:txBody>
          <a:bodyPr wrap="square" lIns="0" tIns="0" rIns="0" bIns="0" rtlCol="0" anchor="ctr"/>
          <a:lstStyle/>
          <a:p>
            <a:pPr indent="0" marL="0">
              <a:buNone/>
            </a:pPr>
            <a:r>
              <a:rPr lang="en-US" sz="1300" b="1" dirty="0">
                <a:solidFill>
                  <a:srgbClr val="E04A29"/>
                </a:solidFill>
                <a:latin typeface="Arial" pitchFamily="34" charset="0"/>
                <a:ea typeface="Arial" pitchFamily="34" charset="-122"/>
                <a:cs typeface="Arial" pitchFamily="34" charset="-120"/>
              </a:rPr>
              <a:t>01</a:t>
            </a:r>
            <a:endParaRPr lang="en-US" sz="1300" dirty="0"/>
          </a:p>
        </p:txBody>
      </p:sp>
      <p:sp>
        <p:nvSpPr>
          <p:cNvPr id="6" name="Text 4"/>
          <p:cNvSpPr txBox="1"/>
          <p:nvPr/>
        </p:nvSpPr>
        <p:spPr>
          <a:xfrm>
            <a:off x="1143000" y="1408176"/>
            <a:ext cx="3200400" cy="292608"/>
          </a:xfrm>
          <a:prstGeom prst="rect">
            <a:avLst/>
          </a:prstGeom>
          <a:noFill/>
          <a:ln/>
        </p:spPr>
        <p:txBody>
          <a:bodyPr wrap="square" lIns="0" tIns="0" rIns="0" bIns="0" rtlCol="0" anchor="ctr"/>
          <a:lstStyle/>
          <a:p>
            <a:pPr indent="0" marL="0">
              <a:buNone/>
            </a:pPr>
            <a:r>
              <a:rPr lang="en-US" sz="1350" b="1" dirty="0">
                <a:solidFill>
                  <a:srgbClr val="16191D"/>
                </a:solidFill>
                <a:latin typeface="Arial" pitchFamily="34" charset="0"/>
                <a:ea typeface="Arial" pitchFamily="34" charset="-122"/>
                <a:cs typeface="Arial" pitchFamily="34" charset="-120"/>
              </a:rPr>
              <a:t>Work got overwritten</a:t>
            </a:r>
            <a:endParaRPr lang="en-US" sz="1350" dirty="0"/>
          </a:p>
        </p:txBody>
      </p:sp>
      <p:sp>
        <p:nvSpPr>
          <p:cNvPr id="7" name="Text 5"/>
          <p:cNvSpPr txBox="1"/>
          <p:nvPr/>
        </p:nvSpPr>
        <p:spPr>
          <a:xfrm>
            <a:off x="1143000" y="1719072"/>
            <a:ext cx="3200400" cy="475488"/>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Two people edited views.py. The last zip wins. The other person's day is gone.</a:t>
            </a:r>
            <a:endParaRPr lang="en-US" sz="1050" dirty="0"/>
          </a:p>
        </p:txBody>
      </p:sp>
      <p:sp>
        <p:nvSpPr>
          <p:cNvPr id="8" name="Shape 6"/>
          <p:cNvSpPr/>
          <p:nvPr/>
        </p:nvSpPr>
        <p:spPr>
          <a:xfrm>
            <a:off x="4709160" y="1298448"/>
            <a:ext cx="3977640" cy="969264"/>
          </a:xfrm>
          <a:prstGeom prst="roundRect">
            <a:avLst>
              <a:gd name="adj" fmla="val 5660"/>
            </a:avLst>
          </a:prstGeom>
          <a:solidFill>
            <a:srgbClr val="F3F5F7"/>
          </a:solidFill>
          <a:ln w="12700">
            <a:solidFill>
              <a:srgbClr val="D5DCE3"/>
            </a:solidFill>
            <a:prstDash val="solid"/>
          </a:ln>
        </p:spPr>
      </p:sp>
      <p:sp>
        <p:nvSpPr>
          <p:cNvPr id="9" name="Text 7"/>
          <p:cNvSpPr txBox="1"/>
          <p:nvPr/>
        </p:nvSpPr>
        <p:spPr>
          <a:xfrm>
            <a:off x="4873752" y="1426464"/>
            <a:ext cx="457200" cy="274320"/>
          </a:xfrm>
          <a:prstGeom prst="rect">
            <a:avLst/>
          </a:prstGeom>
          <a:noFill/>
          <a:ln/>
        </p:spPr>
        <p:txBody>
          <a:bodyPr wrap="square" lIns="0" tIns="0" rIns="0" bIns="0" rtlCol="0" anchor="ctr"/>
          <a:lstStyle/>
          <a:p>
            <a:pPr indent="0" marL="0">
              <a:buNone/>
            </a:pPr>
            <a:r>
              <a:rPr lang="en-US" sz="1300" b="1" dirty="0">
                <a:solidFill>
                  <a:srgbClr val="E04A29"/>
                </a:solidFill>
                <a:latin typeface="Arial" pitchFamily="34" charset="0"/>
                <a:ea typeface="Arial" pitchFamily="34" charset="-122"/>
                <a:cs typeface="Arial" pitchFamily="34" charset="-120"/>
              </a:rPr>
              <a:t>02</a:t>
            </a:r>
            <a:endParaRPr lang="en-US" sz="1300" dirty="0"/>
          </a:p>
        </p:txBody>
      </p:sp>
      <p:sp>
        <p:nvSpPr>
          <p:cNvPr id="10" name="Text 8"/>
          <p:cNvSpPr txBox="1"/>
          <p:nvPr/>
        </p:nvSpPr>
        <p:spPr>
          <a:xfrm>
            <a:off x="5349240" y="1408176"/>
            <a:ext cx="3200400" cy="292608"/>
          </a:xfrm>
          <a:prstGeom prst="rect">
            <a:avLst/>
          </a:prstGeom>
          <a:noFill/>
          <a:ln/>
        </p:spPr>
        <p:txBody>
          <a:bodyPr wrap="square" lIns="0" tIns="0" rIns="0" bIns="0" rtlCol="0" anchor="ctr"/>
          <a:lstStyle/>
          <a:p>
            <a:pPr indent="0" marL="0">
              <a:buNone/>
            </a:pPr>
            <a:r>
              <a:rPr lang="en-US" sz="1350" b="1" dirty="0">
                <a:solidFill>
                  <a:srgbClr val="16191D"/>
                </a:solidFill>
                <a:latin typeface="Arial" pitchFamily="34" charset="0"/>
                <a:ea typeface="Arial" pitchFamily="34" charset="-122"/>
                <a:cs typeface="Arial" pitchFamily="34" charset="-120"/>
              </a:rPr>
              <a:t>No history</a:t>
            </a:r>
            <a:endParaRPr lang="en-US" sz="1350" dirty="0"/>
          </a:p>
        </p:txBody>
      </p:sp>
      <p:sp>
        <p:nvSpPr>
          <p:cNvPr id="11" name="Text 9"/>
          <p:cNvSpPr txBox="1"/>
          <p:nvPr/>
        </p:nvSpPr>
        <p:spPr>
          <a:xfrm>
            <a:off x="5349240" y="1719072"/>
            <a:ext cx="3200400" cy="475488"/>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It worked on Tuesday, it is broken today. There is no Tuesday to go back to.</a:t>
            </a:r>
            <a:endParaRPr lang="en-US" sz="1050" dirty="0"/>
          </a:p>
        </p:txBody>
      </p:sp>
      <p:sp>
        <p:nvSpPr>
          <p:cNvPr id="12" name="Shape 10"/>
          <p:cNvSpPr/>
          <p:nvPr/>
        </p:nvSpPr>
        <p:spPr>
          <a:xfrm>
            <a:off x="502920" y="2414016"/>
            <a:ext cx="3977640" cy="969264"/>
          </a:xfrm>
          <a:prstGeom prst="roundRect">
            <a:avLst>
              <a:gd name="adj" fmla="val 5660"/>
            </a:avLst>
          </a:prstGeom>
          <a:solidFill>
            <a:srgbClr val="F3F5F7"/>
          </a:solidFill>
          <a:ln w="12700">
            <a:solidFill>
              <a:srgbClr val="D5DCE3"/>
            </a:solidFill>
            <a:prstDash val="solid"/>
          </a:ln>
        </p:spPr>
      </p:sp>
      <p:sp>
        <p:nvSpPr>
          <p:cNvPr id="13" name="Text 11"/>
          <p:cNvSpPr txBox="1"/>
          <p:nvPr/>
        </p:nvSpPr>
        <p:spPr>
          <a:xfrm>
            <a:off x="667512" y="2542032"/>
            <a:ext cx="457200" cy="274320"/>
          </a:xfrm>
          <a:prstGeom prst="rect">
            <a:avLst/>
          </a:prstGeom>
          <a:noFill/>
          <a:ln/>
        </p:spPr>
        <p:txBody>
          <a:bodyPr wrap="square" lIns="0" tIns="0" rIns="0" bIns="0" rtlCol="0" anchor="ctr"/>
          <a:lstStyle/>
          <a:p>
            <a:pPr indent="0" marL="0">
              <a:buNone/>
            </a:pPr>
            <a:r>
              <a:rPr lang="en-US" sz="1300" b="1" dirty="0">
                <a:solidFill>
                  <a:srgbClr val="E04A29"/>
                </a:solidFill>
                <a:latin typeface="Arial" pitchFamily="34" charset="0"/>
                <a:ea typeface="Arial" pitchFamily="34" charset="-122"/>
                <a:cs typeface="Arial" pitchFamily="34" charset="-120"/>
              </a:rPr>
              <a:t>03</a:t>
            </a:r>
            <a:endParaRPr lang="en-US" sz="1300" dirty="0"/>
          </a:p>
        </p:txBody>
      </p:sp>
      <p:sp>
        <p:nvSpPr>
          <p:cNvPr id="14" name="Text 12"/>
          <p:cNvSpPr txBox="1"/>
          <p:nvPr/>
        </p:nvSpPr>
        <p:spPr>
          <a:xfrm>
            <a:off x="1143000" y="2523744"/>
            <a:ext cx="3200400" cy="292608"/>
          </a:xfrm>
          <a:prstGeom prst="rect">
            <a:avLst/>
          </a:prstGeom>
          <a:noFill/>
          <a:ln/>
        </p:spPr>
        <p:txBody>
          <a:bodyPr wrap="square" lIns="0" tIns="0" rIns="0" bIns="0" rtlCol="0" anchor="ctr"/>
          <a:lstStyle/>
          <a:p>
            <a:pPr indent="0" marL="0">
              <a:buNone/>
            </a:pPr>
            <a:r>
              <a:rPr lang="en-US" sz="1350" b="1" dirty="0">
                <a:solidFill>
                  <a:srgbClr val="16191D"/>
                </a:solidFill>
                <a:latin typeface="Arial" pitchFamily="34" charset="0"/>
                <a:ea typeface="Arial" pitchFamily="34" charset="-122"/>
                <a:cs typeface="Arial" pitchFamily="34" charset="-120"/>
              </a:rPr>
              <a:t>Nobody knows who changed what</a:t>
            </a:r>
            <a:endParaRPr lang="en-US" sz="1350" dirty="0"/>
          </a:p>
        </p:txBody>
      </p:sp>
      <p:sp>
        <p:nvSpPr>
          <p:cNvPr id="15" name="Text 13"/>
          <p:cNvSpPr txBox="1"/>
          <p:nvPr/>
        </p:nvSpPr>
        <p:spPr>
          <a:xfrm>
            <a:off x="1143000" y="2834640"/>
            <a:ext cx="3200400" cy="475488"/>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No name, no date, no reason. Just a file that is different now.</a:t>
            </a:r>
            <a:endParaRPr lang="en-US" sz="1050" dirty="0"/>
          </a:p>
        </p:txBody>
      </p:sp>
      <p:sp>
        <p:nvSpPr>
          <p:cNvPr id="16" name="Shape 14"/>
          <p:cNvSpPr/>
          <p:nvPr/>
        </p:nvSpPr>
        <p:spPr>
          <a:xfrm>
            <a:off x="4709160" y="2414016"/>
            <a:ext cx="3977640" cy="969264"/>
          </a:xfrm>
          <a:prstGeom prst="roundRect">
            <a:avLst>
              <a:gd name="adj" fmla="val 5660"/>
            </a:avLst>
          </a:prstGeom>
          <a:solidFill>
            <a:srgbClr val="F3F5F7"/>
          </a:solidFill>
          <a:ln w="12700">
            <a:solidFill>
              <a:srgbClr val="D5DCE3"/>
            </a:solidFill>
            <a:prstDash val="solid"/>
          </a:ln>
        </p:spPr>
      </p:sp>
      <p:sp>
        <p:nvSpPr>
          <p:cNvPr id="17" name="Text 15"/>
          <p:cNvSpPr txBox="1"/>
          <p:nvPr/>
        </p:nvSpPr>
        <p:spPr>
          <a:xfrm>
            <a:off x="4873752" y="2542032"/>
            <a:ext cx="457200" cy="274320"/>
          </a:xfrm>
          <a:prstGeom prst="rect">
            <a:avLst/>
          </a:prstGeom>
          <a:noFill/>
          <a:ln/>
        </p:spPr>
        <p:txBody>
          <a:bodyPr wrap="square" lIns="0" tIns="0" rIns="0" bIns="0" rtlCol="0" anchor="ctr"/>
          <a:lstStyle/>
          <a:p>
            <a:pPr indent="0" marL="0">
              <a:buNone/>
            </a:pPr>
            <a:r>
              <a:rPr lang="en-US" sz="1300" b="1" dirty="0">
                <a:solidFill>
                  <a:srgbClr val="E04A29"/>
                </a:solidFill>
                <a:latin typeface="Arial" pitchFamily="34" charset="0"/>
                <a:ea typeface="Arial" pitchFamily="34" charset="-122"/>
                <a:cs typeface="Arial" pitchFamily="34" charset="-120"/>
              </a:rPr>
              <a:t>04</a:t>
            </a:r>
            <a:endParaRPr lang="en-US" sz="1300" dirty="0"/>
          </a:p>
        </p:txBody>
      </p:sp>
      <p:sp>
        <p:nvSpPr>
          <p:cNvPr id="18" name="Text 16"/>
          <p:cNvSpPr txBox="1"/>
          <p:nvPr/>
        </p:nvSpPr>
        <p:spPr>
          <a:xfrm>
            <a:off x="5349240" y="2523744"/>
            <a:ext cx="3200400" cy="292608"/>
          </a:xfrm>
          <a:prstGeom prst="rect">
            <a:avLst/>
          </a:prstGeom>
          <a:noFill/>
          <a:ln/>
        </p:spPr>
        <p:txBody>
          <a:bodyPr wrap="square" lIns="0" tIns="0" rIns="0" bIns="0" rtlCol="0" anchor="ctr"/>
          <a:lstStyle/>
          <a:p>
            <a:pPr indent="0" marL="0">
              <a:buNone/>
            </a:pPr>
            <a:r>
              <a:rPr lang="en-US" sz="1350" b="1" dirty="0">
                <a:solidFill>
                  <a:srgbClr val="16191D"/>
                </a:solidFill>
                <a:latin typeface="Arial" pitchFamily="34" charset="0"/>
                <a:ea typeface="Arial" pitchFamily="34" charset="-122"/>
                <a:cs typeface="Arial" pitchFamily="34" charset="-120"/>
              </a:rPr>
              <a:t>You cannot work at the same time</a:t>
            </a:r>
            <a:endParaRPr lang="en-US" sz="1350" dirty="0"/>
          </a:p>
        </p:txBody>
      </p:sp>
      <p:sp>
        <p:nvSpPr>
          <p:cNvPr id="19" name="Text 17"/>
          <p:cNvSpPr txBox="1"/>
          <p:nvPr/>
        </p:nvSpPr>
        <p:spPr>
          <a:xfrm>
            <a:off x="5349240" y="2834640"/>
            <a:ext cx="3200400" cy="475488"/>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Everyone waits for whoever is "holding" the project.</a:t>
            </a:r>
            <a:endParaRPr lang="en-US" sz="1050" dirty="0"/>
          </a:p>
        </p:txBody>
      </p:sp>
      <p:sp>
        <p:nvSpPr>
          <p:cNvPr id="20" name="Shape 18"/>
          <p:cNvSpPr/>
          <p:nvPr/>
        </p:nvSpPr>
        <p:spPr>
          <a:xfrm>
            <a:off x="502920" y="3529584"/>
            <a:ext cx="3977640" cy="969264"/>
          </a:xfrm>
          <a:prstGeom prst="roundRect">
            <a:avLst>
              <a:gd name="adj" fmla="val 5660"/>
            </a:avLst>
          </a:prstGeom>
          <a:solidFill>
            <a:srgbClr val="F3F5F7"/>
          </a:solidFill>
          <a:ln w="12700">
            <a:solidFill>
              <a:srgbClr val="D5DCE3"/>
            </a:solidFill>
            <a:prstDash val="solid"/>
          </a:ln>
        </p:spPr>
      </p:sp>
      <p:sp>
        <p:nvSpPr>
          <p:cNvPr id="21" name="Text 19"/>
          <p:cNvSpPr txBox="1"/>
          <p:nvPr/>
        </p:nvSpPr>
        <p:spPr>
          <a:xfrm>
            <a:off x="667512" y="3657600"/>
            <a:ext cx="457200" cy="274320"/>
          </a:xfrm>
          <a:prstGeom prst="rect">
            <a:avLst/>
          </a:prstGeom>
          <a:noFill/>
          <a:ln/>
        </p:spPr>
        <p:txBody>
          <a:bodyPr wrap="square" lIns="0" tIns="0" rIns="0" bIns="0" rtlCol="0" anchor="ctr"/>
          <a:lstStyle/>
          <a:p>
            <a:pPr indent="0" marL="0">
              <a:buNone/>
            </a:pPr>
            <a:r>
              <a:rPr lang="en-US" sz="1300" b="1" dirty="0">
                <a:solidFill>
                  <a:srgbClr val="E04A29"/>
                </a:solidFill>
                <a:latin typeface="Arial" pitchFamily="34" charset="0"/>
                <a:ea typeface="Arial" pitchFamily="34" charset="-122"/>
                <a:cs typeface="Arial" pitchFamily="34" charset="-120"/>
              </a:rPr>
              <a:t>05</a:t>
            </a:r>
            <a:endParaRPr lang="en-US" sz="1300" dirty="0"/>
          </a:p>
        </p:txBody>
      </p:sp>
      <p:sp>
        <p:nvSpPr>
          <p:cNvPr id="22" name="Text 20"/>
          <p:cNvSpPr txBox="1"/>
          <p:nvPr/>
        </p:nvSpPr>
        <p:spPr>
          <a:xfrm>
            <a:off x="1143000" y="3639312"/>
            <a:ext cx="3200400" cy="292608"/>
          </a:xfrm>
          <a:prstGeom prst="rect">
            <a:avLst/>
          </a:prstGeom>
          <a:noFill/>
          <a:ln/>
        </p:spPr>
        <p:txBody>
          <a:bodyPr wrap="square" lIns="0" tIns="0" rIns="0" bIns="0" rtlCol="0" anchor="ctr"/>
          <a:lstStyle/>
          <a:p>
            <a:pPr indent="0" marL="0">
              <a:buNone/>
            </a:pPr>
            <a:r>
              <a:rPr lang="en-US" sz="1350" b="1" dirty="0">
                <a:solidFill>
                  <a:srgbClr val="16191D"/>
                </a:solidFill>
                <a:latin typeface="Arial" pitchFamily="34" charset="0"/>
                <a:ea typeface="Arial" pitchFamily="34" charset="-122"/>
                <a:cs typeface="Arial" pitchFamily="34" charset="-120"/>
              </a:rPr>
              <a:t>No safe place to experiment</a:t>
            </a:r>
            <a:endParaRPr lang="en-US" sz="1350" dirty="0"/>
          </a:p>
        </p:txBody>
      </p:sp>
      <p:sp>
        <p:nvSpPr>
          <p:cNvPr id="23" name="Text 21"/>
          <p:cNvSpPr txBox="1"/>
          <p:nvPr/>
        </p:nvSpPr>
        <p:spPr>
          <a:xfrm>
            <a:off x="1143000" y="3950208"/>
            <a:ext cx="3200400" cy="475488"/>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Trying something risky means risking the only copy that works.</a:t>
            </a:r>
            <a:endParaRPr lang="en-US" sz="1050" dirty="0"/>
          </a:p>
        </p:txBody>
      </p:sp>
      <p:sp>
        <p:nvSpPr>
          <p:cNvPr id="24" name="Shape 22"/>
          <p:cNvSpPr/>
          <p:nvPr/>
        </p:nvSpPr>
        <p:spPr>
          <a:xfrm>
            <a:off x="4709160" y="3529584"/>
            <a:ext cx="3977640" cy="969264"/>
          </a:xfrm>
          <a:prstGeom prst="roundRect">
            <a:avLst>
              <a:gd name="adj" fmla="val 5660"/>
            </a:avLst>
          </a:prstGeom>
          <a:solidFill>
            <a:srgbClr val="16191D"/>
          </a:solidFill>
          <a:ln w="12700">
            <a:solidFill>
              <a:srgbClr val="16191D"/>
            </a:solidFill>
            <a:prstDash val="solid"/>
          </a:ln>
        </p:spPr>
      </p:sp>
      <p:sp>
        <p:nvSpPr>
          <p:cNvPr id="25" name="Text 23"/>
          <p:cNvSpPr txBox="1"/>
          <p:nvPr/>
        </p:nvSpPr>
        <p:spPr>
          <a:xfrm>
            <a:off x="4937760" y="3703320"/>
            <a:ext cx="3566160" cy="64008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Git was invented to fix exactly these five things.</a:t>
            </a:r>
            <a:endParaRPr lang="en-US" sz="1450" dirty="0"/>
          </a:p>
        </p:txBody>
      </p:sp>
      <p:sp>
        <p:nvSpPr>
          <p:cNvPr id="26" name="Text 24"/>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NOW SCALE IT UP</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800" b="1" dirty="0">
                <a:solidFill>
                  <a:srgbClr val="16191D"/>
                </a:solidFill>
                <a:latin typeface="Arial" pitchFamily="34" charset="0"/>
                <a:ea typeface="Arial" pitchFamily="34" charset="-122"/>
                <a:cs typeface="Arial" pitchFamily="34" charset="-120"/>
              </a:rPr>
              <a:t>Your project is 4 people. Swiggy is 400.</a:t>
            </a:r>
            <a:endParaRPr lang="en-US" sz="2800" dirty="0"/>
          </a:p>
        </p:txBody>
      </p:sp>
      <p:sp>
        <p:nvSpPr>
          <p:cNvPr id="4" name="Text 2"/>
          <p:cNvSpPr txBox="1"/>
          <p:nvPr/>
        </p:nvSpPr>
        <p:spPr>
          <a:xfrm>
            <a:off x="502920" y="1417320"/>
            <a:ext cx="1920240" cy="822960"/>
          </a:xfrm>
          <a:prstGeom prst="rect">
            <a:avLst/>
          </a:prstGeom>
          <a:noFill/>
          <a:ln/>
        </p:spPr>
        <p:txBody>
          <a:bodyPr wrap="square" lIns="0" tIns="0" rIns="0" bIns="0" rtlCol="0" anchor="ctr"/>
          <a:lstStyle/>
          <a:p>
            <a:pPr algn="l" indent="0" marL="0">
              <a:buNone/>
            </a:pPr>
            <a:r>
              <a:rPr lang="en-US" sz="4800" b="1" dirty="0">
                <a:solidFill>
                  <a:srgbClr val="E04A29"/>
                </a:solidFill>
                <a:latin typeface="Arial" pitchFamily="34" charset="0"/>
                <a:ea typeface="Arial" pitchFamily="34" charset="-122"/>
                <a:cs typeface="Arial" pitchFamily="34" charset="-120"/>
              </a:rPr>
              <a:t>400+</a:t>
            </a:r>
            <a:endParaRPr lang="en-US" sz="4800" dirty="0"/>
          </a:p>
        </p:txBody>
      </p:sp>
      <p:sp>
        <p:nvSpPr>
          <p:cNvPr id="5" name="Text 3"/>
          <p:cNvSpPr txBox="1"/>
          <p:nvPr/>
        </p:nvSpPr>
        <p:spPr>
          <a:xfrm>
            <a:off x="502920" y="2203704"/>
            <a:ext cx="1920240" cy="457200"/>
          </a:xfrm>
          <a:prstGeom prst="rect">
            <a:avLst/>
          </a:prstGeom>
          <a:noFill/>
          <a:ln/>
        </p:spPr>
        <p:txBody>
          <a:bodyPr wrap="square" lIns="0" tIns="0" rIns="0" bIns="0" rtlCol="0" anchor="t"/>
          <a:lstStyle/>
          <a:p>
            <a:pPr algn="l" indent="0" marL="0">
              <a:buNone/>
            </a:pPr>
            <a:r>
              <a:rPr lang="en-US" sz="1200" dirty="0">
                <a:solidFill>
                  <a:srgbClr val="5A6572"/>
                </a:solidFill>
                <a:latin typeface="Calibri" pitchFamily="34" charset="0"/>
                <a:ea typeface="Calibri" pitchFamily="34" charset="-122"/>
                <a:cs typeface="Calibri" pitchFamily="34" charset="-120"/>
              </a:rPr>
              <a:t>developers on one</a:t>
            </a:r>
            <a:endParaRPr lang="en-US" sz="1200" dirty="0"/>
          </a:p>
          <a:p>
            <a:pPr algn="l" indent="0" marL="0">
              <a:buNone/>
            </a:pPr>
            <a:r>
              <a:rPr lang="en-US" sz="1200" dirty="0">
                <a:solidFill>
                  <a:srgbClr val="5A6572"/>
                </a:solidFill>
                <a:latin typeface="Calibri" pitchFamily="34" charset="0"/>
                <a:ea typeface="Calibri" pitchFamily="34" charset="-122"/>
                <a:cs typeface="Calibri" pitchFamily="34" charset="-120"/>
              </a:rPr>
              <a:t>product codebase</a:t>
            </a:r>
            <a:endParaRPr lang="en-US" sz="1200" dirty="0"/>
          </a:p>
        </p:txBody>
      </p:sp>
      <p:sp>
        <p:nvSpPr>
          <p:cNvPr id="6" name="Text 4"/>
          <p:cNvSpPr txBox="1"/>
          <p:nvPr/>
        </p:nvSpPr>
        <p:spPr>
          <a:xfrm>
            <a:off x="2606040" y="1417320"/>
            <a:ext cx="1920240" cy="822960"/>
          </a:xfrm>
          <a:prstGeom prst="rect">
            <a:avLst/>
          </a:prstGeom>
          <a:noFill/>
          <a:ln/>
        </p:spPr>
        <p:txBody>
          <a:bodyPr wrap="square" lIns="0" tIns="0" rIns="0" bIns="0" rtlCol="0" anchor="ctr"/>
          <a:lstStyle/>
          <a:p>
            <a:pPr algn="l" indent="0" marL="0">
              <a:buNone/>
            </a:pPr>
            <a:r>
              <a:rPr lang="en-US" sz="4800" b="1" dirty="0">
                <a:solidFill>
                  <a:srgbClr val="16191D"/>
                </a:solidFill>
                <a:latin typeface="Arial" pitchFamily="34" charset="0"/>
                <a:ea typeface="Arial" pitchFamily="34" charset="-122"/>
                <a:cs typeface="Arial" pitchFamily="34" charset="-120"/>
              </a:rPr>
              <a:t>1</a:t>
            </a:r>
            <a:endParaRPr lang="en-US" sz="4800" dirty="0"/>
          </a:p>
        </p:txBody>
      </p:sp>
      <p:sp>
        <p:nvSpPr>
          <p:cNvPr id="7" name="Text 5"/>
          <p:cNvSpPr txBox="1"/>
          <p:nvPr/>
        </p:nvSpPr>
        <p:spPr>
          <a:xfrm>
            <a:off x="2606040" y="2203704"/>
            <a:ext cx="1920240" cy="457200"/>
          </a:xfrm>
          <a:prstGeom prst="rect">
            <a:avLst/>
          </a:prstGeom>
          <a:noFill/>
          <a:ln/>
        </p:spPr>
        <p:txBody>
          <a:bodyPr wrap="square" lIns="0" tIns="0" rIns="0" bIns="0" rtlCol="0" anchor="t"/>
          <a:lstStyle/>
          <a:p>
            <a:pPr algn="l" indent="0" marL="0">
              <a:buNone/>
            </a:pPr>
            <a:r>
              <a:rPr lang="en-US" sz="1200" dirty="0">
                <a:solidFill>
                  <a:srgbClr val="5A6572"/>
                </a:solidFill>
                <a:latin typeface="Calibri" pitchFamily="34" charset="0"/>
                <a:ea typeface="Calibri" pitchFamily="34" charset="-122"/>
                <a:cs typeface="Calibri" pitchFamily="34" charset="-120"/>
              </a:rPr>
              <a:t>shared repository</a:t>
            </a:r>
            <a:endParaRPr lang="en-US" sz="1200" dirty="0"/>
          </a:p>
          <a:p>
            <a:pPr algn="l" indent="0" marL="0">
              <a:buNone/>
            </a:pPr>
            <a:r>
              <a:rPr lang="en-US" sz="1200" dirty="0">
                <a:solidFill>
                  <a:srgbClr val="5A6572"/>
                </a:solidFill>
                <a:latin typeface="Calibri" pitchFamily="34" charset="0"/>
                <a:ea typeface="Calibri" pitchFamily="34" charset="-122"/>
                <a:cs typeface="Calibri" pitchFamily="34" charset="-120"/>
              </a:rPr>
              <a:t>everyone depends on</a:t>
            </a:r>
            <a:endParaRPr lang="en-US" sz="1200" dirty="0"/>
          </a:p>
        </p:txBody>
      </p:sp>
      <p:sp>
        <p:nvSpPr>
          <p:cNvPr id="8" name="Text 6"/>
          <p:cNvSpPr txBox="1"/>
          <p:nvPr/>
        </p:nvSpPr>
        <p:spPr>
          <a:xfrm>
            <a:off x="4709160" y="1417320"/>
            <a:ext cx="1920240" cy="822960"/>
          </a:xfrm>
          <a:prstGeom prst="rect">
            <a:avLst/>
          </a:prstGeom>
          <a:noFill/>
          <a:ln/>
        </p:spPr>
        <p:txBody>
          <a:bodyPr wrap="square" lIns="0" tIns="0" rIns="0" bIns="0" rtlCol="0" anchor="ctr"/>
          <a:lstStyle/>
          <a:p>
            <a:pPr algn="l" indent="0" marL="0">
              <a:buNone/>
            </a:pPr>
            <a:r>
              <a:rPr lang="en-US" sz="4800" b="1" dirty="0">
                <a:solidFill>
                  <a:srgbClr val="7B3FD4"/>
                </a:solidFill>
                <a:latin typeface="Arial" pitchFamily="34" charset="0"/>
                <a:ea typeface="Arial" pitchFamily="34" charset="-122"/>
                <a:cs typeface="Arial" pitchFamily="34" charset="-120"/>
              </a:rPr>
              <a:t>100s</a:t>
            </a:r>
            <a:endParaRPr lang="en-US" sz="4800" dirty="0"/>
          </a:p>
        </p:txBody>
      </p:sp>
      <p:sp>
        <p:nvSpPr>
          <p:cNvPr id="9" name="Text 7"/>
          <p:cNvSpPr txBox="1"/>
          <p:nvPr/>
        </p:nvSpPr>
        <p:spPr>
          <a:xfrm>
            <a:off x="4709160" y="2203704"/>
            <a:ext cx="1920240" cy="457200"/>
          </a:xfrm>
          <a:prstGeom prst="rect">
            <a:avLst/>
          </a:prstGeom>
          <a:noFill/>
          <a:ln/>
        </p:spPr>
        <p:txBody>
          <a:bodyPr wrap="square" lIns="0" tIns="0" rIns="0" bIns="0" rtlCol="0" anchor="t"/>
          <a:lstStyle/>
          <a:p>
            <a:pPr algn="l" indent="0" marL="0">
              <a:buNone/>
            </a:pPr>
            <a:r>
              <a:rPr lang="en-US" sz="1200" dirty="0">
                <a:solidFill>
                  <a:srgbClr val="5A6572"/>
                </a:solidFill>
                <a:latin typeface="Calibri" pitchFamily="34" charset="0"/>
                <a:ea typeface="Calibri" pitchFamily="34" charset="-122"/>
                <a:cs typeface="Calibri" pitchFamily="34" charset="-120"/>
              </a:rPr>
              <a:t>of changes merged</a:t>
            </a:r>
            <a:endParaRPr lang="en-US" sz="1200" dirty="0"/>
          </a:p>
          <a:p>
            <a:pPr algn="l" indent="0" marL="0">
              <a:buNone/>
            </a:pPr>
            <a:r>
              <a:rPr lang="en-US" sz="1200" dirty="0">
                <a:solidFill>
                  <a:srgbClr val="5A6572"/>
                </a:solidFill>
                <a:latin typeface="Calibri" pitchFamily="34" charset="0"/>
                <a:ea typeface="Calibri" pitchFamily="34" charset="-122"/>
                <a:cs typeface="Calibri" pitchFamily="34" charset="-120"/>
              </a:rPr>
              <a:t>every single day</a:t>
            </a:r>
            <a:endParaRPr lang="en-US" sz="1200" dirty="0"/>
          </a:p>
        </p:txBody>
      </p:sp>
      <p:sp>
        <p:nvSpPr>
          <p:cNvPr id="10" name="Text 8"/>
          <p:cNvSpPr txBox="1"/>
          <p:nvPr/>
        </p:nvSpPr>
        <p:spPr>
          <a:xfrm>
            <a:off x="6812280" y="1417320"/>
            <a:ext cx="1920240" cy="822960"/>
          </a:xfrm>
          <a:prstGeom prst="rect">
            <a:avLst/>
          </a:prstGeom>
          <a:noFill/>
          <a:ln/>
        </p:spPr>
        <p:txBody>
          <a:bodyPr wrap="square" lIns="0" tIns="0" rIns="0" bIns="0" rtlCol="0" anchor="ctr"/>
          <a:lstStyle/>
          <a:p>
            <a:pPr algn="l" indent="0" marL="0">
              <a:buNone/>
            </a:pPr>
            <a:r>
              <a:rPr lang="en-US" sz="4800" b="1" dirty="0">
                <a:solidFill>
                  <a:srgbClr val="1F8A42"/>
                </a:solidFill>
                <a:latin typeface="Arial" pitchFamily="34" charset="0"/>
                <a:ea typeface="Arial" pitchFamily="34" charset="-122"/>
                <a:cs typeface="Arial" pitchFamily="34" charset="-120"/>
              </a:rPr>
              <a:t>0</a:t>
            </a:r>
            <a:endParaRPr lang="en-US" sz="4800" dirty="0"/>
          </a:p>
        </p:txBody>
      </p:sp>
      <p:sp>
        <p:nvSpPr>
          <p:cNvPr id="11" name="Text 9"/>
          <p:cNvSpPr txBox="1"/>
          <p:nvPr/>
        </p:nvSpPr>
        <p:spPr>
          <a:xfrm>
            <a:off x="6812280" y="2203704"/>
            <a:ext cx="1920240" cy="457200"/>
          </a:xfrm>
          <a:prstGeom prst="rect">
            <a:avLst/>
          </a:prstGeom>
          <a:noFill/>
          <a:ln/>
        </p:spPr>
        <p:txBody>
          <a:bodyPr wrap="square" lIns="0" tIns="0" rIns="0" bIns="0" rtlCol="0" anchor="t"/>
          <a:lstStyle/>
          <a:p>
            <a:pPr algn="l" indent="0" marL="0">
              <a:buNone/>
            </a:pPr>
            <a:r>
              <a:rPr lang="en-US" sz="1200" dirty="0">
                <a:solidFill>
                  <a:srgbClr val="5A6572"/>
                </a:solidFill>
                <a:latin typeface="Calibri" pitchFamily="34" charset="0"/>
                <a:ea typeface="Calibri" pitchFamily="34" charset="-122"/>
                <a:cs typeface="Calibri" pitchFamily="34" charset="-120"/>
              </a:rPr>
              <a:t>zip files emailed</a:t>
            </a:r>
            <a:endParaRPr lang="en-US" sz="1200" dirty="0"/>
          </a:p>
          <a:p>
            <a:pPr algn="l" indent="0" marL="0">
              <a:buNone/>
            </a:pPr>
            <a:r>
              <a:rPr lang="en-US" sz="1200" dirty="0">
                <a:solidFill>
                  <a:srgbClr val="5A6572"/>
                </a:solidFill>
                <a:latin typeface="Calibri" pitchFamily="34" charset="0"/>
                <a:ea typeface="Calibri" pitchFamily="34" charset="-122"/>
                <a:cs typeface="Calibri" pitchFamily="34" charset="-120"/>
              </a:rPr>
              <a:t>to anyone, ever</a:t>
            </a:r>
            <a:endParaRPr lang="en-US" sz="1200" dirty="0"/>
          </a:p>
        </p:txBody>
      </p:sp>
      <p:sp>
        <p:nvSpPr>
          <p:cNvPr id="12" name="Shape 10"/>
          <p:cNvSpPr/>
          <p:nvPr/>
        </p:nvSpPr>
        <p:spPr>
          <a:xfrm>
            <a:off x="502920" y="3017520"/>
            <a:ext cx="8183880" cy="1371600"/>
          </a:xfrm>
          <a:prstGeom prst="roundRect">
            <a:avLst>
              <a:gd name="adj" fmla="val 4000"/>
            </a:avLst>
          </a:prstGeom>
          <a:solidFill>
            <a:srgbClr val="F3F5F7"/>
          </a:solidFill>
          <a:ln w="12700">
            <a:solidFill>
              <a:srgbClr val="D5DCE3"/>
            </a:solidFill>
            <a:prstDash val="solid"/>
          </a:ln>
        </p:spPr>
      </p:sp>
      <p:sp>
        <p:nvSpPr>
          <p:cNvPr id="13" name="Text 11"/>
          <p:cNvSpPr txBox="1"/>
          <p:nvPr/>
        </p:nvSpPr>
        <p:spPr>
          <a:xfrm>
            <a:off x="777240" y="3154680"/>
            <a:ext cx="7680960" cy="274320"/>
          </a:xfrm>
          <a:prstGeom prst="rect">
            <a:avLst/>
          </a:prstGeom>
          <a:noFill/>
          <a:ln/>
        </p:spPr>
        <p:txBody>
          <a:bodyPr wrap="square" lIns="0" tIns="0" rIns="0" bIns="0" rtlCol="0" anchor="ctr"/>
          <a:lstStyle/>
          <a:p>
            <a:pPr indent="0" marL="0">
              <a:buNone/>
            </a:pPr>
            <a:r>
              <a:rPr lang="en-US" sz="1250" b="1" dirty="0">
                <a:solidFill>
                  <a:srgbClr val="16191D"/>
                </a:solidFill>
                <a:latin typeface="Arial" pitchFamily="34" charset="0"/>
                <a:ea typeface="Arial" pitchFamily="34" charset="-122"/>
                <a:cs typeface="Arial" pitchFamily="34" charset="-120"/>
              </a:rPr>
              <a:t>Where you will actually meet this</a:t>
            </a:r>
            <a:endParaRPr lang="en-US" sz="1250" dirty="0"/>
          </a:p>
        </p:txBody>
      </p:sp>
      <p:sp>
        <p:nvSpPr>
          <p:cNvPr id="14" name="Text 12"/>
          <p:cNvSpPr txBox="1"/>
          <p:nvPr/>
        </p:nvSpPr>
        <p:spPr>
          <a:xfrm>
            <a:off x="777240" y="3474720"/>
            <a:ext cx="7680960" cy="822960"/>
          </a:xfrm>
          <a:prstGeom prst="rect">
            <a:avLst/>
          </a:prstGeom>
          <a:noFill/>
          <a:ln/>
        </p:spPr>
        <p:txBody>
          <a:bodyPr wrap="square" lIns="0" tIns="0" rIns="0" bIns="0" rtlCol="0" anchor="ctr"/>
          <a:lstStyle/>
          <a:p>
            <a:pPr indent="0" marL="0">
              <a:lnSpc>
                <a:spcPct val="135000"/>
              </a:lnSpc>
              <a:buNone/>
            </a:pPr>
            <a:r>
              <a:rPr lang="en-US" sz="1150" dirty="0">
                <a:solidFill>
                  <a:srgbClr val="5A6572"/>
                </a:solidFill>
                <a:latin typeface="Calibri" pitchFamily="34" charset="0"/>
                <a:ea typeface="Calibri" pitchFamily="34" charset="-122"/>
                <a:cs typeface="Calibri" pitchFamily="34" charset="-120"/>
              </a:rPr>
              <a:t>Swiggy — cart, checkout and search teams ship the same app in the same week.</a:t>
            </a:r>
            <a:endParaRPr lang="en-US" sz="1150" dirty="0"/>
          </a:p>
          <a:p>
            <a:pPr indent="0" marL="0">
              <a:lnSpc>
                <a:spcPct val="135000"/>
              </a:lnSpc>
              <a:buNone/>
            </a:pPr>
            <a:r>
              <a:rPr lang="en-US" sz="1150" dirty="0">
                <a:solidFill>
                  <a:srgbClr val="5A6572"/>
                </a:solidFill>
                <a:latin typeface="Calibri" pitchFamily="34" charset="0"/>
                <a:ea typeface="Calibri" pitchFamily="34" charset="-122"/>
                <a:cs typeface="Calibri" pitchFamily="34" charset="-120"/>
              </a:rPr>
              <a:t>HDFC Bank — every change to a payment screen must show who wrote it, who approved it, and when.</a:t>
            </a:r>
            <a:endParaRPr lang="en-US" sz="1150" dirty="0"/>
          </a:p>
          <a:p>
            <a:pPr indent="0" marL="0">
              <a:lnSpc>
                <a:spcPct val="135000"/>
              </a:lnSpc>
              <a:buNone/>
            </a:pPr>
            <a:r>
              <a:rPr lang="en-US" sz="1150" dirty="0">
                <a:solidFill>
                  <a:srgbClr val="5A6572"/>
                </a:solidFill>
                <a:latin typeface="Calibri" pitchFamily="34" charset="0"/>
                <a:ea typeface="Calibri" pitchFamily="34" charset="-122"/>
                <a:cs typeface="Calibri" pitchFamily="34" charset="-120"/>
              </a:rPr>
              <a:t>Apollo Hospitals — a booking bug is patched today without freezing the five features already in progress.</a:t>
            </a:r>
            <a:endParaRPr lang="en-US" sz="1150" dirty="0"/>
          </a:p>
        </p:txBody>
      </p:sp>
      <p:sp>
        <p:nvSpPr>
          <p:cNvPr id="15" name="Text 13"/>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THE DEFINITION TO MEMORISE</a:t>
            </a:r>
            <a:endParaRPr lang="en-US" sz="1000" dirty="0"/>
          </a:p>
        </p:txBody>
      </p:sp>
      <p:sp>
        <p:nvSpPr>
          <p:cNvPr id="3" name="Text 1"/>
          <p:cNvSpPr txBox="1"/>
          <p:nvPr/>
        </p:nvSpPr>
        <p:spPr>
          <a:xfrm>
            <a:off x="640080" y="1234440"/>
            <a:ext cx="7863840" cy="1828800"/>
          </a:xfrm>
          <a:prstGeom prst="rect">
            <a:avLst/>
          </a:prstGeom>
          <a:noFill/>
          <a:ln/>
        </p:spPr>
        <p:txBody>
          <a:bodyPr wrap="square" lIns="0" tIns="0" rIns="0" bIns="0" rtlCol="0" anchor="ctr"/>
          <a:lstStyle/>
          <a:p>
            <a:pPr indent="0" marL="0">
              <a:lnSpc>
                <a:spcPct val="125000"/>
              </a:lnSpc>
              <a:buNone/>
            </a:pPr>
            <a:r>
              <a:rPr lang="en-US" sz="2500" b="1" dirty="0">
                <a:solidFill>
                  <a:srgbClr val="FFFFFF"/>
                </a:solidFill>
                <a:latin typeface="Arial" pitchFamily="34" charset="0"/>
                <a:ea typeface="Arial" pitchFamily="34" charset="-122"/>
                <a:cs typeface="Arial" pitchFamily="34" charset="-120"/>
              </a:rPr>
              <a:t>Git is a time machine for your code —</a:t>
            </a:r>
            <a:endParaRPr lang="en-US" sz="2500" dirty="0"/>
          </a:p>
          <a:p>
            <a:pPr indent="0" marL="0">
              <a:lnSpc>
                <a:spcPct val="125000"/>
              </a:lnSpc>
              <a:buNone/>
            </a:pPr>
            <a:r>
              <a:rPr lang="en-US" sz="2500" b="1" dirty="0">
                <a:solidFill>
                  <a:srgbClr val="FFFFFF"/>
                </a:solidFill>
                <a:latin typeface="Arial" pitchFamily="34" charset="0"/>
                <a:ea typeface="Arial" pitchFamily="34" charset="-122"/>
                <a:cs typeface="Arial" pitchFamily="34" charset="-120"/>
              </a:rPr>
              <a:t>and a way for many people to edit the</a:t>
            </a:r>
            <a:endParaRPr lang="en-US" sz="2500" dirty="0"/>
          </a:p>
          <a:p>
            <a:pPr indent="0" marL="0">
              <a:lnSpc>
                <a:spcPct val="125000"/>
              </a:lnSpc>
              <a:buNone/>
            </a:pPr>
            <a:r>
              <a:rPr lang="en-US" sz="2500" b="1" dirty="0">
                <a:solidFill>
                  <a:srgbClr val="FFFFFF"/>
                </a:solidFill>
                <a:latin typeface="Arial" pitchFamily="34" charset="0"/>
                <a:ea typeface="Arial" pitchFamily="34" charset="-122"/>
                <a:cs typeface="Arial" pitchFamily="34" charset="-120"/>
              </a:rPr>
              <a:t>same project without standing on each other.</a:t>
            </a:r>
            <a:endParaRPr lang="en-US" sz="2500" dirty="0"/>
          </a:p>
        </p:txBody>
      </p:sp>
      <p:sp>
        <p:nvSpPr>
          <p:cNvPr id="4" name="Text 2"/>
          <p:cNvSpPr txBox="1"/>
          <p:nvPr/>
        </p:nvSpPr>
        <p:spPr>
          <a:xfrm>
            <a:off x="640080" y="3246120"/>
            <a:ext cx="7863840" cy="365760"/>
          </a:xfrm>
          <a:prstGeom prst="rect">
            <a:avLst/>
          </a:prstGeom>
          <a:noFill/>
          <a:ln/>
        </p:spPr>
        <p:txBody>
          <a:bodyPr wrap="square" lIns="0" tIns="0" rIns="0" bIns="0" rtlCol="0" anchor="ctr"/>
          <a:lstStyle/>
          <a:p>
            <a:pPr indent="0" marL="0">
              <a:buNone/>
            </a:pPr>
            <a:r>
              <a:rPr lang="en-US" sz="1400" dirty="0">
                <a:solidFill>
                  <a:srgbClr val="FFAA64"/>
                </a:solidFill>
                <a:latin typeface="Calibri" pitchFamily="34" charset="0"/>
                <a:ea typeface="Calibri" pitchFamily="34" charset="-122"/>
                <a:cs typeface="Calibri" pitchFamily="34" charset="-120"/>
              </a:rPr>
              <a:t>Both halves matter. We build both today — starting from an empty folder.</a:t>
            </a:r>
            <a:endParaRPr lang="en-US" sz="1400" dirty="0"/>
          </a:p>
        </p:txBody>
      </p:sp>
      <p:sp>
        <p:nvSpPr>
          <p:cNvPr id="5" name="Text 3"/>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5A6572"/>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WHAT YOU ACTUALLY GET</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16191D"/>
                </a:solidFill>
                <a:latin typeface="Arial" pitchFamily="34" charset="0"/>
                <a:ea typeface="Arial" pitchFamily="34" charset="-122"/>
                <a:cs typeface="Arial" pitchFamily="34" charset="-120"/>
              </a:rPr>
              <a:t>Four powers zip files never gave you</a:t>
            </a:r>
            <a:endParaRPr lang="en-US" sz="2900" dirty="0"/>
          </a:p>
        </p:txBody>
      </p:sp>
      <p:sp>
        <p:nvSpPr>
          <p:cNvPr id="4" name="Shape 2"/>
          <p:cNvSpPr/>
          <p:nvPr/>
        </p:nvSpPr>
        <p:spPr>
          <a:xfrm>
            <a:off x="502920" y="1325880"/>
            <a:ext cx="3977640" cy="1389888"/>
          </a:xfrm>
          <a:prstGeom prst="roundRect">
            <a:avLst>
              <a:gd name="adj" fmla="val 3947"/>
            </a:avLst>
          </a:prstGeom>
          <a:solidFill>
            <a:srgbClr val="FFFFFF"/>
          </a:solidFill>
          <a:ln w="12700">
            <a:solidFill>
              <a:srgbClr val="D5DCE3"/>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704088" y="1563624"/>
            <a:ext cx="384048" cy="384048"/>
          </a:xfrm>
          <a:prstGeom prst="ellipse">
            <a:avLst/>
          </a:prstGeom>
          <a:solidFill>
            <a:srgbClr val="E04A29"/>
          </a:solidFill>
          <a:ln w="12700">
            <a:solidFill>
              <a:srgbClr val="E04A29"/>
            </a:solidFill>
            <a:prstDash val="solid"/>
          </a:ln>
        </p:spPr>
      </p:sp>
      <p:sp>
        <p:nvSpPr>
          <p:cNvPr id="6" name="Text 4"/>
          <p:cNvSpPr txBox="1"/>
          <p:nvPr/>
        </p:nvSpPr>
        <p:spPr>
          <a:xfrm>
            <a:off x="704088" y="1563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234440" y="1545336"/>
            <a:ext cx="3017520" cy="329184"/>
          </a:xfrm>
          <a:prstGeom prst="rect">
            <a:avLst/>
          </a:prstGeom>
          <a:noFill/>
          <a:ln/>
        </p:spPr>
        <p:txBody>
          <a:bodyPr wrap="square" lIns="0" tIns="0" rIns="0" bIns="0" rtlCol="0" anchor="ctr"/>
          <a:lstStyle/>
          <a:p>
            <a:pPr indent="0" marL="0">
              <a:buNone/>
            </a:pPr>
            <a:r>
              <a:rPr lang="en-US" sz="1500" b="1" dirty="0">
                <a:solidFill>
                  <a:srgbClr val="16191D"/>
                </a:solidFill>
                <a:latin typeface="Arial" pitchFamily="34" charset="0"/>
                <a:ea typeface="Arial" pitchFamily="34" charset="-122"/>
                <a:cs typeface="Arial" pitchFamily="34" charset="-120"/>
              </a:rPr>
              <a:t>Time machine</a:t>
            </a:r>
            <a:endParaRPr lang="en-US" sz="1500" dirty="0"/>
          </a:p>
        </p:txBody>
      </p:sp>
      <p:sp>
        <p:nvSpPr>
          <p:cNvPr id="8" name="Text 6"/>
          <p:cNvSpPr txBox="1"/>
          <p:nvPr/>
        </p:nvSpPr>
        <p:spPr>
          <a:xfrm>
            <a:off x="1234440" y="1911096"/>
            <a:ext cx="3017520" cy="685800"/>
          </a:xfrm>
          <a:prstGeom prst="rect">
            <a:avLst/>
          </a:prstGeom>
          <a:noFill/>
          <a:ln/>
        </p:spPr>
        <p:txBody>
          <a:bodyPr wrap="square" lIns="0" tIns="0" rIns="0" bIns="0" rtlCol="0" anchor="ctr"/>
          <a:lstStyle/>
          <a:p>
            <a:pPr indent="0" marL="0">
              <a:lnSpc>
                <a:spcPct val="125000"/>
              </a:lnSpc>
              <a:buNone/>
            </a:pPr>
            <a:r>
              <a:rPr lang="en-US" sz="1100" dirty="0">
                <a:solidFill>
                  <a:srgbClr val="5A6572"/>
                </a:solidFill>
                <a:latin typeface="Calibri" pitchFamily="34" charset="0"/>
                <a:ea typeface="Calibri" pitchFamily="34" charset="-122"/>
                <a:cs typeface="Calibri" pitchFamily="34" charset="-120"/>
              </a:rPr>
              <a:t>Go back to any commit, from any day. Compare today against last Tuesday in one command.</a:t>
            </a:r>
            <a:endParaRPr lang="en-US" sz="1100" dirty="0"/>
          </a:p>
        </p:txBody>
      </p:sp>
      <p:sp>
        <p:nvSpPr>
          <p:cNvPr id="9" name="Shape 7"/>
          <p:cNvSpPr/>
          <p:nvPr/>
        </p:nvSpPr>
        <p:spPr>
          <a:xfrm>
            <a:off x="4709160" y="1325880"/>
            <a:ext cx="3977640" cy="1389888"/>
          </a:xfrm>
          <a:prstGeom prst="roundRect">
            <a:avLst>
              <a:gd name="adj" fmla="val 3947"/>
            </a:avLst>
          </a:prstGeom>
          <a:solidFill>
            <a:srgbClr val="FFFFFF"/>
          </a:solidFill>
          <a:ln w="12700">
            <a:solidFill>
              <a:srgbClr val="D5DCE3"/>
            </a:solidFill>
            <a:prstDash val="solid"/>
          </a:ln>
          <a:effectLst>
            <a:outerShdw sx="100000" sy="100000" kx="0" ky="0" algn="bl" rotWithShape="0" blurRad="177800" dist="25400" dir="5400000">
              <a:srgbClr val="000000">
                <a:alpha val="10000"/>
              </a:srgbClr>
            </a:outerShdw>
          </a:effectLst>
        </p:spPr>
      </p:sp>
      <p:sp>
        <p:nvSpPr>
          <p:cNvPr id="10" name="Shape 8"/>
          <p:cNvSpPr/>
          <p:nvPr/>
        </p:nvSpPr>
        <p:spPr>
          <a:xfrm>
            <a:off x="4910328" y="1563624"/>
            <a:ext cx="384048" cy="384048"/>
          </a:xfrm>
          <a:prstGeom prst="ellipse">
            <a:avLst/>
          </a:prstGeom>
          <a:solidFill>
            <a:srgbClr val="7B3FD4"/>
          </a:solidFill>
          <a:ln w="12700">
            <a:solidFill>
              <a:srgbClr val="7B3FD4"/>
            </a:solidFill>
            <a:prstDash val="solid"/>
          </a:ln>
        </p:spPr>
      </p:sp>
      <p:sp>
        <p:nvSpPr>
          <p:cNvPr id="11" name="Text 9"/>
          <p:cNvSpPr txBox="1"/>
          <p:nvPr/>
        </p:nvSpPr>
        <p:spPr>
          <a:xfrm>
            <a:off x="4910328" y="1563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5440680" y="1545336"/>
            <a:ext cx="3017520" cy="329184"/>
          </a:xfrm>
          <a:prstGeom prst="rect">
            <a:avLst/>
          </a:prstGeom>
          <a:noFill/>
          <a:ln/>
        </p:spPr>
        <p:txBody>
          <a:bodyPr wrap="square" lIns="0" tIns="0" rIns="0" bIns="0" rtlCol="0" anchor="ctr"/>
          <a:lstStyle/>
          <a:p>
            <a:pPr indent="0" marL="0">
              <a:buNone/>
            </a:pPr>
            <a:r>
              <a:rPr lang="en-US" sz="1500" b="1" dirty="0">
                <a:solidFill>
                  <a:srgbClr val="16191D"/>
                </a:solidFill>
                <a:latin typeface="Arial" pitchFamily="34" charset="0"/>
                <a:ea typeface="Arial" pitchFamily="34" charset="-122"/>
                <a:cs typeface="Arial" pitchFamily="34" charset="-120"/>
              </a:rPr>
              <a:t>Parallel work</a:t>
            </a:r>
            <a:endParaRPr lang="en-US" sz="1500" dirty="0"/>
          </a:p>
        </p:txBody>
      </p:sp>
      <p:sp>
        <p:nvSpPr>
          <p:cNvPr id="13" name="Text 11"/>
          <p:cNvSpPr txBox="1"/>
          <p:nvPr/>
        </p:nvSpPr>
        <p:spPr>
          <a:xfrm>
            <a:off x="5440680" y="1911096"/>
            <a:ext cx="3017520" cy="685800"/>
          </a:xfrm>
          <a:prstGeom prst="rect">
            <a:avLst/>
          </a:prstGeom>
          <a:noFill/>
          <a:ln/>
        </p:spPr>
        <p:txBody>
          <a:bodyPr wrap="square" lIns="0" tIns="0" rIns="0" bIns="0" rtlCol="0" anchor="ctr"/>
          <a:lstStyle/>
          <a:p>
            <a:pPr indent="0" marL="0">
              <a:lnSpc>
                <a:spcPct val="125000"/>
              </a:lnSpc>
              <a:buNone/>
            </a:pPr>
            <a:r>
              <a:rPr lang="en-US" sz="1100" dirty="0">
                <a:solidFill>
                  <a:srgbClr val="5A6572"/>
                </a:solidFill>
                <a:latin typeface="Calibri" pitchFamily="34" charset="0"/>
                <a:ea typeface="Calibri" pitchFamily="34" charset="-122"/>
                <a:cs typeface="Calibri" pitchFamily="34" charset="-120"/>
              </a:rPr>
              <a:t>Six people change six things at once in the same project. Nobody waits for anybody.</a:t>
            </a:r>
            <a:endParaRPr lang="en-US" sz="1100" dirty="0"/>
          </a:p>
        </p:txBody>
      </p:sp>
      <p:sp>
        <p:nvSpPr>
          <p:cNvPr id="14" name="Shape 12"/>
          <p:cNvSpPr/>
          <p:nvPr/>
        </p:nvSpPr>
        <p:spPr>
          <a:xfrm>
            <a:off x="502920" y="2898648"/>
            <a:ext cx="3977640" cy="1389888"/>
          </a:xfrm>
          <a:prstGeom prst="roundRect">
            <a:avLst>
              <a:gd name="adj" fmla="val 3947"/>
            </a:avLst>
          </a:prstGeom>
          <a:solidFill>
            <a:srgbClr val="FFFFFF"/>
          </a:solidFill>
          <a:ln w="12700">
            <a:solidFill>
              <a:srgbClr val="D5DCE3"/>
            </a:solidFill>
            <a:prstDash val="solid"/>
          </a:ln>
          <a:effectLst>
            <a:outerShdw sx="100000" sy="100000" kx="0" ky="0" algn="bl" rotWithShape="0" blurRad="177800" dist="25400" dir="5400000">
              <a:srgbClr val="000000">
                <a:alpha val="10000"/>
              </a:srgbClr>
            </a:outerShdw>
          </a:effectLst>
        </p:spPr>
      </p:sp>
      <p:sp>
        <p:nvSpPr>
          <p:cNvPr id="15" name="Shape 13"/>
          <p:cNvSpPr/>
          <p:nvPr/>
        </p:nvSpPr>
        <p:spPr>
          <a:xfrm>
            <a:off x="704088" y="3136392"/>
            <a:ext cx="384048" cy="384048"/>
          </a:xfrm>
          <a:prstGeom prst="ellipse">
            <a:avLst/>
          </a:prstGeom>
          <a:solidFill>
            <a:srgbClr val="1F8A42"/>
          </a:solidFill>
          <a:ln w="12700">
            <a:solidFill>
              <a:srgbClr val="1F8A42"/>
            </a:solidFill>
            <a:prstDash val="solid"/>
          </a:ln>
        </p:spPr>
      </p:sp>
      <p:sp>
        <p:nvSpPr>
          <p:cNvPr id="16" name="Text 14"/>
          <p:cNvSpPr txBox="1"/>
          <p:nvPr/>
        </p:nvSpPr>
        <p:spPr>
          <a:xfrm>
            <a:off x="704088"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1234440" y="3118104"/>
            <a:ext cx="3017520" cy="329184"/>
          </a:xfrm>
          <a:prstGeom prst="rect">
            <a:avLst/>
          </a:prstGeom>
          <a:noFill/>
          <a:ln/>
        </p:spPr>
        <p:txBody>
          <a:bodyPr wrap="square" lIns="0" tIns="0" rIns="0" bIns="0" rtlCol="0" anchor="ctr"/>
          <a:lstStyle/>
          <a:p>
            <a:pPr indent="0" marL="0">
              <a:buNone/>
            </a:pPr>
            <a:r>
              <a:rPr lang="en-US" sz="1500" b="1" dirty="0">
                <a:solidFill>
                  <a:srgbClr val="16191D"/>
                </a:solidFill>
                <a:latin typeface="Arial" pitchFamily="34" charset="0"/>
                <a:ea typeface="Arial" pitchFamily="34" charset="-122"/>
                <a:cs typeface="Arial" pitchFamily="34" charset="-120"/>
              </a:rPr>
              <a:t>Audit trail</a:t>
            </a:r>
            <a:endParaRPr lang="en-US" sz="1500" dirty="0"/>
          </a:p>
        </p:txBody>
      </p:sp>
      <p:sp>
        <p:nvSpPr>
          <p:cNvPr id="18" name="Text 16"/>
          <p:cNvSpPr txBox="1"/>
          <p:nvPr/>
        </p:nvSpPr>
        <p:spPr>
          <a:xfrm>
            <a:off x="1234440" y="3483864"/>
            <a:ext cx="3017520" cy="685800"/>
          </a:xfrm>
          <a:prstGeom prst="rect">
            <a:avLst/>
          </a:prstGeom>
          <a:noFill/>
          <a:ln/>
        </p:spPr>
        <p:txBody>
          <a:bodyPr wrap="square" lIns="0" tIns="0" rIns="0" bIns="0" rtlCol="0" anchor="ctr"/>
          <a:lstStyle/>
          <a:p>
            <a:pPr indent="0" marL="0">
              <a:lnSpc>
                <a:spcPct val="125000"/>
              </a:lnSpc>
              <a:buNone/>
            </a:pPr>
            <a:r>
              <a:rPr lang="en-US" sz="1100" dirty="0">
                <a:solidFill>
                  <a:srgbClr val="5A6572"/>
                </a:solidFill>
                <a:latin typeface="Calibri" pitchFamily="34" charset="0"/>
                <a:ea typeface="Calibri" pitchFamily="34" charset="-122"/>
                <a:cs typeface="Calibri" pitchFamily="34" charset="-120"/>
              </a:rPr>
              <a:t>Every line carries a name, a date and a reason. "Who wrote this and why" always has an answer.</a:t>
            </a:r>
            <a:endParaRPr lang="en-US" sz="1100" dirty="0"/>
          </a:p>
        </p:txBody>
      </p:sp>
      <p:sp>
        <p:nvSpPr>
          <p:cNvPr id="19" name="Shape 17"/>
          <p:cNvSpPr/>
          <p:nvPr/>
        </p:nvSpPr>
        <p:spPr>
          <a:xfrm>
            <a:off x="4709160" y="2898648"/>
            <a:ext cx="3977640" cy="1389888"/>
          </a:xfrm>
          <a:prstGeom prst="roundRect">
            <a:avLst>
              <a:gd name="adj" fmla="val 3947"/>
            </a:avLst>
          </a:prstGeom>
          <a:solidFill>
            <a:srgbClr val="FFFFFF"/>
          </a:solidFill>
          <a:ln w="12700">
            <a:solidFill>
              <a:srgbClr val="D5DCE3"/>
            </a:solidFill>
            <a:prstDash val="solid"/>
          </a:ln>
          <a:effectLst>
            <a:outerShdw sx="100000" sy="100000" kx="0" ky="0" algn="bl" rotWithShape="0" blurRad="177800" dist="25400" dir="5400000">
              <a:srgbClr val="000000">
                <a:alpha val="10000"/>
              </a:srgbClr>
            </a:outerShdw>
          </a:effectLst>
        </p:spPr>
      </p:sp>
      <p:sp>
        <p:nvSpPr>
          <p:cNvPr id="20" name="Shape 18"/>
          <p:cNvSpPr/>
          <p:nvPr/>
        </p:nvSpPr>
        <p:spPr>
          <a:xfrm>
            <a:off x="4910328" y="3136392"/>
            <a:ext cx="384048" cy="384048"/>
          </a:xfrm>
          <a:prstGeom prst="ellipse">
            <a:avLst/>
          </a:prstGeom>
          <a:solidFill>
            <a:srgbClr val="C1211F"/>
          </a:solidFill>
          <a:ln w="12700">
            <a:solidFill>
              <a:srgbClr val="C1211F"/>
            </a:solidFill>
            <a:prstDash val="solid"/>
          </a:ln>
        </p:spPr>
      </p:sp>
      <p:sp>
        <p:nvSpPr>
          <p:cNvPr id="21" name="Text 19"/>
          <p:cNvSpPr txBox="1"/>
          <p:nvPr/>
        </p:nvSpPr>
        <p:spPr>
          <a:xfrm>
            <a:off x="4910328"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20"/>
          <p:cNvSpPr txBox="1"/>
          <p:nvPr/>
        </p:nvSpPr>
        <p:spPr>
          <a:xfrm>
            <a:off x="5440680" y="3118104"/>
            <a:ext cx="3017520" cy="329184"/>
          </a:xfrm>
          <a:prstGeom prst="rect">
            <a:avLst/>
          </a:prstGeom>
          <a:noFill/>
          <a:ln/>
        </p:spPr>
        <p:txBody>
          <a:bodyPr wrap="square" lIns="0" tIns="0" rIns="0" bIns="0" rtlCol="0" anchor="ctr"/>
          <a:lstStyle/>
          <a:p>
            <a:pPr indent="0" marL="0">
              <a:buNone/>
            </a:pPr>
            <a:r>
              <a:rPr lang="en-US" sz="1500" b="1" dirty="0">
                <a:solidFill>
                  <a:srgbClr val="16191D"/>
                </a:solidFill>
                <a:latin typeface="Arial" pitchFamily="34" charset="0"/>
                <a:ea typeface="Arial" pitchFamily="34" charset="-122"/>
                <a:cs typeface="Arial" pitchFamily="34" charset="-120"/>
              </a:rPr>
              <a:t>Safe experiments</a:t>
            </a:r>
            <a:endParaRPr lang="en-US" sz="1500" dirty="0"/>
          </a:p>
        </p:txBody>
      </p:sp>
      <p:sp>
        <p:nvSpPr>
          <p:cNvPr id="23" name="Text 21"/>
          <p:cNvSpPr txBox="1"/>
          <p:nvPr/>
        </p:nvSpPr>
        <p:spPr>
          <a:xfrm>
            <a:off x="5440680" y="3483864"/>
            <a:ext cx="3017520" cy="685800"/>
          </a:xfrm>
          <a:prstGeom prst="rect">
            <a:avLst/>
          </a:prstGeom>
          <a:noFill/>
          <a:ln/>
        </p:spPr>
        <p:txBody>
          <a:bodyPr wrap="square" lIns="0" tIns="0" rIns="0" bIns="0" rtlCol="0" anchor="ctr"/>
          <a:lstStyle/>
          <a:p>
            <a:pPr indent="0" marL="0">
              <a:lnSpc>
                <a:spcPct val="125000"/>
              </a:lnSpc>
              <a:buNone/>
            </a:pPr>
            <a:r>
              <a:rPr lang="en-US" sz="1100" dirty="0">
                <a:solidFill>
                  <a:srgbClr val="5A6572"/>
                </a:solidFill>
                <a:latin typeface="Calibri" pitchFamily="34" charset="0"/>
                <a:ea typeface="Calibri" pitchFamily="34" charset="-122"/>
                <a:cs typeface="Calibri" pitchFamily="34" charset="-120"/>
              </a:rPr>
              <a:t>Try the risky idea on a branch. If it fails, delete the branch. main never knew it happened.</a:t>
            </a:r>
            <a:endParaRPr lang="en-US" sz="1100" dirty="0"/>
          </a:p>
        </p:txBody>
      </p:sp>
      <p:sp>
        <p:nvSpPr>
          <p:cNvPr id="24" name="Text 22"/>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THE #1 CONFUSION IN INTERVIEWS</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16191D"/>
                </a:solidFill>
                <a:latin typeface="Arial" pitchFamily="34" charset="0"/>
                <a:ea typeface="Arial" pitchFamily="34" charset="-122"/>
                <a:cs typeface="Arial" pitchFamily="34" charset="-120"/>
              </a:rPr>
              <a:t>Git is not GitHub</a:t>
            </a:r>
            <a:endParaRPr lang="en-US" sz="3000" dirty="0"/>
          </a:p>
        </p:txBody>
      </p:sp>
      <p:sp>
        <p:nvSpPr>
          <p:cNvPr id="4" name="Shape 2"/>
          <p:cNvSpPr/>
          <p:nvPr/>
        </p:nvSpPr>
        <p:spPr>
          <a:xfrm>
            <a:off x="502920" y="1371600"/>
            <a:ext cx="3977640" cy="2834640"/>
          </a:xfrm>
          <a:prstGeom prst="roundRect">
            <a:avLst>
              <a:gd name="adj" fmla="val 1935"/>
            </a:avLst>
          </a:prstGeom>
          <a:solidFill>
            <a:srgbClr val="F3F5F7"/>
          </a:solidFill>
          <a:ln w="12700">
            <a:solidFill>
              <a:srgbClr val="D5DCE3"/>
            </a:solidFill>
            <a:prstDash val="solid"/>
          </a:ln>
        </p:spPr>
      </p:sp>
      <p:sp>
        <p:nvSpPr>
          <p:cNvPr id="5" name="Shape 3"/>
          <p:cNvSpPr/>
          <p:nvPr/>
        </p:nvSpPr>
        <p:spPr>
          <a:xfrm>
            <a:off x="731520" y="1572768"/>
            <a:ext cx="420624" cy="420624"/>
          </a:xfrm>
          <a:prstGeom prst="ellipse">
            <a:avLst/>
          </a:prstGeom>
          <a:solidFill>
            <a:srgbClr val="E04A29"/>
          </a:solidFill>
          <a:ln w="12700">
            <a:solidFill>
              <a:srgbClr val="E04A29"/>
            </a:solidFill>
            <a:prstDash val="solid"/>
          </a:ln>
        </p:spPr>
      </p:sp>
      <p:sp>
        <p:nvSpPr>
          <p:cNvPr id="6" name="Text 4"/>
          <p:cNvSpPr txBox="1"/>
          <p:nvPr/>
        </p:nvSpPr>
        <p:spPr>
          <a:xfrm>
            <a:off x="731520" y="1572768"/>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GIT</a:t>
            </a:r>
            <a:endParaRPr lang="en-US" sz="1000" dirty="0"/>
          </a:p>
        </p:txBody>
      </p:sp>
      <p:sp>
        <p:nvSpPr>
          <p:cNvPr id="7" name="Text 5"/>
          <p:cNvSpPr txBox="1"/>
          <p:nvPr/>
        </p:nvSpPr>
        <p:spPr>
          <a:xfrm>
            <a:off x="1298448" y="1572768"/>
            <a:ext cx="2743200" cy="420624"/>
          </a:xfrm>
          <a:prstGeom prst="rect">
            <a:avLst/>
          </a:prstGeom>
          <a:noFill/>
          <a:ln/>
        </p:spPr>
        <p:txBody>
          <a:bodyPr wrap="square" lIns="0" tIns="0" rIns="0" bIns="0" rtlCol="0" anchor="ctr"/>
          <a:lstStyle/>
          <a:p>
            <a:pPr indent="0" marL="0">
              <a:buNone/>
            </a:pPr>
            <a:r>
              <a:rPr lang="en-US" sz="1900" b="1" dirty="0">
                <a:solidFill>
                  <a:srgbClr val="16191D"/>
                </a:solidFill>
                <a:latin typeface="Arial" pitchFamily="34" charset="0"/>
                <a:ea typeface="Arial" pitchFamily="34" charset="-122"/>
                <a:cs typeface="Arial" pitchFamily="34" charset="-120"/>
              </a:rPr>
              <a:t>Git</a:t>
            </a:r>
            <a:endParaRPr lang="en-US" sz="1900" dirty="0"/>
          </a:p>
        </p:txBody>
      </p:sp>
      <p:sp>
        <p:nvSpPr>
          <p:cNvPr id="8" name="Text 6"/>
          <p:cNvSpPr txBox="1"/>
          <p:nvPr/>
        </p:nvSpPr>
        <p:spPr>
          <a:xfrm>
            <a:off x="731520" y="2066544"/>
            <a:ext cx="3566160" cy="256032"/>
          </a:xfrm>
          <a:prstGeom prst="rect">
            <a:avLst/>
          </a:prstGeom>
          <a:noFill/>
          <a:ln/>
        </p:spPr>
        <p:txBody>
          <a:bodyPr wrap="square" lIns="0" tIns="0" rIns="0" bIns="0" rtlCol="0" anchor="ctr"/>
          <a:lstStyle/>
          <a:p>
            <a:pPr indent="0" marL="0">
              <a:buNone/>
            </a:pPr>
            <a:r>
              <a:rPr lang="en-US" sz="1150" b="1" dirty="0">
                <a:solidFill>
                  <a:srgbClr val="E04A29"/>
                </a:solidFill>
                <a:latin typeface="Calibri" pitchFamily="34" charset="0"/>
                <a:ea typeface="Calibri" pitchFamily="34" charset="-122"/>
                <a:cs typeface="Calibri" pitchFamily="34" charset="-120"/>
              </a:rPr>
              <a:t>The tool on your laptop</a:t>
            </a:r>
            <a:endParaRPr lang="en-US" sz="1150" dirty="0"/>
          </a:p>
        </p:txBody>
      </p:sp>
      <p:sp>
        <p:nvSpPr>
          <p:cNvPr id="9" name="Text 7"/>
          <p:cNvSpPr txBox="1"/>
          <p:nvPr/>
        </p:nvSpPr>
        <p:spPr>
          <a:xfrm>
            <a:off x="777240" y="2395728"/>
            <a:ext cx="3474720" cy="164592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16191D"/>
                </a:solidFill>
                <a:latin typeface="Calibri" pitchFamily="34" charset="0"/>
                <a:ea typeface="Calibri" pitchFamily="34" charset="-122"/>
                <a:cs typeface="Calibri" pitchFamily="34" charset="-120"/>
              </a:rPr>
              <a:t>Free software you install</a:t>
            </a:r>
            <a:endParaRPr lang="en-US" sz="1150" dirty="0"/>
          </a:p>
          <a:p>
            <a:pPr marL="177800" indent="-177800">
              <a:spcAft>
                <a:spcPts val="700"/>
              </a:spcAft>
              <a:buSzPct val="100000"/>
              <a:buChar char="•"/>
            </a:pPr>
            <a:r>
              <a:rPr lang="en-US" sz="1150" dirty="0">
                <a:solidFill>
                  <a:srgbClr val="16191D"/>
                </a:solidFill>
                <a:latin typeface="Calibri" pitchFamily="34" charset="0"/>
                <a:ea typeface="Calibri" pitchFamily="34" charset="-122"/>
                <a:cs typeface="Calibri" pitchFamily="34" charset="-120"/>
              </a:rPr>
              <a:t>Tracks versions of your files</a:t>
            </a:r>
            <a:endParaRPr lang="en-US" sz="1150" dirty="0"/>
          </a:p>
          <a:p>
            <a:pPr marL="177800" indent="-177800">
              <a:spcAft>
                <a:spcPts val="700"/>
              </a:spcAft>
              <a:buSzPct val="100000"/>
              <a:buChar char="•"/>
            </a:pPr>
            <a:r>
              <a:rPr lang="en-US" sz="1150" dirty="0">
                <a:solidFill>
                  <a:srgbClr val="16191D"/>
                </a:solidFill>
                <a:latin typeface="Calibri" pitchFamily="34" charset="0"/>
                <a:ea typeface="Calibri" pitchFamily="34" charset="-122"/>
                <a:cs typeface="Calibri" pitchFamily="34" charset="-120"/>
              </a:rPr>
              <a:t>Works fully offline, on a plane</a:t>
            </a:r>
            <a:endParaRPr lang="en-US" sz="1150" dirty="0"/>
          </a:p>
          <a:p>
            <a:pPr marL="177800" indent="-177800">
              <a:spcAft>
                <a:spcPts val="700"/>
              </a:spcAft>
              <a:buSzPct val="100000"/>
              <a:buChar char="•"/>
            </a:pPr>
            <a:r>
              <a:rPr lang="en-US" sz="1150" dirty="0">
                <a:solidFill>
                  <a:srgbClr val="16191D"/>
                </a:solidFill>
                <a:latin typeface="Calibri" pitchFamily="34" charset="0"/>
                <a:ea typeface="Calibri" pitchFamily="34" charset="-122"/>
                <a:cs typeface="Calibri" pitchFamily="34" charset="-120"/>
              </a:rPr>
              <a:t>Commands: add, commit, branch, merge</a:t>
            </a:r>
            <a:endParaRPr lang="en-US" sz="1150" dirty="0"/>
          </a:p>
          <a:p>
            <a:pPr marL="177800" indent="-177800">
              <a:spcAft>
                <a:spcPts val="700"/>
              </a:spcAft>
              <a:buSzPct val="100000"/>
              <a:buChar char="•"/>
            </a:pPr>
            <a:r>
              <a:rPr lang="en-US" sz="1150" dirty="0">
                <a:solidFill>
                  <a:srgbClr val="16191D"/>
                </a:solidFill>
                <a:latin typeface="Calibri" pitchFamily="34" charset="0"/>
                <a:ea typeface="Calibri" pitchFamily="34" charset="-122"/>
                <a:cs typeface="Calibri" pitchFamily="34" charset="-120"/>
              </a:rPr>
              <a:t>Created in 2005 for the Linux kernel</a:t>
            </a:r>
            <a:endParaRPr lang="en-US" sz="1150" dirty="0"/>
          </a:p>
        </p:txBody>
      </p:sp>
      <p:sp>
        <p:nvSpPr>
          <p:cNvPr id="10" name="Shape 8"/>
          <p:cNvSpPr/>
          <p:nvPr/>
        </p:nvSpPr>
        <p:spPr>
          <a:xfrm>
            <a:off x="4709160" y="1371600"/>
            <a:ext cx="3977640" cy="2834640"/>
          </a:xfrm>
          <a:prstGeom prst="roundRect">
            <a:avLst>
              <a:gd name="adj" fmla="val 1935"/>
            </a:avLst>
          </a:prstGeom>
          <a:solidFill>
            <a:srgbClr val="F3F5F7"/>
          </a:solidFill>
          <a:ln w="12700">
            <a:solidFill>
              <a:srgbClr val="D5DCE3"/>
            </a:solidFill>
            <a:prstDash val="solid"/>
          </a:ln>
        </p:spPr>
      </p:sp>
      <p:sp>
        <p:nvSpPr>
          <p:cNvPr id="11" name="Shape 9"/>
          <p:cNvSpPr/>
          <p:nvPr/>
        </p:nvSpPr>
        <p:spPr>
          <a:xfrm>
            <a:off x="4937760" y="1572768"/>
            <a:ext cx="420624" cy="420624"/>
          </a:xfrm>
          <a:prstGeom prst="ellipse">
            <a:avLst/>
          </a:prstGeom>
          <a:solidFill>
            <a:srgbClr val="7B3FD4"/>
          </a:solidFill>
          <a:ln w="12700">
            <a:solidFill>
              <a:srgbClr val="7B3FD4"/>
            </a:solidFill>
            <a:prstDash val="solid"/>
          </a:ln>
        </p:spPr>
      </p:sp>
      <p:sp>
        <p:nvSpPr>
          <p:cNvPr id="12" name="Text 10"/>
          <p:cNvSpPr txBox="1"/>
          <p:nvPr/>
        </p:nvSpPr>
        <p:spPr>
          <a:xfrm>
            <a:off x="4937760" y="1572768"/>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HUB</a:t>
            </a:r>
            <a:endParaRPr lang="en-US" sz="1000" dirty="0"/>
          </a:p>
        </p:txBody>
      </p:sp>
      <p:sp>
        <p:nvSpPr>
          <p:cNvPr id="13" name="Text 11"/>
          <p:cNvSpPr txBox="1"/>
          <p:nvPr/>
        </p:nvSpPr>
        <p:spPr>
          <a:xfrm>
            <a:off x="5504688" y="1572768"/>
            <a:ext cx="2743200" cy="420624"/>
          </a:xfrm>
          <a:prstGeom prst="rect">
            <a:avLst/>
          </a:prstGeom>
          <a:noFill/>
          <a:ln/>
        </p:spPr>
        <p:txBody>
          <a:bodyPr wrap="square" lIns="0" tIns="0" rIns="0" bIns="0" rtlCol="0" anchor="ctr"/>
          <a:lstStyle/>
          <a:p>
            <a:pPr indent="0" marL="0">
              <a:buNone/>
            </a:pPr>
            <a:r>
              <a:rPr lang="en-US" sz="1900" b="1" dirty="0">
                <a:solidFill>
                  <a:srgbClr val="16191D"/>
                </a:solidFill>
                <a:latin typeface="Arial" pitchFamily="34" charset="0"/>
                <a:ea typeface="Arial" pitchFamily="34" charset="-122"/>
                <a:cs typeface="Arial" pitchFamily="34" charset="-120"/>
              </a:rPr>
              <a:t>GitHub</a:t>
            </a:r>
            <a:endParaRPr lang="en-US" sz="1900" dirty="0"/>
          </a:p>
        </p:txBody>
      </p:sp>
      <p:sp>
        <p:nvSpPr>
          <p:cNvPr id="14" name="Text 12"/>
          <p:cNvSpPr txBox="1"/>
          <p:nvPr/>
        </p:nvSpPr>
        <p:spPr>
          <a:xfrm>
            <a:off x="4937760" y="2066544"/>
            <a:ext cx="3566160" cy="256032"/>
          </a:xfrm>
          <a:prstGeom prst="rect">
            <a:avLst/>
          </a:prstGeom>
          <a:noFill/>
          <a:ln/>
        </p:spPr>
        <p:txBody>
          <a:bodyPr wrap="square" lIns="0" tIns="0" rIns="0" bIns="0" rtlCol="0" anchor="ctr"/>
          <a:lstStyle/>
          <a:p>
            <a:pPr indent="0" marL="0">
              <a:buNone/>
            </a:pPr>
            <a:r>
              <a:rPr lang="en-US" sz="1150" b="1" dirty="0">
                <a:solidFill>
                  <a:srgbClr val="7B3FD4"/>
                </a:solidFill>
                <a:latin typeface="Calibri" pitchFamily="34" charset="0"/>
                <a:ea typeface="Calibri" pitchFamily="34" charset="-122"/>
                <a:cs typeface="Calibri" pitchFamily="34" charset="-120"/>
              </a:rPr>
              <a:t>A website that hosts Git repos</a:t>
            </a:r>
            <a:endParaRPr lang="en-US" sz="1150" dirty="0"/>
          </a:p>
        </p:txBody>
      </p:sp>
      <p:sp>
        <p:nvSpPr>
          <p:cNvPr id="15" name="Text 13"/>
          <p:cNvSpPr txBox="1"/>
          <p:nvPr/>
        </p:nvSpPr>
        <p:spPr>
          <a:xfrm>
            <a:off x="4983480" y="2395728"/>
            <a:ext cx="3474720" cy="164592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16191D"/>
                </a:solidFill>
                <a:latin typeface="Calibri" pitchFamily="34" charset="0"/>
                <a:ea typeface="Calibri" pitchFamily="34" charset="-122"/>
                <a:cs typeface="Calibri" pitchFamily="34" charset="-120"/>
              </a:rPr>
              <a:t>A company (owned by Microsoft)</a:t>
            </a:r>
            <a:endParaRPr lang="en-US" sz="1150" dirty="0"/>
          </a:p>
          <a:p>
            <a:pPr marL="177800" indent="-177800">
              <a:spcAft>
                <a:spcPts val="700"/>
              </a:spcAft>
              <a:buSzPct val="100000"/>
              <a:buChar char="•"/>
            </a:pPr>
            <a:r>
              <a:rPr lang="en-US" sz="1150" dirty="0">
                <a:solidFill>
                  <a:srgbClr val="16191D"/>
                </a:solidFill>
                <a:latin typeface="Calibri" pitchFamily="34" charset="0"/>
                <a:ea typeface="Calibri" pitchFamily="34" charset="-122"/>
                <a:cs typeface="Calibri" pitchFamily="34" charset="-120"/>
              </a:rPr>
              <a:t>Stores your repo in the cloud</a:t>
            </a:r>
            <a:endParaRPr lang="en-US" sz="1150" dirty="0"/>
          </a:p>
          <a:p>
            <a:pPr marL="177800" indent="-177800">
              <a:spcAft>
                <a:spcPts val="700"/>
              </a:spcAft>
              <a:buSzPct val="100000"/>
              <a:buChar char="•"/>
            </a:pPr>
            <a:r>
              <a:rPr lang="en-US" sz="1150" dirty="0">
                <a:solidFill>
                  <a:srgbClr val="16191D"/>
                </a:solidFill>
                <a:latin typeface="Calibri" pitchFamily="34" charset="0"/>
                <a:ea typeface="Calibri" pitchFamily="34" charset="-122"/>
                <a:cs typeface="Calibri" pitchFamily="34" charset="-120"/>
              </a:rPr>
              <a:t>Needs internet</a:t>
            </a:r>
            <a:endParaRPr lang="en-US" sz="1150" dirty="0"/>
          </a:p>
          <a:p>
            <a:pPr marL="177800" indent="-177800">
              <a:spcAft>
                <a:spcPts val="700"/>
              </a:spcAft>
              <a:buSzPct val="100000"/>
              <a:buChar char="•"/>
            </a:pPr>
            <a:r>
              <a:rPr lang="en-US" sz="1150" dirty="0">
                <a:solidFill>
                  <a:srgbClr val="16191D"/>
                </a:solidFill>
                <a:latin typeface="Calibri" pitchFamily="34" charset="0"/>
                <a:ea typeface="Calibri" pitchFamily="34" charset="-122"/>
                <a:cs typeface="Calibri" pitchFamily="34" charset="-120"/>
              </a:rPr>
              <a:t>Adds Pull Requests, reviews, Issues</a:t>
            </a:r>
            <a:endParaRPr lang="en-US" sz="1150" dirty="0"/>
          </a:p>
          <a:p>
            <a:pPr marL="177800" indent="-177800">
              <a:spcAft>
                <a:spcPts val="700"/>
              </a:spcAft>
              <a:buSzPct val="100000"/>
              <a:buChar char="•"/>
            </a:pPr>
            <a:r>
              <a:rPr lang="en-US" sz="1150" dirty="0">
                <a:solidFill>
                  <a:srgbClr val="16191D"/>
                </a:solidFill>
                <a:latin typeface="Calibri" pitchFamily="34" charset="0"/>
                <a:ea typeface="Calibri" pitchFamily="34" charset="-122"/>
                <a:cs typeface="Calibri" pitchFamily="34" charset="-120"/>
              </a:rPr>
              <a:t>Alternatives: GitLab, Bitbucket</a:t>
            </a:r>
            <a:endParaRPr lang="en-US" sz="1150" dirty="0"/>
          </a:p>
        </p:txBody>
      </p:sp>
      <p:sp>
        <p:nvSpPr>
          <p:cNvPr id="16" name="Shape 14"/>
          <p:cNvSpPr/>
          <p:nvPr/>
        </p:nvSpPr>
        <p:spPr>
          <a:xfrm>
            <a:off x="502920" y="4315968"/>
            <a:ext cx="8183880" cy="475488"/>
          </a:xfrm>
          <a:prstGeom prst="roundRect">
            <a:avLst>
              <a:gd name="adj" fmla="val 11538"/>
            </a:avLst>
          </a:prstGeom>
          <a:solidFill>
            <a:srgbClr val="16191D"/>
          </a:solidFill>
          <a:ln w="12700">
            <a:solidFill>
              <a:srgbClr val="16191D"/>
            </a:solidFill>
            <a:prstDash val="solid"/>
          </a:ln>
        </p:spPr>
      </p:sp>
      <p:sp>
        <p:nvSpPr>
          <p:cNvPr id="17" name="Text 15"/>
          <p:cNvSpPr txBox="1"/>
          <p:nvPr/>
        </p:nvSpPr>
        <p:spPr>
          <a:xfrm>
            <a:off x="731520" y="4315968"/>
            <a:ext cx="7772400" cy="47548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Git can live without GitHub. GitHub cannot exist without Git.</a:t>
            </a:r>
            <a:endParaRPr lang="en-US" sz="1350" dirty="0"/>
          </a:p>
        </p:txBody>
      </p:sp>
      <p:sp>
        <p:nvSpPr>
          <p:cNvPr id="18" name="Text 16"/>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HANDS ON YOUR LAPTOPS</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800" b="1" dirty="0">
                <a:solidFill>
                  <a:srgbClr val="16191D"/>
                </a:solidFill>
                <a:latin typeface="Arial" pitchFamily="34" charset="0"/>
                <a:ea typeface="Arial" pitchFamily="34" charset="-122"/>
                <a:cs typeface="Arial" pitchFamily="34" charset="-120"/>
              </a:rPr>
              <a:t>Four things you need before you leave today</a:t>
            </a:r>
            <a:endParaRPr lang="en-US" sz="2800" dirty="0"/>
          </a:p>
        </p:txBody>
      </p:sp>
      <p:sp>
        <p:nvSpPr>
          <p:cNvPr id="4" name="Shape 2"/>
          <p:cNvSpPr/>
          <p:nvPr/>
        </p:nvSpPr>
        <p:spPr>
          <a:xfrm>
            <a:off x="502920" y="1371600"/>
            <a:ext cx="3977640" cy="1325880"/>
          </a:xfrm>
          <a:prstGeom prst="roundRect">
            <a:avLst>
              <a:gd name="adj" fmla="val 4138"/>
            </a:avLst>
          </a:prstGeom>
          <a:solidFill>
            <a:srgbClr val="FFFFFF"/>
          </a:solidFill>
          <a:ln w="12700">
            <a:solidFill>
              <a:srgbClr val="D5DCE3"/>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704088" y="1600200"/>
            <a:ext cx="384048" cy="384048"/>
          </a:xfrm>
          <a:prstGeom prst="ellipse">
            <a:avLst/>
          </a:prstGeom>
          <a:solidFill>
            <a:srgbClr val="E04A29"/>
          </a:solidFill>
          <a:ln w="12700">
            <a:solidFill>
              <a:srgbClr val="E04A29"/>
            </a:solidFill>
            <a:prstDash val="solid"/>
          </a:ln>
        </p:spPr>
      </p:sp>
      <p:sp>
        <p:nvSpPr>
          <p:cNvPr id="6" name="Text 4"/>
          <p:cNvSpPr txBox="1"/>
          <p:nvPr/>
        </p:nvSpPr>
        <p:spPr>
          <a:xfrm>
            <a:off x="704088"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234440" y="1581912"/>
            <a:ext cx="3017520" cy="310896"/>
          </a:xfrm>
          <a:prstGeom prst="rect">
            <a:avLst/>
          </a:prstGeom>
          <a:noFill/>
          <a:ln/>
        </p:spPr>
        <p:txBody>
          <a:bodyPr wrap="square" lIns="0" tIns="0" rIns="0" bIns="0" rtlCol="0" anchor="ctr"/>
          <a:lstStyle/>
          <a:p>
            <a:pPr indent="0" marL="0">
              <a:buNone/>
            </a:pPr>
            <a:r>
              <a:rPr lang="en-US" sz="1450" b="1" dirty="0">
                <a:solidFill>
                  <a:srgbClr val="16191D"/>
                </a:solidFill>
                <a:latin typeface="Arial" pitchFamily="34" charset="0"/>
                <a:ea typeface="Arial" pitchFamily="34" charset="-122"/>
                <a:cs typeface="Arial" pitchFamily="34" charset="-120"/>
              </a:rPr>
              <a:t>Git installed</a:t>
            </a:r>
            <a:endParaRPr lang="en-US" sz="1450" dirty="0"/>
          </a:p>
        </p:txBody>
      </p:sp>
      <p:sp>
        <p:nvSpPr>
          <p:cNvPr id="8" name="Text 6"/>
          <p:cNvSpPr txBox="1"/>
          <p:nvPr/>
        </p:nvSpPr>
        <p:spPr>
          <a:xfrm>
            <a:off x="1234440" y="1938528"/>
            <a:ext cx="3017520" cy="658368"/>
          </a:xfrm>
          <a:prstGeom prst="rect">
            <a:avLst/>
          </a:prstGeom>
          <a:noFill/>
          <a:ln/>
        </p:spPr>
        <p:txBody>
          <a:bodyPr wrap="square" lIns="0" tIns="0" rIns="0" bIns="0" rtlCol="0" anchor="ctr"/>
          <a:lstStyle/>
          <a:p>
            <a:pPr indent="0" marL="0">
              <a:lnSpc>
                <a:spcPct val="125000"/>
              </a:lnSpc>
              <a:buNone/>
            </a:pPr>
            <a:r>
              <a:rPr lang="en-US" sz="1100" dirty="0">
                <a:solidFill>
                  <a:srgbClr val="5A6572"/>
                </a:solidFill>
                <a:latin typeface="Calibri" pitchFamily="34" charset="0"/>
                <a:ea typeface="Calibri" pitchFamily="34" charset="-122"/>
                <a:cs typeface="Calibri" pitchFamily="34" charset="-120"/>
              </a:rPr>
              <a:t>git --version must print a number. If it errors, Git is not installed.</a:t>
            </a:r>
            <a:endParaRPr lang="en-US" sz="1100" dirty="0"/>
          </a:p>
        </p:txBody>
      </p:sp>
      <p:sp>
        <p:nvSpPr>
          <p:cNvPr id="9" name="Shape 7"/>
          <p:cNvSpPr/>
          <p:nvPr/>
        </p:nvSpPr>
        <p:spPr>
          <a:xfrm>
            <a:off x="4709160" y="1371600"/>
            <a:ext cx="3977640" cy="1325880"/>
          </a:xfrm>
          <a:prstGeom prst="roundRect">
            <a:avLst>
              <a:gd name="adj" fmla="val 4138"/>
            </a:avLst>
          </a:prstGeom>
          <a:solidFill>
            <a:srgbClr val="FFFFFF"/>
          </a:solidFill>
          <a:ln w="12700">
            <a:solidFill>
              <a:srgbClr val="D5DCE3"/>
            </a:solidFill>
            <a:prstDash val="solid"/>
          </a:ln>
          <a:effectLst>
            <a:outerShdw sx="100000" sy="100000" kx="0" ky="0" algn="bl" rotWithShape="0" blurRad="177800" dist="25400" dir="5400000">
              <a:srgbClr val="000000">
                <a:alpha val="10000"/>
              </a:srgbClr>
            </a:outerShdw>
          </a:effectLst>
        </p:spPr>
      </p:sp>
      <p:sp>
        <p:nvSpPr>
          <p:cNvPr id="10" name="Shape 8"/>
          <p:cNvSpPr/>
          <p:nvPr/>
        </p:nvSpPr>
        <p:spPr>
          <a:xfrm>
            <a:off x="4910328" y="1600200"/>
            <a:ext cx="384048" cy="384048"/>
          </a:xfrm>
          <a:prstGeom prst="ellipse">
            <a:avLst/>
          </a:prstGeom>
          <a:solidFill>
            <a:srgbClr val="9A5B2E"/>
          </a:solidFill>
          <a:ln w="12700">
            <a:solidFill>
              <a:srgbClr val="9A5B2E"/>
            </a:solidFill>
            <a:prstDash val="solid"/>
          </a:ln>
        </p:spPr>
      </p:sp>
      <p:sp>
        <p:nvSpPr>
          <p:cNvPr id="11" name="Text 9"/>
          <p:cNvSpPr txBox="1"/>
          <p:nvPr/>
        </p:nvSpPr>
        <p:spPr>
          <a:xfrm>
            <a:off x="4910328"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5440680" y="1581912"/>
            <a:ext cx="3017520" cy="310896"/>
          </a:xfrm>
          <a:prstGeom prst="rect">
            <a:avLst/>
          </a:prstGeom>
          <a:noFill/>
          <a:ln/>
        </p:spPr>
        <p:txBody>
          <a:bodyPr wrap="square" lIns="0" tIns="0" rIns="0" bIns="0" rtlCol="0" anchor="ctr"/>
          <a:lstStyle/>
          <a:p>
            <a:pPr indent="0" marL="0">
              <a:buNone/>
            </a:pPr>
            <a:r>
              <a:rPr lang="en-US" sz="1450" b="1" dirty="0">
                <a:solidFill>
                  <a:srgbClr val="16191D"/>
                </a:solidFill>
                <a:latin typeface="Arial" pitchFamily="34" charset="0"/>
                <a:ea typeface="Arial" pitchFamily="34" charset="-122"/>
                <a:cs typeface="Arial" pitchFamily="34" charset="-120"/>
              </a:rPr>
              <a:t>Git knows who you are</a:t>
            </a:r>
            <a:endParaRPr lang="en-US" sz="1450" dirty="0"/>
          </a:p>
        </p:txBody>
      </p:sp>
      <p:sp>
        <p:nvSpPr>
          <p:cNvPr id="13" name="Text 11"/>
          <p:cNvSpPr txBox="1"/>
          <p:nvPr/>
        </p:nvSpPr>
        <p:spPr>
          <a:xfrm>
            <a:off x="5440680" y="1938528"/>
            <a:ext cx="3017520" cy="658368"/>
          </a:xfrm>
          <a:prstGeom prst="rect">
            <a:avLst/>
          </a:prstGeom>
          <a:noFill/>
          <a:ln/>
        </p:spPr>
        <p:txBody>
          <a:bodyPr wrap="square" lIns="0" tIns="0" rIns="0" bIns="0" rtlCol="0" anchor="ctr"/>
          <a:lstStyle/>
          <a:p>
            <a:pPr indent="0" marL="0">
              <a:lnSpc>
                <a:spcPct val="125000"/>
              </a:lnSpc>
              <a:buNone/>
            </a:pPr>
            <a:r>
              <a:rPr lang="en-US" sz="1100" dirty="0">
                <a:solidFill>
                  <a:srgbClr val="5A6572"/>
                </a:solidFill>
                <a:latin typeface="Calibri" pitchFamily="34" charset="0"/>
                <a:ea typeface="Calibri" pitchFamily="34" charset="-122"/>
                <a:cs typeface="Calibri" pitchFamily="34" charset="-120"/>
              </a:rPr>
              <a:t>Your name and email get stamped on every commit you ever make.</a:t>
            </a:r>
            <a:endParaRPr lang="en-US" sz="1100" dirty="0"/>
          </a:p>
        </p:txBody>
      </p:sp>
      <p:sp>
        <p:nvSpPr>
          <p:cNvPr id="14" name="Shape 12"/>
          <p:cNvSpPr/>
          <p:nvPr/>
        </p:nvSpPr>
        <p:spPr>
          <a:xfrm>
            <a:off x="502920" y="2852928"/>
            <a:ext cx="3977640" cy="1325880"/>
          </a:xfrm>
          <a:prstGeom prst="roundRect">
            <a:avLst>
              <a:gd name="adj" fmla="val 4138"/>
            </a:avLst>
          </a:prstGeom>
          <a:solidFill>
            <a:srgbClr val="FFFFFF"/>
          </a:solidFill>
          <a:ln w="12700">
            <a:solidFill>
              <a:srgbClr val="D5DCE3"/>
            </a:solidFill>
            <a:prstDash val="solid"/>
          </a:ln>
          <a:effectLst>
            <a:outerShdw sx="100000" sy="100000" kx="0" ky="0" algn="bl" rotWithShape="0" blurRad="177800" dist="25400" dir="5400000">
              <a:srgbClr val="000000">
                <a:alpha val="10000"/>
              </a:srgbClr>
            </a:outerShdw>
          </a:effectLst>
        </p:spPr>
      </p:sp>
      <p:sp>
        <p:nvSpPr>
          <p:cNvPr id="15" name="Shape 13"/>
          <p:cNvSpPr/>
          <p:nvPr/>
        </p:nvSpPr>
        <p:spPr>
          <a:xfrm>
            <a:off x="704088" y="3081528"/>
            <a:ext cx="384048" cy="384048"/>
          </a:xfrm>
          <a:prstGeom prst="ellipse">
            <a:avLst/>
          </a:prstGeom>
          <a:solidFill>
            <a:srgbClr val="7B3FD4"/>
          </a:solidFill>
          <a:ln w="12700">
            <a:solidFill>
              <a:srgbClr val="7B3FD4"/>
            </a:solidFill>
            <a:prstDash val="solid"/>
          </a:ln>
        </p:spPr>
      </p:sp>
      <p:sp>
        <p:nvSpPr>
          <p:cNvPr id="16" name="Text 14"/>
          <p:cNvSpPr txBox="1"/>
          <p:nvPr/>
        </p:nvSpPr>
        <p:spPr>
          <a:xfrm>
            <a:off x="704088" y="3081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1234440" y="3063240"/>
            <a:ext cx="3017520" cy="310896"/>
          </a:xfrm>
          <a:prstGeom prst="rect">
            <a:avLst/>
          </a:prstGeom>
          <a:noFill/>
          <a:ln/>
        </p:spPr>
        <p:txBody>
          <a:bodyPr wrap="square" lIns="0" tIns="0" rIns="0" bIns="0" rtlCol="0" anchor="ctr"/>
          <a:lstStyle/>
          <a:p>
            <a:pPr indent="0" marL="0">
              <a:buNone/>
            </a:pPr>
            <a:r>
              <a:rPr lang="en-US" sz="1450" b="1" dirty="0">
                <a:solidFill>
                  <a:srgbClr val="16191D"/>
                </a:solidFill>
                <a:latin typeface="Arial" pitchFamily="34" charset="0"/>
                <a:ea typeface="Arial" pitchFamily="34" charset="-122"/>
                <a:cs typeface="Arial" pitchFamily="34" charset="-120"/>
              </a:rPr>
              <a:t>A GitHub account</a:t>
            </a:r>
            <a:endParaRPr lang="en-US" sz="1450" dirty="0"/>
          </a:p>
        </p:txBody>
      </p:sp>
      <p:sp>
        <p:nvSpPr>
          <p:cNvPr id="18" name="Text 16"/>
          <p:cNvSpPr txBox="1"/>
          <p:nvPr/>
        </p:nvSpPr>
        <p:spPr>
          <a:xfrm>
            <a:off x="1234440" y="3419856"/>
            <a:ext cx="3017520" cy="658368"/>
          </a:xfrm>
          <a:prstGeom prst="rect">
            <a:avLst/>
          </a:prstGeom>
          <a:noFill/>
          <a:ln/>
        </p:spPr>
        <p:txBody>
          <a:bodyPr wrap="square" lIns="0" tIns="0" rIns="0" bIns="0" rtlCol="0" anchor="ctr"/>
          <a:lstStyle/>
          <a:p>
            <a:pPr indent="0" marL="0">
              <a:lnSpc>
                <a:spcPct val="125000"/>
              </a:lnSpc>
              <a:buNone/>
            </a:pPr>
            <a:r>
              <a:rPr lang="en-US" sz="1100" dirty="0">
                <a:solidFill>
                  <a:srgbClr val="5A6572"/>
                </a:solidFill>
                <a:latin typeface="Calibri" pitchFamily="34" charset="0"/>
                <a:ea typeface="Calibri" pitchFamily="34" charset="-122"/>
                <a:cs typeface="Calibri" pitchFamily="34" charset="-120"/>
              </a:rPr>
              <a:t>Free. Your username becomes a public page recruiters will open.</a:t>
            </a:r>
            <a:endParaRPr lang="en-US" sz="1100" dirty="0"/>
          </a:p>
        </p:txBody>
      </p:sp>
      <p:sp>
        <p:nvSpPr>
          <p:cNvPr id="19" name="Shape 17"/>
          <p:cNvSpPr/>
          <p:nvPr/>
        </p:nvSpPr>
        <p:spPr>
          <a:xfrm>
            <a:off x="4709160" y="2852928"/>
            <a:ext cx="3977640" cy="1325880"/>
          </a:xfrm>
          <a:prstGeom prst="roundRect">
            <a:avLst>
              <a:gd name="adj" fmla="val 4138"/>
            </a:avLst>
          </a:prstGeom>
          <a:solidFill>
            <a:srgbClr val="FFFFFF"/>
          </a:solidFill>
          <a:ln w="12700">
            <a:solidFill>
              <a:srgbClr val="D5DCE3"/>
            </a:solidFill>
            <a:prstDash val="solid"/>
          </a:ln>
          <a:effectLst>
            <a:outerShdw sx="100000" sy="100000" kx="0" ky="0" algn="bl" rotWithShape="0" blurRad="177800" dist="25400" dir="5400000">
              <a:srgbClr val="000000">
                <a:alpha val="10000"/>
              </a:srgbClr>
            </a:outerShdw>
          </a:effectLst>
        </p:spPr>
      </p:sp>
      <p:sp>
        <p:nvSpPr>
          <p:cNvPr id="20" name="Shape 18"/>
          <p:cNvSpPr/>
          <p:nvPr/>
        </p:nvSpPr>
        <p:spPr>
          <a:xfrm>
            <a:off x="4910328" y="3081528"/>
            <a:ext cx="384048" cy="384048"/>
          </a:xfrm>
          <a:prstGeom prst="ellipse">
            <a:avLst/>
          </a:prstGeom>
          <a:solidFill>
            <a:srgbClr val="C1211F"/>
          </a:solidFill>
          <a:ln w="12700">
            <a:solidFill>
              <a:srgbClr val="C1211F"/>
            </a:solidFill>
            <a:prstDash val="solid"/>
          </a:ln>
        </p:spPr>
      </p:sp>
      <p:sp>
        <p:nvSpPr>
          <p:cNvPr id="21" name="Text 19"/>
          <p:cNvSpPr txBox="1"/>
          <p:nvPr/>
        </p:nvSpPr>
        <p:spPr>
          <a:xfrm>
            <a:off x="4910328" y="3081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20"/>
          <p:cNvSpPr txBox="1"/>
          <p:nvPr/>
        </p:nvSpPr>
        <p:spPr>
          <a:xfrm>
            <a:off x="5440680" y="3063240"/>
            <a:ext cx="3017520" cy="310896"/>
          </a:xfrm>
          <a:prstGeom prst="rect">
            <a:avLst/>
          </a:prstGeom>
          <a:noFill/>
          <a:ln/>
        </p:spPr>
        <p:txBody>
          <a:bodyPr wrap="square" lIns="0" tIns="0" rIns="0" bIns="0" rtlCol="0" anchor="ctr"/>
          <a:lstStyle/>
          <a:p>
            <a:pPr indent="0" marL="0">
              <a:buNone/>
            </a:pPr>
            <a:r>
              <a:rPr lang="en-US" sz="1450" b="1" dirty="0">
                <a:solidFill>
                  <a:srgbClr val="16191D"/>
                </a:solidFill>
                <a:latin typeface="Arial" pitchFamily="34" charset="0"/>
                <a:ea typeface="Arial" pitchFamily="34" charset="-122"/>
                <a:cs typeface="Arial" pitchFamily="34" charset="-120"/>
              </a:rPr>
              <a:t>A Personal Access Token</a:t>
            </a:r>
            <a:endParaRPr lang="en-US" sz="1450" dirty="0"/>
          </a:p>
        </p:txBody>
      </p:sp>
      <p:sp>
        <p:nvSpPr>
          <p:cNvPr id="23" name="Text 21"/>
          <p:cNvSpPr txBox="1"/>
          <p:nvPr/>
        </p:nvSpPr>
        <p:spPr>
          <a:xfrm>
            <a:off x="5440680" y="3419856"/>
            <a:ext cx="3017520" cy="658368"/>
          </a:xfrm>
          <a:prstGeom prst="rect">
            <a:avLst/>
          </a:prstGeom>
          <a:noFill/>
          <a:ln/>
        </p:spPr>
        <p:txBody>
          <a:bodyPr wrap="square" lIns="0" tIns="0" rIns="0" bIns="0" rtlCol="0" anchor="ctr"/>
          <a:lstStyle/>
          <a:p>
            <a:pPr indent="0" marL="0">
              <a:lnSpc>
                <a:spcPct val="125000"/>
              </a:lnSpc>
              <a:buNone/>
            </a:pPr>
            <a:r>
              <a:rPr lang="en-US" sz="1100" dirty="0">
                <a:solidFill>
                  <a:srgbClr val="5A6572"/>
                </a:solidFill>
                <a:latin typeface="Calibri" pitchFamily="34" charset="0"/>
                <a:ea typeface="Calibri" pitchFamily="34" charset="-122"/>
                <a:cs typeface="Calibri" pitchFamily="34" charset="-120"/>
              </a:rPr>
              <a:t>GitHub stopped accepting passwords in 2021. This replaces it.</a:t>
            </a:r>
            <a:endParaRPr lang="en-US" sz="1100" dirty="0"/>
          </a:p>
        </p:txBody>
      </p:sp>
      <p:sp>
        <p:nvSpPr>
          <p:cNvPr id="24" name="Text 22"/>
          <p:cNvSpPr txBox="1"/>
          <p:nvPr/>
        </p:nvSpPr>
        <p:spPr>
          <a:xfrm>
            <a:off x="502920" y="4434840"/>
            <a:ext cx="8183880" cy="274320"/>
          </a:xfrm>
          <a:prstGeom prst="rect">
            <a:avLst/>
          </a:prstGeom>
          <a:noFill/>
          <a:ln/>
        </p:spPr>
        <p:txBody>
          <a:bodyPr wrap="square" lIns="0" tIns="0" rIns="0" bIns="0" rtlCol="0" anchor="ctr"/>
          <a:lstStyle/>
          <a:p>
            <a:pPr indent="0" marL="0">
              <a:buNone/>
            </a:pPr>
            <a:r>
              <a:rPr lang="en-US" sz="1150" b="1" dirty="0">
                <a:solidFill>
                  <a:srgbClr val="C1211F"/>
                </a:solidFill>
                <a:latin typeface="Calibri" pitchFamily="34" charset="0"/>
                <a:ea typeface="Calibri" pitchFamily="34" charset="-122"/>
                <a:cs typeface="Calibri" pitchFamily="34" charset="-120"/>
              </a:rPr>
              <a:t>Without all four, you cannot do tonight's homework or next session's assignment.</a:t>
            </a:r>
            <a:endParaRPr lang="en-US" sz="1150" dirty="0"/>
          </a:p>
        </p:txBody>
      </p:sp>
      <p:sp>
        <p:nvSpPr>
          <p:cNvPr id="25" name="Text 23"/>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STEP 1 AND 2</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FFFFFF"/>
                </a:solidFill>
                <a:latin typeface="Arial" pitchFamily="34" charset="0"/>
                <a:ea typeface="Arial" pitchFamily="34" charset="-122"/>
                <a:cs typeface="Arial" pitchFamily="34" charset="-120"/>
              </a:rPr>
              <a:t>Install Git, then tell it who you are</a:t>
            </a:r>
            <a:endParaRPr lang="en-US" sz="2900" dirty="0"/>
          </a:p>
        </p:txBody>
      </p:sp>
      <p:sp>
        <p:nvSpPr>
          <p:cNvPr id="4" name="Shape 2"/>
          <p:cNvSpPr/>
          <p:nvPr/>
        </p:nvSpPr>
        <p:spPr>
          <a:xfrm>
            <a:off x="502920" y="1371600"/>
            <a:ext cx="5257800" cy="3063240"/>
          </a:xfrm>
          <a:prstGeom prst="roundRect">
            <a:avLst>
              <a:gd name="adj" fmla="val 1493"/>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504188"/>
            <a:ext cx="77724" cy="77724"/>
          </a:xfrm>
          <a:prstGeom prst="ellipse">
            <a:avLst/>
          </a:prstGeom>
          <a:solidFill>
            <a:srgbClr val="FF5F56"/>
          </a:solidFill>
          <a:ln w="12700">
            <a:solidFill>
              <a:srgbClr val="FF5F56"/>
            </a:solidFill>
            <a:prstDash val="solid"/>
          </a:ln>
        </p:spPr>
      </p:sp>
      <p:sp>
        <p:nvSpPr>
          <p:cNvPr id="6" name="Shape 4"/>
          <p:cNvSpPr/>
          <p:nvPr/>
        </p:nvSpPr>
        <p:spPr>
          <a:xfrm>
            <a:off x="781812" y="1504188"/>
            <a:ext cx="77724" cy="77724"/>
          </a:xfrm>
          <a:prstGeom prst="ellipse">
            <a:avLst/>
          </a:prstGeom>
          <a:solidFill>
            <a:srgbClr val="FFBD2E"/>
          </a:solidFill>
          <a:ln w="12700">
            <a:solidFill>
              <a:srgbClr val="FFBD2E"/>
            </a:solidFill>
            <a:prstDash val="solid"/>
          </a:ln>
        </p:spPr>
      </p:sp>
      <p:sp>
        <p:nvSpPr>
          <p:cNvPr id="7" name="Shape 5"/>
          <p:cNvSpPr/>
          <p:nvPr/>
        </p:nvSpPr>
        <p:spPr>
          <a:xfrm>
            <a:off x="923544" y="150418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49324"/>
            <a:ext cx="457200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your terminal / Git Bash</a:t>
            </a:r>
            <a:endParaRPr lang="en-US" sz="850" dirty="0"/>
          </a:p>
        </p:txBody>
      </p:sp>
      <p:sp>
        <p:nvSpPr>
          <p:cNvPr id="9" name="Text 7"/>
          <p:cNvSpPr txBox="1"/>
          <p:nvPr/>
        </p:nvSpPr>
        <p:spPr>
          <a:xfrm>
            <a:off x="704088" y="1737360"/>
            <a:ext cx="4855464" cy="2560320"/>
          </a:xfrm>
          <a:prstGeom prst="rect">
            <a:avLst/>
          </a:prstGeom>
          <a:noFill/>
          <a:ln/>
        </p:spPr>
        <p:txBody>
          <a:bodyPr wrap="square" lIns="0" tIns="0" rIns="0" bIns="0" rtlCol="0" anchor="t"/>
          <a:lstStyle/>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--version</a:t>
            </a:r>
            <a:endParaRPr lang="en-US" sz="950" dirty="0"/>
          </a:p>
          <a:p>
            <a:pPr indent="0" marL="0">
              <a:lnSpc>
                <a:spcPct val="122000"/>
              </a:lnSpc>
              <a:buNone/>
            </a:pPr>
            <a:r>
              <a:rPr lang="en-US" sz="950" dirty="0">
                <a:solidFill>
                  <a:srgbClr val="6FD37E"/>
                </a:solidFill>
                <a:latin typeface="Courier New" pitchFamily="34" charset="0"/>
                <a:ea typeface="Courier New" pitchFamily="34" charset="-122"/>
                <a:cs typeface="Courier New" pitchFamily="34" charset="-120"/>
              </a:rPr>
              <a:t>git version 2.50.1</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config --global user.name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"Arjun Kumar"</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config --global user.email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"arjun@example.com"</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config --global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init.defaultBranch main</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config --global pull.rebase false</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config --global --list</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user.name=Arjun Kumar</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user.email=arjun@example.com</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init.defaultbranch=main</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pull.rebase=false</a:t>
            </a:r>
            <a:endParaRPr lang="en-US" sz="950" dirty="0"/>
          </a:p>
        </p:txBody>
      </p:sp>
      <p:sp>
        <p:nvSpPr>
          <p:cNvPr id="10" name="Shape 8"/>
          <p:cNvSpPr/>
          <p:nvPr/>
        </p:nvSpPr>
        <p:spPr>
          <a:xfrm>
            <a:off x="5943600" y="1371600"/>
            <a:ext cx="2743200" cy="1371600"/>
          </a:xfrm>
          <a:prstGeom prst="roundRect">
            <a:avLst>
              <a:gd name="adj" fmla="val 4000"/>
            </a:avLst>
          </a:prstGeom>
          <a:solidFill>
            <a:srgbClr val="20252B"/>
          </a:solidFill>
          <a:ln w="12700">
            <a:solidFill>
              <a:srgbClr val="3A424C"/>
            </a:solidFill>
            <a:prstDash val="solid"/>
          </a:ln>
        </p:spPr>
      </p:sp>
      <p:sp>
        <p:nvSpPr>
          <p:cNvPr id="11" name="Text 9"/>
          <p:cNvSpPr txBox="1"/>
          <p:nvPr/>
        </p:nvSpPr>
        <p:spPr>
          <a:xfrm>
            <a:off x="6172200" y="1481328"/>
            <a:ext cx="2331720" cy="237744"/>
          </a:xfrm>
          <a:prstGeom prst="rect">
            <a:avLst/>
          </a:prstGeom>
          <a:noFill/>
          <a:ln/>
        </p:spPr>
        <p:txBody>
          <a:bodyPr wrap="square" lIns="0" tIns="0" rIns="0" bIns="0" rtlCol="0" anchor="ctr"/>
          <a:lstStyle/>
          <a:p>
            <a:pPr indent="0" marL="0">
              <a:buNone/>
            </a:pPr>
            <a:r>
              <a:rPr lang="en-US" sz="950" b="1" spc="120" kern="0" dirty="0">
                <a:solidFill>
                  <a:srgbClr val="8B949E"/>
                </a:solidFill>
                <a:latin typeface="Arial" pitchFamily="34" charset="0"/>
                <a:ea typeface="Arial" pitchFamily="34" charset="-122"/>
                <a:cs typeface="Arial" pitchFamily="34" charset="-120"/>
              </a:rPr>
              <a:t>IF git --version FAILS</a:t>
            </a:r>
            <a:endParaRPr lang="en-US" sz="950" dirty="0"/>
          </a:p>
        </p:txBody>
      </p:sp>
      <p:sp>
        <p:nvSpPr>
          <p:cNvPr id="12" name="Text 10"/>
          <p:cNvSpPr txBox="1"/>
          <p:nvPr/>
        </p:nvSpPr>
        <p:spPr>
          <a:xfrm>
            <a:off x="6172200" y="1755648"/>
            <a:ext cx="2331720" cy="914400"/>
          </a:xfrm>
          <a:prstGeom prst="rect">
            <a:avLst/>
          </a:prstGeom>
          <a:noFill/>
          <a:ln/>
        </p:spPr>
        <p:txBody>
          <a:bodyPr wrap="square" lIns="0" tIns="0" rIns="0" bIns="0" rtlCol="0" anchor="ctr"/>
          <a:lstStyle/>
          <a:p>
            <a:pPr indent="0" marL="0">
              <a:lnSpc>
                <a:spcPct val="130000"/>
              </a:lnSpc>
              <a:buNone/>
            </a:pPr>
            <a:r>
              <a:rPr lang="en-US" sz="950" dirty="0">
                <a:solidFill>
                  <a:srgbClr val="C9D1D9"/>
                </a:solidFill>
                <a:latin typeface="Courier New" pitchFamily="34" charset="0"/>
                <a:ea typeface="Courier New" pitchFamily="34" charset="-122"/>
                <a:cs typeface="Courier New" pitchFamily="34" charset="-120"/>
              </a:rPr>
              <a:t>Windows</a:t>
            </a:r>
            <a:endParaRPr lang="en-US" sz="950" dirty="0"/>
          </a:p>
          <a:p>
            <a:pPr indent="0" marL="0">
              <a:lnSpc>
                <a:spcPct val="130000"/>
              </a:lnSpc>
              <a:buNone/>
            </a:pPr>
            <a:r>
              <a:rPr lang="en-US" sz="950" dirty="0">
                <a:solidFill>
                  <a:srgbClr val="C9D1D9"/>
                </a:solidFill>
                <a:latin typeface="Courier New" pitchFamily="34" charset="0"/>
                <a:ea typeface="Courier New" pitchFamily="34" charset="-122"/>
                <a:cs typeface="Courier New" pitchFamily="34" charset="-120"/>
              </a:rPr>
              <a:t>git-scm.com/download/win</a:t>
            </a:r>
            <a:endParaRPr lang="en-US" sz="950" dirty="0"/>
          </a:p>
          <a:p>
            <a:pPr indent="0" marL="0">
              <a:lnSpc>
                <a:spcPct val="130000"/>
              </a:lnSpc>
              <a:buNone/>
            </a:pPr>
            <a:endParaRPr lang="en-US" sz="950" dirty="0"/>
          </a:p>
          <a:p>
            <a:pPr indent="0" marL="0">
              <a:lnSpc>
                <a:spcPct val="130000"/>
              </a:lnSpc>
              <a:buNone/>
            </a:pPr>
            <a:r>
              <a:rPr lang="en-US" sz="950" dirty="0">
                <a:solidFill>
                  <a:srgbClr val="C9D1D9"/>
                </a:solidFill>
                <a:latin typeface="Courier New" pitchFamily="34" charset="0"/>
                <a:ea typeface="Courier New" pitchFamily="34" charset="-122"/>
                <a:cs typeface="Courier New" pitchFamily="34" charset="-120"/>
              </a:rPr>
              <a:t>Mac</a:t>
            </a:r>
            <a:endParaRPr lang="en-US" sz="950" dirty="0"/>
          </a:p>
          <a:p>
            <a:pPr indent="0" marL="0">
              <a:lnSpc>
                <a:spcPct val="130000"/>
              </a:lnSpc>
              <a:buNone/>
            </a:pPr>
            <a:r>
              <a:rPr lang="en-US" sz="950" dirty="0">
                <a:solidFill>
                  <a:srgbClr val="C9D1D9"/>
                </a:solidFill>
                <a:latin typeface="Courier New" pitchFamily="34" charset="0"/>
                <a:ea typeface="Courier New" pitchFamily="34" charset="-122"/>
                <a:cs typeface="Courier New" pitchFamily="34" charset="-120"/>
              </a:rPr>
              <a:t>xcode-select --install</a:t>
            </a:r>
            <a:endParaRPr lang="en-US" sz="950" dirty="0"/>
          </a:p>
        </p:txBody>
      </p:sp>
      <p:sp>
        <p:nvSpPr>
          <p:cNvPr id="13" name="Shape 11"/>
          <p:cNvSpPr/>
          <p:nvPr/>
        </p:nvSpPr>
        <p:spPr>
          <a:xfrm>
            <a:off x="5943600" y="2880360"/>
            <a:ext cx="2743200" cy="1554480"/>
          </a:xfrm>
          <a:prstGeom prst="roundRect">
            <a:avLst>
              <a:gd name="adj" fmla="val 3529"/>
            </a:avLst>
          </a:prstGeom>
          <a:solidFill>
            <a:srgbClr val="2E2A1F"/>
          </a:solidFill>
          <a:ln w="12700">
            <a:solidFill>
              <a:srgbClr val="5A5034"/>
            </a:solidFill>
            <a:prstDash val="solid"/>
          </a:ln>
        </p:spPr>
      </p:sp>
      <p:sp>
        <p:nvSpPr>
          <p:cNvPr id="14" name="Text 12"/>
          <p:cNvSpPr txBox="1"/>
          <p:nvPr/>
        </p:nvSpPr>
        <p:spPr>
          <a:xfrm>
            <a:off x="6172200" y="2999232"/>
            <a:ext cx="2331720" cy="256032"/>
          </a:xfrm>
          <a:prstGeom prst="rect">
            <a:avLst/>
          </a:prstGeom>
          <a:noFill/>
          <a:ln/>
        </p:spPr>
        <p:txBody>
          <a:bodyPr wrap="square" lIns="0" tIns="0" rIns="0" bIns="0" rtlCol="0" anchor="ctr"/>
          <a:lstStyle/>
          <a:p>
            <a:pPr indent="0" marL="0">
              <a:buNone/>
            </a:pPr>
            <a:r>
              <a:rPr lang="en-US" sz="1150" b="1" dirty="0">
                <a:solidFill>
                  <a:srgbClr val="FFAA64"/>
                </a:solidFill>
                <a:latin typeface="Arial" pitchFamily="34" charset="0"/>
                <a:ea typeface="Arial" pitchFamily="34" charset="-122"/>
                <a:cs typeface="Arial" pitchFamily="34" charset="-120"/>
              </a:rPr>
              <a:t>The last two matter</a:t>
            </a:r>
            <a:endParaRPr lang="en-US" sz="1150" dirty="0"/>
          </a:p>
        </p:txBody>
      </p:sp>
      <p:sp>
        <p:nvSpPr>
          <p:cNvPr id="15" name="Text 13"/>
          <p:cNvSpPr txBox="1"/>
          <p:nvPr/>
        </p:nvSpPr>
        <p:spPr>
          <a:xfrm>
            <a:off x="6172200" y="3291840"/>
            <a:ext cx="2331720" cy="1051560"/>
          </a:xfrm>
          <a:prstGeom prst="rect">
            <a:avLst/>
          </a:prstGeom>
          <a:noFill/>
          <a:ln/>
        </p:spPr>
        <p:txBody>
          <a:bodyPr wrap="square" lIns="0" tIns="0" rIns="0" bIns="0" rtlCol="0" anchor="ctr"/>
          <a:lstStyle/>
          <a:p>
            <a:pPr indent="0" marL="0">
              <a:lnSpc>
                <a:spcPct val="130000"/>
              </a:lnSpc>
              <a:buNone/>
            </a:pPr>
            <a:r>
              <a:rPr lang="en-US" sz="1000" dirty="0">
                <a:solidFill>
                  <a:srgbClr val="C9D1D9"/>
                </a:solidFill>
                <a:latin typeface="Calibri" pitchFamily="34" charset="0"/>
                <a:ea typeface="Calibri" pitchFamily="34" charset="-122"/>
                <a:cs typeface="Calibri" pitchFamily="34" charset="-120"/>
              </a:rPr>
              <a:t>defaultBranch main — so git init makes "main", not "master"</a:t>
            </a:r>
            <a:endParaRPr lang="en-US" sz="1000" dirty="0"/>
          </a:p>
          <a:p>
            <a:pPr indent="0" marL="0">
              <a:lnSpc>
                <a:spcPct val="130000"/>
              </a:lnSpc>
              <a:buNone/>
            </a:pPr>
            <a:endParaRPr lang="en-US" sz="1000" dirty="0"/>
          </a:p>
          <a:p>
            <a:pPr indent="0" marL="0">
              <a:lnSpc>
                <a:spcPct val="130000"/>
              </a:lnSpc>
              <a:buNone/>
            </a:pPr>
            <a:r>
              <a:rPr lang="en-US" sz="1000" dirty="0">
                <a:solidFill>
                  <a:srgbClr val="C9D1D9"/>
                </a:solidFill>
                <a:latin typeface="Calibri" pitchFamily="34" charset="0"/>
                <a:ea typeface="Calibri" pitchFamily="34" charset="-122"/>
                <a:cs typeface="Calibri" pitchFamily="34" charset="-120"/>
              </a:rPr>
              <a:t>pull.rebase false — so git pull works instead of erroring</a:t>
            </a:r>
            <a:endParaRPr lang="en-US" sz="1000" dirty="0"/>
          </a:p>
        </p:txBody>
      </p:sp>
      <p:sp>
        <p:nvSpPr>
          <p:cNvPr id="16" name="Text 14"/>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STEP 3</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16191D"/>
                </a:solidFill>
                <a:latin typeface="Arial" pitchFamily="34" charset="0"/>
                <a:ea typeface="Arial" pitchFamily="34" charset="-122"/>
                <a:cs typeface="Arial" pitchFamily="34" charset="-120"/>
              </a:rPr>
              <a:t>Create your GitHub account</a:t>
            </a:r>
            <a:endParaRPr lang="en-US" sz="3000" dirty="0"/>
          </a:p>
        </p:txBody>
      </p:sp>
      <p:sp>
        <p:nvSpPr>
          <p:cNvPr id="4" name="Shape 2"/>
          <p:cNvSpPr/>
          <p:nvPr/>
        </p:nvSpPr>
        <p:spPr>
          <a:xfrm>
            <a:off x="502920" y="1371600"/>
            <a:ext cx="4663440" cy="2331720"/>
          </a:xfrm>
          <a:prstGeom prst="roundRect">
            <a:avLst>
              <a:gd name="adj" fmla="val 2353"/>
            </a:avLst>
          </a:prstGeom>
          <a:solidFill>
            <a:srgbClr val="F3F5F7"/>
          </a:solidFill>
          <a:ln w="12700">
            <a:solidFill>
              <a:srgbClr val="D5DCE3"/>
            </a:solidFill>
            <a:prstDash val="solid"/>
          </a:ln>
        </p:spPr>
      </p:sp>
      <p:sp>
        <p:nvSpPr>
          <p:cNvPr id="5" name="Shape 3"/>
          <p:cNvSpPr/>
          <p:nvPr/>
        </p:nvSpPr>
        <p:spPr>
          <a:xfrm>
            <a:off x="731520" y="1536192"/>
            <a:ext cx="329184" cy="329184"/>
          </a:xfrm>
          <a:prstGeom prst="ellipse">
            <a:avLst/>
          </a:prstGeom>
          <a:solidFill>
            <a:srgbClr val="7B3FD4"/>
          </a:solidFill>
          <a:ln w="12700">
            <a:solidFill>
              <a:srgbClr val="7B3FD4"/>
            </a:solidFill>
            <a:prstDash val="solid"/>
          </a:ln>
        </p:spPr>
      </p:sp>
      <p:sp>
        <p:nvSpPr>
          <p:cNvPr id="6" name="Text 4"/>
          <p:cNvSpPr txBox="1"/>
          <p:nvPr/>
        </p:nvSpPr>
        <p:spPr>
          <a:xfrm>
            <a:off x="731520" y="15361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1188720" y="1536192"/>
            <a:ext cx="3840480" cy="329184"/>
          </a:xfrm>
          <a:prstGeom prst="rect">
            <a:avLst/>
          </a:prstGeom>
          <a:noFill/>
          <a:ln/>
        </p:spPr>
        <p:txBody>
          <a:bodyPr wrap="square" lIns="0" tIns="0" rIns="0" bIns="0" rtlCol="0" anchor="ctr"/>
          <a:lstStyle/>
          <a:p>
            <a:pPr indent="0" marL="0">
              <a:buNone/>
            </a:pPr>
            <a:r>
              <a:rPr lang="en-US" sz="1150" dirty="0">
                <a:solidFill>
                  <a:srgbClr val="16191D"/>
                </a:solidFill>
                <a:latin typeface="Calibri" pitchFamily="34" charset="0"/>
                <a:ea typeface="Calibri" pitchFamily="34" charset="-122"/>
                <a:cs typeface="Calibri" pitchFamily="34" charset="-120"/>
              </a:rPr>
              <a:t>Go to  github.com/signup</a:t>
            </a:r>
            <a:endParaRPr lang="en-US" sz="1150" dirty="0"/>
          </a:p>
        </p:txBody>
      </p:sp>
      <p:sp>
        <p:nvSpPr>
          <p:cNvPr id="8" name="Shape 6"/>
          <p:cNvSpPr/>
          <p:nvPr/>
        </p:nvSpPr>
        <p:spPr>
          <a:xfrm>
            <a:off x="731520" y="2066544"/>
            <a:ext cx="329184" cy="329184"/>
          </a:xfrm>
          <a:prstGeom prst="ellipse">
            <a:avLst/>
          </a:prstGeom>
          <a:solidFill>
            <a:srgbClr val="7B3FD4"/>
          </a:solidFill>
          <a:ln w="12700">
            <a:solidFill>
              <a:srgbClr val="7B3FD4"/>
            </a:solidFill>
            <a:prstDash val="solid"/>
          </a:ln>
        </p:spPr>
      </p:sp>
      <p:sp>
        <p:nvSpPr>
          <p:cNvPr id="9" name="Text 7"/>
          <p:cNvSpPr txBox="1"/>
          <p:nvPr/>
        </p:nvSpPr>
        <p:spPr>
          <a:xfrm>
            <a:off x="731520" y="20665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0" name="Text 8"/>
          <p:cNvSpPr txBox="1"/>
          <p:nvPr/>
        </p:nvSpPr>
        <p:spPr>
          <a:xfrm>
            <a:off x="1188720" y="2066544"/>
            <a:ext cx="3840480" cy="329184"/>
          </a:xfrm>
          <a:prstGeom prst="rect">
            <a:avLst/>
          </a:prstGeom>
          <a:noFill/>
          <a:ln/>
        </p:spPr>
        <p:txBody>
          <a:bodyPr wrap="square" lIns="0" tIns="0" rIns="0" bIns="0" rtlCol="0" anchor="ctr"/>
          <a:lstStyle/>
          <a:p>
            <a:pPr indent="0" marL="0">
              <a:buNone/>
            </a:pPr>
            <a:r>
              <a:rPr lang="en-US" sz="1150" dirty="0">
                <a:solidFill>
                  <a:srgbClr val="16191D"/>
                </a:solidFill>
                <a:latin typeface="Calibri" pitchFamily="34" charset="0"/>
                <a:ea typeface="Calibri" pitchFamily="34" charset="-122"/>
                <a:cs typeface="Calibri" pitchFamily="34" charset="-120"/>
              </a:rPr>
              <a:t>Enter your email, a password, a username</a:t>
            </a:r>
            <a:endParaRPr lang="en-US" sz="1150" dirty="0"/>
          </a:p>
        </p:txBody>
      </p:sp>
      <p:sp>
        <p:nvSpPr>
          <p:cNvPr id="11" name="Shape 9"/>
          <p:cNvSpPr/>
          <p:nvPr/>
        </p:nvSpPr>
        <p:spPr>
          <a:xfrm>
            <a:off x="731520" y="2596896"/>
            <a:ext cx="329184" cy="329184"/>
          </a:xfrm>
          <a:prstGeom prst="ellipse">
            <a:avLst/>
          </a:prstGeom>
          <a:solidFill>
            <a:srgbClr val="7B3FD4"/>
          </a:solidFill>
          <a:ln w="12700">
            <a:solidFill>
              <a:srgbClr val="7B3FD4"/>
            </a:solidFill>
            <a:prstDash val="solid"/>
          </a:ln>
        </p:spPr>
      </p:sp>
      <p:sp>
        <p:nvSpPr>
          <p:cNvPr id="12" name="Text 10"/>
          <p:cNvSpPr txBox="1"/>
          <p:nvPr/>
        </p:nvSpPr>
        <p:spPr>
          <a:xfrm>
            <a:off x="731520" y="25968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3" name="Text 11"/>
          <p:cNvSpPr txBox="1"/>
          <p:nvPr/>
        </p:nvSpPr>
        <p:spPr>
          <a:xfrm>
            <a:off x="1188720" y="2596896"/>
            <a:ext cx="3840480" cy="329184"/>
          </a:xfrm>
          <a:prstGeom prst="rect">
            <a:avLst/>
          </a:prstGeom>
          <a:noFill/>
          <a:ln/>
        </p:spPr>
        <p:txBody>
          <a:bodyPr wrap="square" lIns="0" tIns="0" rIns="0" bIns="0" rtlCol="0" anchor="ctr"/>
          <a:lstStyle/>
          <a:p>
            <a:pPr indent="0" marL="0">
              <a:buNone/>
            </a:pPr>
            <a:r>
              <a:rPr lang="en-US" sz="1150" dirty="0">
                <a:solidFill>
                  <a:srgbClr val="16191D"/>
                </a:solidFill>
                <a:latin typeface="Calibri" pitchFamily="34" charset="0"/>
                <a:ea typeface="Calibri" pitchFamily="34" charset="-122"/>
                <a:cs typeface="Calibri" pitchFamily="34" charset="-120"/>
              </a:rPr>
              <a:t>Solve the puzzle, then verify the code GitHub emails you</a:t>
            </a:r>
            <a:endParaRPr lang="en-US" sz="1150" dirty="0"/>
          </a:p>
        </p:txBody>
      </p:sp>
      <p:sp>
        <p:nvSpPr>
          <p:cNvPr id="14" name="Shape 12"/>
          <p:cNvSpPr/>
          <p:nvPr/>
        </p:nvSpPr>
        <p:spPr>
          <a:xfrm>
            <a:off x="731520" y="3127248"/>
            <a:ext cx="329184" cy="329184"/>
          </a:xfrm>
          <a:prstGeom prst="ellipse">
            <a:avLst/>
          </a:prstGeom>
          <a:solidFill>
            <a:srgbClr val="7B3FD4"/>
          </a:solidFill>
          <a:ln w="12700">
            <a:solidFill>
              <a:srgbClr val="7B3FD4"/>
            </a:solidFill>
            <a:prstDash val="solid"/>
          </a:ln>
        </p:spPr>
      </p:sp>
      <p:sp>
        <p:nvSpPr>
          <p:cNvPr id="15" name="Text 13"/>
          <p:cNvSpPr txBox="1"/>
          <p:nvPr/>
        </p:nvSpPr>
        <p:spPr>
          <a:xfrm>
            <a:off x="731520"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6" name="Text 14"/>
          <p:cNvSpPr txBox="1"/>
          <p:nvPr/>
        </p:nvSpPr>
        <p:spPr>
          <a:xfrm>
            <a:off x="1188720" y="3127248"/>
            <a:ext cx="3840480" cy="329184"/>
          </a:xfrm>
          <a:prstGeom prst="rect">
            <a:avLst/>
          </a:prstGeom>
          <a:noFill/>
          <a:ln/>
        </p:spPr>
        <p:txBody>
          <a:bodyPr wrap="square" lIns="0" tIns="0" rIns="0" bIns="0" rtlCol="0" anchor="ctr"/>
          <a:lstStyle/>
          <a:p>
            <a:pPr indent="0" marL="0">
              <a:buNone/>
            </a:pPr>
            <a:r>
              <a:rPr lang="en-US" sz="1150" dirty="0">
                <a:solidFill>
                  <a:srgbClr val="16191D"/>
                </a:solidFill>
                <a:latin typeface="Calibri" pitchFamily="34" charset="0"/>
                <a:ea typeface="Calibri" pitchFamily="34" charset="-122"/>
                <a:cs typeface="Calibri" pitchFamily="34" charset="-120"/>
              </a:rPr>
              <a:t>Done — github.com/your-username is now live</a:t>
            </a:r>
            <a:endParaRPr lang="en-US" sz="1150" dirty="0"/>
          </a:p>
        </p:txBody>
      </p:sp>
      <p:sp>
        <p:nvSpPr>
          <p:cNvPr id="17" name="Shape 15"/>
          <p:cNvSpPr/>
          <p:nvPr/>
        </p:nvSpPr>
        <p:spPr>
          <a:xfrm>
            <a:off x="5394960" y="1371600"/>
            <a:ext cx="3291840" cy="2331720"/>
          </a:xfrm>
          <a:prstGeom prst="roundRect">
            <a:avLst>
              <a:gd name="adj" fmla="val 2353"/>
            </a:avLst>
          </a:prstGeom>
          <a:solidFill>
            <a:srgbClr val="F4EFFC"/>
          </a:solidFill>
          <a:ln w="12700">
            <a:solidFill>
              <a:srgbClr val="D9C9F5"/>
            </a:solidFill>
            <a:prstDash val="solid"/>
          </a:ln>
        </p:spPr>
      </p:sp>
      <p:sp>
        <p:nvSpPr>
          <p:cNvPr id="18" name="Text 16"/>
          <p:cNvSpPr txBox="1"/>
          <p:nvPr/>
        </p:nvSpPr>
        <p:spPr>
          <a:xfrm>
            <a:off x="5623560" y="1490472"/>
            <a:ext cx="2834640" cy="274320"/>
          </a:xfrm>
          <a:prstGeom prst="rect">
            <a:avLst/>
          </a:prstGeom>
          <a:noFill/>
          <a:ln/>
        </p:spPr>
        <p:txBody>
          <a:bodyPr wrap="square" lIns="0" tIns="0" rIns="0" bIns="0" rtlCol="0" anchor="ctr"/>
          <a:lstStyle/>
          <a:p>
            <a:pPr indent="0" marL="0">
              <a:buNone/>
            </a:pPr>
            <a:r>
              <a:rPr lang="en-US" sz="1300" b="1" dirty="0">
                <a:solidFill>
                  <a:srgbClr val="7B3FD4"/>
                </a:solidFill>
                <a:latin typeface="Arial" pitchFamily="34" charset="0"/>
                <a:ea typeface="Arial" pitchFamily="34" charset="-122"/>
                <a:cs typeface="Arial" pitchFamily="34" charset="-120"/>
              </a:rPr>
              <a:t>Choose the username carefully</a:t>
            </a:r>
            <a:endParaRPr lang="en-US" sz="1300" dirty="0"/>
          </a:p>
        </p:txBody>
      </p:sp>
      <p:sp>
        <p:nvSpPr>
          <p:cNvPr id="19" name="Text 17"/>
          <p:cNvSpPr txBox="1"/>
          <p:nvPr/>
        </p:nvSpPr>
        <p:spPr>
          <a:xfrm>
            <a:off x="5623560" y="1792224"/>
            <a:ext cx="2834640" cy="548640"/>
          </a:xfrm>
          <a:prstGeom prst="rect">
            <a:avLst/>
          </a:prstGeom>
          <a:noFill/>
          <a:ln/>
        </p:spPr>
        <p:txBody>
          <a:bodyPr wrap="square" lIns="0" tIns="0" rIns="0" bIns="0" rtlCol="0" anchor="ctr"/>
          <a:lstStyle/>
          <a:p>
            <a:pPr indent="0" marL="0">
              <a:lnSpc>
                <a:spcPct val="125000"/>
              </a:lnSpc>
              <a:buNone/>
            </a:pPr>
            <a:r>
              <a:rPr lang="en-US" sz="1050" dirty="0">
                <a:solidFill>
                  <a:srgbClr val="16191D"/>
                </a:solidFill>
                <a:latin typeface="Calibri" pitchFamily="34" charset="0"/>
                <a:ea typeface="Calibri" pitchFamily="34" charset="-122"/>
                <a:cs typeface="Calibri" pitchFamily="34" charset="-120"/>
              </a:rPr>
              <a:t>It becomes a public page, it goes on your CV, and you will hand it to interviewers.</a:t>
            </a:r>
            <a:endParaRPr lang="en-US" sz="1050" dirty="0"/>
          </a:p>
        </p:txBody>
      </p:sp>
      <p:sp>
        <p:nvSpPr>
          <p:cNvPr id="20" name="Text 18"/>
          <p:cNvSpPr txBox="1"/>
          <p:nvPr/>
        </p:nvSpPr>
        <p:spPr>
          <a:xfrm>
            <a:off x="5623560" y="2377440"/>
            <a:ext cx="2834640" cy="219456"/>
          </a:xfrm>
          <a:prstGeom prst="rect">
            <a:avLst/>
          </a:prstGeom>
          <a:noFill/>
          <a:ln/>
        </p:spPr>
        <p:txBody>
          <a:bodyPr wrap="square" lIns="0" tIns="0" rIns="0" bIns="0" rtlCol="0" anchor="ctr"/>
          <a:lstStyle/>
          <a:p>
            <a:pPr indent="0" marL="0">
              <a:buNone/>
            </a:pPr>
            <a:r>
              <a:rPr lang="en-US" sz="1000" b="1" dirty="0">
                <a:solidFill>
                  <a:srgbClr val="1F8A42"/>
                </a:solidFill>
                <a:latin typeface="Arial" pitchFamily="34" charset="0"/>
                <a:ea typeface="Arial" pitchFamily="34" charset="-122"/>
                <a:cs typeface="Arial" pitchFamily="34" charset="-120"/>
              </a:rPr>
              <a:t>Good</a:t>
            </a:r>
            <a:endParaRPr lang="en-US" sz="1000" dirty="0"/>
          </a:p>
        </p:txBody>
      </p:sp>
      <p:sp>
        <p:nvSpPr>
          <p:cNvPr id="21" name="Text 19"/>
          <p:cNvSpPr txBox="1"/>
          <p:nvPr/>
        </p:nvSpPr>
        <p:spPr>
          <a:xfrm>
            <a:off x="5623560" y="2596896"/>
            <a:ext cx="2834640" cy="237744"/>
          </a:xfrm>
          <a:prstGeom prst="rect">
            <a:avLst/>
          </a:prstGeom>
          <a:noFill/>
          <a:ln/>
        </p:spPr>
        <p:txBody>
          <a:bodyPr wrap="square" lIns="0" tIns="0" rIns="0" bIns="0" rtlCol="0" anchor="ctr"/>
          <a:lstStyle/>
          <a:p>
            <a:pPr indent="0" marL="0">
              <a:buNone/>
            </a:pPr>
            <a:r>
              <a:rPr lang="en-US" sz="1050" dirty="0">
                <a:solidFill>
                  <a:srgbClr val="16191D"/>
                </a:solidFill>
                <a:latin typeface="Courier New" pitchFamily="34" charset="0"/>
                <a:ea typeface="Courier New" pitchFamily="34" charset="-122"/>
                <a:cs typeface="Courier New" pitchFamily="34" charset="-120"/>
              </a:rPr>
              <a:t>arjun-kumar    arjunk-dev</a:t>
            </a:r>
            <a:endParaRPr lang="en-US" sz="1050" dirty="0"/>
          </a:p>
        </p:txBody>
      </p:sp>
      <p:sp>
        <p:nvSpPr>
          <p:cNvPr id="22" name="Text 20"/>
          <p:cNvSpPr txBox="1"/>
          <p:nvPr/>
        </p:nvSpPr>
        <p:spPr>
          <a:xfrm>
            <a:off x="5623560" y="2889504"/>
            <a:ext cx="2834640" cy="219456"/>
          </a:xfrm>
          <a:prstGeom prst="rect">
            <a:avLst/>
          </a:prstGeom>
          <a:noFill/>
          <a:ln/>
        </p:spPr>
        <p:txBody>
          <a:bodyPr wrap="square" lIns="0" tIns="0" rIns="0" bIns="0" rtlCol="0" anchor="ctr"/>
          <a:lstStyle/>
          <a:p>
            <a:pPr indent="0" marL="0">
              <a:buNone/>
            </a:pPr>
            <a:r>
              <a:rPr lang="en-US" sz="1000" b="1" dirty="0">
                <a:solidFill>
                  <a:srgbClr val="C1211F"/>
                </a:solidFill>
                <a:latin typeface="Arial" pitchFamily="34" charset="0"/>
                <a:ea typeface="Arial" pitchFamily="34" charset="-122"/>
                <a:cs typeface="Arial" pitchFamily="34" charset="-120"/>
              </a:rPr>
              <a:t>Avoid</a:t>
            </a:r>
            <a:endParaRPr lang="en-US" sz="1000" dirty="0"/>
          </a:p>
        </p:txBody>
      </p:sp>
      <p:sp>
        <p:nvSpPr>
          <p:cNvPr id="23" name="Text 21"/>
          <p:cNvSpPr txBox="1"/>
          <p:nvPr/>
        </p:nvSpPr>
        <p:spPr>
          <a:xfrm>
            <a:off x="5623560" y="3108960"/>
            <a:ext cx="2834640" cy="411480"/>
          </a:xfrm>
          <a:prstGeom prst="rect">
            <a:avLst/>
          </a:prstGeom>
          <a:noFill/>
          <a:ln/>
        </p:spPr>
        <p:txBody>
          <a:bodyPr wrap="square" lIns="0" tIns="0" rIns="0" bIns="0" rtlCol="0" anchor="ctr"/>
          <a:lstStyle/>
          <a:p>
            <a:pPr indent="0" marL="0">
              <a:lnSpc>
                <a:spcPct val="120000"/>
              </a:lnSpc>
              <a:buNone/>
            </a:pPr>
            <a:r>
              <a:rPr lang="en-US" sz="1050" dirty="0">
                <a:solidFill>
                  <a:srgbClr val="16191D"/>
                </a:solidFill>
                <a:latin typeface="Courier New" pitchFamily="34" charset="0"/>
                <a:ea typeface="Courier New" pitchFamily="34" charset="-122"/>
                <a:cs typeface="Courier New" pitchFamily="34" charset="-120"/>
              </a:rPr>
              <a:t>cool2004boy    temp123    test-account</a:t>
            </a:r>
            <a:endParaRPr lang="en-US" sz="1050" dirty="0"/>
          </a:p>
        </p:txBody>
      </p:sp>
      <p:sp>
        <p:nvSpPr>
          <p:cNvPr id="24" name="Shape 22"/>
          <p:cNvSpPr/>
          <p:nvPr/>
        </p:nvSpPr>
        <p:spPr>
          <a:xfrm>
            <a:off x="502920" y="3840480"/>
            <a:ext cx="8183880" cy="621792"/>
          </a:xfrm>
          <a:prstGeom prst="roundRect">
            <a:avLst>
              <a:gd name="adj" fmla="val 8824"/>
            </a:avLst>
          </a:prstGeom>
          <a:solidFill>
            <a:srgbClr val="16191D"/>
          </a:solidFill>
          <a:ln w="12700">
            <a:solidFill>
              <a:srgbClr val="16191D"/>
            </a:solidFill>
            <a:prstDash val="solid"/>
          </a:ln>
        </p:spPr>
      </p:sp>
      <p:sp>
        <p:nvSpPr>
          <p:cNvPr id="25" name="Text 23"/>
          <p:cNvSpPr txBox="1"/>
          <p:nvPr/>
        </p:nvSpPr>
        <p:spPr>
          <a:xfrm>
            <a:off x="777240" y="3840480"/>
            <a:ext cx="7772400" cy="62179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Free accounts get unlimited public AND private repositories. You never need to pay for anything in this course.</a:t>
            </a:r>
            <a:endParaRPr lang="en-US" sz="1150" dirty="0"/>
          </a:p>
        </p:txBody>
      </p:sp>
      <p:sp>
        <p:nvSpPr>
          <p:cNvPr id="26" name="Text 24"/>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C1211F"/>
                </a:solidFill>
                <a:latin typeface="Arial" pitchFamily="34" charset="0"/>
                <a:ea typeface="Arial" pitchFamily="34" charset="-122"/>
                <a:cs typeface="Arial" pitchFamily="34" charset="-120"/>
              </a:rPr>
              <a:t>STEP 4 · THE ONE EVERYONE GETS STUCK ON</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FFFFFF"/>
                </a:solidFill>
                <a:latin typeface="Arial" pitchFamily="34" charset="0"/>
                <a:ea typeface="Arial" pitchFamily="34" charset="-122"/>
                <a:cs typeface="Arial" pitchFamily="34" charset="-120"/>
              </a:rPr>
              <a:t>Your GitHub password will not work</a:t>
            </a:r>
            <a:endParaRPr lang="en-US" sz="2900" dirty="0"/>
          </a:p>
        </p:txBody>
      </p:sp>
      <p:sp>
        <p:nvSpPr>
          <p:cNvPr id="4" name="Shape 2"/>
          <p:cNvSpPr/>
          <p:nvPr/>
        </p:nvSpPr>
        <p:spPr>
          <a:xfrm>
            <a:off x="502920" y="1325880"/>
            <a:ext cx="4114800" cy="1554480"/>
          </a:xfrm>
          <a:prstGeom prst="roundRect">
            <a:avLst>
              <a:gd name="adj" fmla="val 2941"/>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458468"/>
            <a:ext cx="77724" cy="77724"/>
          </a:xfrm>
          <a:prstGeom prst="ellipse">
            <a:avLst/>
          </a:prstGeom>
          <a:solidFill>
            <a:srgbClr val="FF5F56"/>
          </a:solidFill>
          <a:ln w="12700">
            <a:solidFill>
              <a:srgbClr val="FF5F56"/>
            </a:solidFill>
            <a:prstDash val="solid"/>
          </a:ln>
        </p:spPr>
      </p:sp>
      <p:sp>
        <p:nvSpPr>
          <p:cNvPr id="6" name="Shape 4"/>
          <p:cNvSpPr/>
          <p:nvPr/>
        </p:nvSpPr>
        <p:spPr>
          <a:xfrm>
            <a:off x="781812" y="1458468"/>
            <a:ext cx="77724" cy="77724"/>
          </a:xfrm>
          <a:prstGeom prst="ellipse">
            <a:avLst/>
          </a:prstGeom>
          <a:solidFill>
            <a:srgbClr val="FFBD2E"/>
          </a:solidFill>
          <a:ln w="12700">
            <a:solidFill>
              <a:srgbClr val="FFBD2E"/>
            </a:solidFill>
            <a:prstDash val="solid"/>
          </a:ln>
        </p:spPr>
      </p:sp>
      <p:sp>
        <p:nvSpPr>
          <p:cNvPr id="7" name="Shape 5"/>
          <p:cNvSpPr/>
          <p:nvPr/>
        </p:nvSpPr>
        <p:spPr>
          <a:xfrm>
            <a:off x="923544" y="145846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03604"/>
            <a:ext cx="342900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what happens if you try</a:t>
            </a:r>
            <a:endParaRPr lang="en-US" sz="850" dirty="0"/>
          </a:p>
        </p:txBody>
      </p:sp>
      <p:sp>
        <p:nvSpPr>
          <p:cNvPr id="9" name="Text 7"/>
          <p:cNvSpPr txBox="1"/>
          <p:nvPr/>
        </p:nvSpPr>
        <p:spPr>
          <a:xfrm>
            <a:off x="704088" y="1691640"/>
            <a:ext cx="3712464" cy="1051560"/>
          </a:xfrm>
          <a:prstGeom prst="rect">
            <a:avLst/>
          </a:prstGeom>
          <a:noFill/>
          <a:ln/>
        </p:spPr>
        <p:txBody>
          <a:bodyPr wrap="square" lIns="0" tIns="0" rIns="0" bIns="0" rtlCol="0" anchor="t"/>
          <a:lstStyle/>
          <a:p>
            <a:pPr indent="0" marL="0">
              <a:lnSpc>
                <a:spcPct val="122000"/>
              </a:lnSpc>
              <a:buNone/>
            </a:pPr>
            <a:r>
              <a:rPr lang="en-US" sz="900" b="1" dirty="0">
                <a:solidFill>
                  <a:srgbClr val="6FD37E"/>
                </a:solidFill>
                <a:latin typeface="Courier New" pitchFamily="34" charset="0"/>
                <a:ea typeface="Courier New" pitchFamily="34" charset="-122"/>
                <a:cs typeface="Courier New" pitchFamily="34" charset="-120"/>
              </a:rPr>
              <a:t>$ git push</a:t>
            </a:r>
            <a:endParaRPr lang="en-US" sz="900" dirty="0"/>
          </a:p>
          <a:p>
            <a:pPr indent="0" marL="0">
              <a:lnSpc>
                <a:spcPct val="122000"/>
              </a:lnSpc>
              <a:buNone/>
            </a:pPr>
            <a:r>
              <a:rPr lang="en-US" sz="900" dirty="0">
                <a:solidFill>
                  <a:srgbClr val="8B949E"/>
                </a:solidFill>
                <a:latin typeface="Courier New" pitchFamily="34" charset="0"/>
                <a:ea typeface="Courier New" pitchFamily="34" charset="-122"/>
                <a:cs typeface="Courier New" pitchFamily="34" charset="-120"/>
              </a:rPr>
              <a:t>Username: arjun-kumar</a:t>
            </a:r>
            <a:endParaRPr lang="en-US" sz="900" dirty="0"/>
          </a:p>
          <a:p>
            <a:pPr indent="0" marL="0">
              <a:lnSpc>
                <a:spcPct val="122000"/>
              </a:lnSpc>
              <a:buNone/>
            </a:pPr>
            <a:r>
              <a:rPr lang="en-US" sz="900" dirty="0">
                <a:solidFill>
                  <a:srgbClr val="8B949E"/>
                </a:solidFill>
                <a:latin typeface="Courier New" pitchFamily="34" charset="0"/>
                <a:ea typeface="Courier New" pitchFamily="34" charset="-122"/>
                <a:cs typeface="Courier New" pitchFamily="34" charset="-120"/>
              </a:rPr>
              <a:t>Password: ********</a:t>
            </a:r>
            <a:endParaRPr lang="en-US" sz="900" dirty="0"/>
          </a:p>
          <a:p>
            <a:pPr indent="0" marL="0">
              <a:lnSpc>
                <a:spcPct val="122000"/>
              </a:lnSpc>
              <a:buNone/>
            </a:pPr>
            <a:r>
              <a:rPr lang="en-US" sz="900" dirty="0">
                <a:solidFill>
                  <a:srgbClr val="FF8A7A"/>
                </a:solidFill>
                <a:latin typeface="Courier New" pitchFamily="34" charset="0"/>
                <a:ea typeface="Courier New" pitchFamily="34" charset="-122"/>
                <a:cs typeface="Courier New" pitchFamily="34" charset="-120"/>
              </a:rPr>
              <a:t>remote: Support for password</a:t>
            </a:r>
            <a:endParaRPr lang="en-US" sz="900" dirty="0"/>
          </a:p>
          <a:p>
            <a:pPr indent="0" marL="0">
              <a:lnSpc>
                <a:spcPct val="122000"/>
              </a:lnSpc>
              <a:buNone/>
            </a:pPr>
            <a:r>
              <a:rPr lang="en-US" sz="900" dirty="0">
                <a:solidFill>
                  <a:srgbClr val="FF8A7A"/>
                </a:solidFill>
                <a:latin typeface="Courier New" pitchFamily="34" charset="0"/>
                <a:ea typeface="Courier New" pitchFamily="34" charset="-122"/>
                <a:cs typeface="Courier New" pitchFamily="34" charset="-120"/>
              </a:rPr>
              <a:t>  authentication was removed.</a:t>
            </a:r>
            <a:endParaRPr lang="en-US" sz="900" dirty="0"/>
          </a:p>
          <a:p>
            <a:pPr indent="0" marL="0">
              <a:lnSpc>
                <a:spcPct val="122000"/>
              </a:lnSpc>
              <a:buNone/>
            </a:pPr>
            <a:r>
              <a:rPr lang="en-US" sz="900" dirty="0">
                <a:solidFill>
                  <a:srgbClr val="FF8A7A"/>
                </a:solidFill>
                <a:latin typeface="Courier New" pitchFamily="34" charset="0"/>
                <a:ea typeface="Courier New" pitchFamily="34" charset="-122"/>
                <a:cs typeface="Courier New" pitchFamily="34" charset="-120"/>
              </a:rPr>
              <a:t>fatal: Authentication failed</a:t>
            </a:r>
            <a:endParaRPr lang="en-US" sz="900" dirty="0"/>
          </a:p>
        </p:txBody>
      </p:sp>
      <p:sp>
        <p:nvSpPr>
          <p:cNvPr id="10" name="Shape 8"/>
          <p:cNvSpPr/>
          <p:nvPr/>
        </p:nvSpPr>
        <p:spPr>
          <a:xfrm>
            <a:off x="4846320" y="1325880"/>
            <a:ext cx="3840480" cy="1554480"/>
          </a:xfrm>
          <a:prstGeom prst="roundRect">
            <a:avLst>
              <a:gd name="adj" fmla="val 3529"/>
            </a:avLst>
          </a:prstGeom>
          <a:solidFill>
            <a:srgbClr val="20252B"/>
          </a:solidFill>
          <a:ln w="12700">
            <a:solidFill>
              <a:srgbClr val="3A424C"/>
            </a:solidFill>
            <a:prstDash val="solid"/>
          </a:ln>
        </p:spPr>
      </p:sp>
      <p:sp>
        <p:nvSpPr>
          <p:cNvPr id="11" name="Text 9"/>
          <p:cNvSpPr txBox="1"/>
          <p:nvPr/>
        </p:nvSpPr>
        <p:spPr>
          <a:xfrm>
            <a:off x="5074920" y="1444752"/>
            <a:ext cx="3383280" cy="256032"/>
          </a:xfrm>
          <a:prstGeom prst="rect">
            <a:avLst/>
          </a:prstGeom>
          <a:noFill/>
          <a:ln/>
        </p:spPr>
        <p:txBody>
          <a:bodyPr wrap="square" lIns="0" tIns="0" rIns="0" bIns="0" rtlCol="0" anchor="ctr"/>
          <a:lstStyle/>
          <a:p>
            <a:pPr indent="0" marL="0">
              <a:buNone/>
            </a:pPr>
            <a:r>
              <a:rPr lang="en-US" sz="1200" b="1" dirty="0">
                <a:solidFill>
                  <a:srgbClr val="FFAA64"/>
                </a:solidFill>
                <a:latin typeface="Arial" pitchFamily="34" charset="0"/>
                <a:ea typeface="Arial" pitchFamily="34" charset="-122"/>
                <a:cs typeface="Arial" pitchFamily="34" charset="-120"/>
              </a:rPr>
              <a:t>Since August 2021</a:t>
            </a:r>
            <a:endParaRPr lang="en-US" sz="1200" dirty="0"/>
          </a:p>
        </p:txBody>
      </p:sp>
      <p:sp>
        <p:nvSpPr>
          <p:cNvPr id="12" name="Text 10"/>
          <p:cNvSpPr txBox="1"/>
          <p:nvPr/>
        </p:nvSpPr>
        <p:spPr>
          <a:xfrm>
            <a:off x="5074920" y="1737360"/>
            <a:ext cx="3383280" cy="1005840"/>
          </a:xfrm>
          <a:prstGeom prst="rect">
            <a:avLst/>
          </a:prstGeom>
          <a:noFill/>
          <a:ln/>
        </p:spPr>
        <p:txBody>
          <a:bodyPr wrap="square" lIns="0" tIns="0" rIns="0" bIns="0" rtlCol="0" anchor="ctr"/>
          <a:lstStyle/>
          <a:p>
            <a:pPr indent="0" marL="0">
              <a:lnSpc>
                <a:spcPct val="130000"/>
              </a:lnSpc>
              <a:buNone/>
            </a:pPr>
            <a:r>
              <a:rPr lang="en-US" sz="1050" dirty="0">
                <a:solidFill>
                  <a:srgbClr val="C9D1D9"/>
                </a:solidFill>
                <a:latin typeface="Calibri" pitchFamily="34" charset="0"/>
                <a:ea typeface="Calibri" pitchFamily="34" charset="-122"/>
                <a:cs typeface="Calibri" pitchFamily="34" charset="-120"/>
              </a:rPr>
              <a:t>GitHub does not accept your account password from the command line. You generate a token instead and paste that where it asks for a password.</a:t>
            </a:r>
            <a:endParaRPr lang="en-US" sz="1050" dirty="0"/>
          </a:p>
        </p:txBody>
      </p:sp>
      <p:sp>
        <p:nvSpPr>
          <p:cNvPr id="13" name="Shape 11"/>
          <p:cNvSpPr/>
          <p:nvPr/>
        </p:nvSpPr>
        <p:spPr>
          <a:xfrm>
            <a:off x="502920" y="3017520"/>
            <a:ext cx="5257800" cy="1417320"/>
          </a:xfrm>
          <a:prstGeom prst="roundRect">
            <a:avLst>
              <a:gd name="adj" fmla="val 3871"/>
            </a:avLst>
          </a:prstGeom>
          <a:solidFill>
            <a:srgbClr val="20252B"/>
          </a:solidFill>
          <a:ln w="12700">
            <a:solidFill>
              <a:srgbClr val="3A424C"/>
            </a:solidFill>
            <a:prstDash val="solid"/>
          </a:ln>
        </p:spPr>
      </p:sp>
      <p:sp>
        <p:nvSpPr>
          <p:cNvPr id="14" name="Text 12"/>
          <p:cNvSpPr txBox="1"/>
          <p:nvPr/>
        </p:nvSpPr>
        <p:spPr>
          <a:xfrm>
            <a:off x="731520" y="3127248"/>
            <a:ext cx="4754880" cy="237744"/>
          </a:xfrm>
          <a:prstGeom prst="rect">
            <a:avLst/>
          </a:prstGeom>
          <a:noFill/>
          <a:ln/>
        </p:spPr>
        <p:txBody>
          <a:bodyPr wrap="square" lIns="0" tIns="0" rIns="0" bIns="0" rtlCol="0" anchor="ctr"/>
          <a:lstStyle/>
          <a:p>
            <a:pPr indent="0" marL="0">
              <a:buNone/>
            </a:pPr>
            <a:r>
              <a:rPr lang="en-US" sz="950" b="1" spc="120" kern="0" dirty="0">
                <a:solidFill>
                  <a:srgbClr val="8B949E"/>
                </a:solidFill>
                <a:latin typeface="Arial" pitchFamily="34" charset="0"/>
                <a:ea typeface="Arial" pitchFamily="34" charset="-122"/>
                <a:cs typeface="Arial" pitchFamily="34" charset="-120"/>
              </a:rPr>
              <a:t>THE PATH — follow it exactly</a:t>
            </a:r>
            <a:endParaRPr lang="en-US" sz="950" dirty="0"/>
          </a:p>
        </p:txBody>
      </p:sp>
      <p:sp>
        <p:nvSpPr>
          <p:cNvPr id="15" name="Text 13"/>
          <p:cNvSpPr txBox="1"/>
          <p:nvPr/>
        </p:nvSpPr>
        <p:spPr>
          <a:xfrm>
            <a:off x="731520" y="3383280"/>
            <a:ext cx="4754880" cy="960120"/>
          </a:xfrm>
          <a:prstGeom prst="rect">
            <a:avLst/>
          </a:prstGeom>
          <a:noFill/>
          <a:ln/>
        </p:spPr>
        <p:txBody>
          <a:bodyPr wrap="square" lIns="0" tIns="0" rIns="0" bIns="0" rtlCol="0" anchor="ctr"/>
          <a:lstStyle/>
          <a:p>
            <a:pPr indent="0" marL="0">
              <a:lnSpc>
                <a:spcPct val="130000"/>
              </a:lnSpc>
              <a:buNone/>
            </a:pPr>
            <a:r>
              <a:rPr lang="en-US" sz="950" dirty="0">
                <a:solidFill>
                  <a:srgbClr val="C9D1D9"/>
                </a:solidFill>
                <a:latin typeface="Courier New" pitchFamily="34" charset="0"/>
                <a:ea typeface="Courier New" pitchFamily="34" charset="-122"/>
                <a:cs typeface="Courier New" pitchFamily="34" charset="-120"/>
              </a:rPr>
              <a:t>your avatar → Settings → Developer settings</a:t>
            </a:r>
            <a:endParaRPr lang="en-US" sz="950" dirty="0"/>
          </a:p>
          <a:p>
            <a:pPr indent="0" marL="0">
              <a:lnSpc>
                <a:spcPct val="130000"/>
              </a:lnSpc>
              <a:buNone/>
            </a:pPr>
            <a:r>
              <a:rPr lang="en-US" sz="950" dirty="0">
                <a:solidFill>
                  <a:srgbClr val="C9D1D9"/>
                </a:solidFill>
                <a:latin typeface="Courier New" pitchFamily="34" charset="0"/>
                <a:ea typeface="Courier New" pitchFamily="34" charset="-122"/>
                <a:cs typeface="Courier New" pitchFamily="34" charset="-120"/>
              </a:rPr>
              <a:t>  → Personal access tokens → Tokens (classic)</a:t>
            </a:r>
            <a:endParaRPr lang="en-US" sz="950" dirty="0"/>
          </a:p>
          <a:p>
            <a:pPr indent="0" marL="0">
              <a:lnSpc>
                <a:spcPct val="130000"/>
              </a:lnSpc>
              <a:buNone/>
            </a:pPr>
            <a:r>
              <a:rPr lang="en-US" sz="950" dirty="0">
                <a:solidFill>
                  <a:srgbClr val="C9D1D9"/>
                </a:solidFill>
                <a:latin typeface="Courier New" pitchFamily="34" charset="0"/>
                <a:ea typeface="Courier New" pitchFamily="34" charset="-122"/>
                <a:cs typeface="Courier New" pitchFamily="34" charset="-120"/>
              </a:rPr>
              <a:t>    → Generate new token (classic)</a:t>
            </a:r>
            <a:endParaRPr lang="en-US" sz="950" dirty="0"/>
          </a:p>
          <a:p>
            <a:pPr indent="0" marL="0">
              <a:lnSpc>
                <a:spcPct val="130000"/>
              </a:lnSpc>
              <a:buNone/>
            </a:pPr>
            <a:r>
              <a:rPr lang="en-US" sz="950" dirty="0">
                <a:solidFill>
                  <a:srgbClr val="C9D1D9"/>
                </a:solidFill>
                <a:latin typeface="Courier New" pitchFamily="34" charset="0"/>
                <a:ea typeface="Courier New" pitchFamily="34" charset="-122"/>
                <a:cs typeface="Courier New" pitchFamily="34" charset="-120"/>
              </a:rPr>
              <a:t>      → name it "laptop", expiry 90 days, tick  repo</a:t>
            </a:r>
            <a:endParaRPr lang="en-US" sz="950" dirty="0"/>
          </a:p>
        </p:txBody>
      </p:sp>
      <p:sp>
        <p:nvSpPr>
          <p:cNvPr id="16" name="Shape 14"/>
          <p:cNvSpPr/>
          <p:nvPr/>
        </p:nvSpPr>
        <p:spPr>
          <a:xfrm>
            <a:off x="5989320" y="3017520"/>
            <a:ext cx="2697480" cy="1417320"/>
          </a:xfrm>
          <a:prstGeom prst="roundRect">
            <a:avLst>
              <a:gd name="adj" fmla="val 3871"/>
            </a:avLst>
          </a:prstGeom>
          <a:solidFill>
            <a:srgbClr val="2E211F"/>
          </a:solidFill>
          <a:ln w="12700">
            <a:solidFill>
              <a:srgbClr val="5A3A34"/>
            </a:solidFill>
            <a:prstDash val="solid"/>
          </a:ln>
        </p:spPr>
      </p:sp>
      <p:sp>
        <p:nvSpPr>
          <p:cNvPr id="17" name="Text 15"/>
          <p:cNvSpPr txBox="1"/>
          <p:nvPr/>
        </p:nvSpPr>
        <p:spPr>
          <a:xfrm>
            <a:off x="6217920" y="3127248"/>
            <a:ext cx="2286000" cy="256032"/>
          </a:xfrm>
          <a:prstGeom prst="rect">
            <a:avLst/>
          </a:prstGeom>
          <a:noFill/>
          <a:ln/>
        </p:spPr>
        <p:txBody>
          <a:bodyPr wrap="square" lIns="0" tIns="0" rIns="0" bIns="0" rtlCol="0" anchor="ctr"/>
          <a:lstStyle/>
          <a:p>
            <a:pPr indent="0" marL="0">
              <a:buNone/>
            </a:pPr>
            <a:r>
              <a:rPr lang="en-US" sz="1150" b="1" dirty="0">
                <a:solidFill>
                  <a:srgbClr val="FF8A7A"/>
                </a:solidFill>
                <a:latin typeface="Arial" pitchFamily="34" charset="0"/>
                <a:ea typeface="Arial" pitchFamily="34" charset="-122"/>
                <a:cs typeface="Arial" pitchFamily="34" charset="-120"/>
              </a:rPr>
              <a:t>SHOWN ONCE</a:t>
            </a:r>
            <a:endParaRPr lang="en-US" sz="1150" dirty="0"/>
          </a:p>
        </p:txBody>
      </p:sp>
      <p:sp>
        <p:nvSpPr>
          <p:cNvPr id="18" name="Text 16"/>
          <p:cNvSpPr txBox="1"/>
          <p:nvPr/>
        </p:nvSpPr>
        <p:spPr>
          <a:xfrm>
            <a:off x="6217920" y="3419856"/>
            <a:ext cx="2286000" cy="914400"/>
          </a:xfrm>
          <a:prstGeom prst="rect">
            <a:avLst/>
          </a:prstGeom>
          <a:noFill/>
          <a:ln/>
        </p:spPr>
        <p:txBody>
          <a:bodyPr wrap="square" lIns="0" tIns="0" rIns="0" bIns="0" rtlCol="0" anchor="ctr"/>
          <a:lstStyle/>
          <a:p>
            <a:pPr indent="0" marL="0">
              <a:lnSpc>
                <a:spcPct val="125000"/>
              </a:lnSpc>
              <a:buNone/>
            </a:pPr>
            <a:r>
              <a:rPr lang="en-US" sz="1000" dirty="0">
                <a:solidFill>
                  <a:srgbClr val="C9D1D9"/>
                </a:solidFill>
                <a:latin typeface="Calibri" pitchFamily="34" charset="0"/>
                <a:ea typeface="Calibri" pitchFamily="34" charset="-122"/>
                <a:cs typeface="Calibri" pitchFamily="34" charset="-120"/>
              </a:rPr>
              <a:t>Copy the token the moment it appears. Close that page and it is gone forever — you would have to generate a new one.</a:t>
            </a:r>
            <a:endParaRPr lang="en-US" sz="1000" dirty="0"/>
          </a:p>
        </p:txBody>
      </p:sp>
      <p:sp>
        <p:nvSpPr>
          <p:cNvPr id="19" name="Text 17"/>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DO NOT LEAVE THIS SLIDE UNTIL IT WORKS</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16191D"/>
                </a:solidFill>
                <a:latin typeface="Arial" pitchFamily="34" charset="0"/>
                <a:ea typeface="Arial" pitchFamily="34" charset="-122"/>
                <a:cs typeface="Arial" pitchFamily="34" charset="-120"/>
              </a:rPr>
              <a:t>Prove your setup actually works</a:t>
            </a:r>
            <a:endParaRPr lang="en-US" sz="2900" dirty="0"/>
          </a:p>
        </p:txBody>
      </p:sp>
      <p:sp>
        <p:nvSpPr>
          <p:cNvPr id="4" name="Shape 2"/>
          <p:cNvSpPr/>
          <p:nvPr/>
        </p:nvSpPr>
        <p:spPr>
          <a:xfrm>
            <a:off x="502920" y="1325880"/>
            <a:ext cx="4114800" cy="2148840"/>
          </a:xfrm>
          <a:prstGeom prst="roundRect">
            <a:avLst>
              <a:gd name="adj" fmla="val 2128"/>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458468"/>
            <a:ext cx="77724" cy="77724"/>
          </a:xfrm>
          <a:prstGeom prst="ellipse">
            <a:avLst/>
          </a:prstGeom>
          <a:solidFill>
            <a:srgbClr val="FF5F56"/>
          </a:solidFill>
          <a:ln w="12700">
            <a:solidFill>
              <a:srgbClr val="FF5F56"/>
            </a:solidFill>
            <a:prstDash val="solid"/>
          </a:ln>
        </p:spPr>
      </p:sp>
      <p:sp>
        <p:nvSpPr>
          <p:cNvPr id="6" name="Shape 4"/>
          <p:cNvSpPr/>
          <p:nvPr/>
        </p:nvSpPr>
        <p:spPr>
          <a:xfrm>
            <a:off x="781812" y="1458468"/>
            <a:ext cx="77724" cy="77724"/>
          </a:xfrm>
          <a:prstGeom prst="ellipse">
            <a:avLst/>
          </a:prstGeom>
          <a:solidFill>
            <a:srgbClr val="FFBD2E"/>
          </a:solidFill>
          <a:ln w="12700">
            <a:solidFill>
              <a:srgbClr val="FFBD2E"/>
            </a:solidFill>
            <a:prstDash val="solid"/>
          </a:ln>
        </p:spPr>
      </p:sp>
      <p:sp>
        <p:nvSpPr>
          <p:cNvPr id="7" name="Shape 5"/>
          <p:cNvSpPr/>
          <p:nvPr/>
        </p:nvSpPr>
        <p:spPr>
          <a:xfrm>
            <a:off x="923544" y="145846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03604"/>
            <a:ext cx="342900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the 60-second proof</a:t>
            </a:r>
            <a:endParaRPr lang="en-US" sz="850" dirty="0"/>
          </a:p>
        </p:txBody>
      </p:sp>
      <p:sp>
        <p:nvSpPr>
          <p:cNvPr id="9" name="Text 7"/>
          <p:cNvSpPr txBox="1"/>
          <p:nvPr/>
        </p:nvSpPr>
        <p:spPr>
          <a:xfrm>
            <a:off x="704088" y="1691640"/>
            <a:ext cx="3712464" cy="1645920"/>
          </a:xfrm>
          <a:prstGeom prst="rect">
            <a:avLst/>
          </a:prstGeom>
          <a:noFill/>
          <a:ln/>
        </p:spPr>
        <p:txBody>
          <a:bodyPr wrap="square" lIns="0" tIns="0" rIns="0" bIns="0" rtlCol="0" anchor="t"/>
          <a:lstStyle/>
          <a:p>
            <a:pPr indent="0" marL="0">
              <a:lnSpc>
                <a:spcPct val="122000"/>
              </a:lnSpc>
              <a:buNone/>
            </a:pPr>
            <a:r>
              <a:rPr lang="en-US" sz="900" i="1" dirty="0">
                <a:solidFill>
                  <a:srgbClr val="6E7681"/>
                </a:solidFill>
                <a:latin typeface="Courier New" pitchFamily="34" charset="0"/>
                <a:ea typeface="Courier New" pitchFamily="34" charset="-122"/>
                <a:cs typeface="Courier New" pitchFamily="34" charset="-120"/>
              </a:rPr>
              <a:t># make an empty repo on GitHub first</a:t>
            </a:r>
            <a:endParaRPr lang="en-US" sz="900" dirty="0"/>
          </a:p>
          <a:p>
            <a:pPr indent="0" marL="0">
              <a:lnSpc>
                <a:spcPct val="122000"/>
              </a:lnSpc>
              <a:buNone/>
            </a:pPr>
            <a:r>
              <a:rPr lang="en-US" sz="900" b="1" dirty="0">
                <a:solidFill>
                  <a:srgbClr val="6FD37E"/>
                </a:solidFill>
                <a:latin typeface="Courier New" pitchFamily="34" charset="0"/>
                <a:ea typeface="Courier New" pitchFamily="34" charset="-122"/>
                <a:cs typeface="Courier New" pitchFamily="34" charset="-120"/>
              </a:rPr>
              <a:t>$ git clone &lt;your-repo-url&gt; proof</a:t>
            </a:r>
            <a:endParaRPr lang="en-US" sz="900" dirty="0"/>
          </a:p>
          <a:p>
            <a:pPr indent="0" marL="0">
              <a:lnSpc>
                <a:spcPct val="122000"/>
              </a:lnSpc>
              <a:buNone/>
            </a:pPr>
            <a:r>
              <a:rPr lang="en-US" sz="900" b="1" dirty="0">
                <a:solidFill>
                  <a:srgbClr val="6FD37E"/>
                </a:solidFill>
                <a:latin typeface="Courier New" pitchFamily="34" charset="0"/>
                <a:ea typeface="Courier New" pitchFamily="34" charset="-122"/>
                <a:cs typeface="Courier New" pitchFamily="34" charset="-120"/>
              </a:rPr>
              <a:t>$ cd proof</a:t>
            </a:r>
            <a:endParaRPr lang="en-US" sz="900" dirty="0"/>
          </a:p>
          <a:p>
            <a:pPr indent="0" marL="0">
              <a:lnSpc>
                <a:spcPct val="122000"/>
              </a:lnSpc>
              <a:buNone/>
            </a:pPr>
            <a:r>
              <a:rPr lang="en-US" sz="900" b="1" dirty="0">
                <a:solidFill>
                  <a:srgbClr val="6FD37E"/>
                </a:solidFill>
                <a:latin typeface="Courier New" pitchFamily="34" charset="0"/>
                <a:ea typeface="Courier New" pitchFamily="34" charset="-122"/>
                <a:cs typeface="Courier New" pitchFamily="34" charset="-120"/>
              </a:rPr>
              <a:t>$ echo "hello" &gt; test.txt</a:t>
            </a:r>
            <a:endParaRPr lang="en-US" sz="900" dirty="0"/>
          </a:p>
          <a:p>
            <a:pPr indent="0" marL="0">
              <a:lnSpc>
                <a:spcPct val="122000"/>
              </a:lnSpc>
              <a:buNone/>
            </a:pPr>
            <a:r>
              <a:rPr lang="en-US" sz="900" b="1" dirty="0">
                <a:solidFill>
                  <a:srgbClr val="6FD37E"/>
                </a:solidFill>
                <a:latin typeface="Courier New" pitchFamily="34" charset="0"/>
                <a:ea typeface="Courier New" pitchFamily="34" charset="-122"/>
                <a:cs typeface="Courier New" pitchFamily="34" charset="-120"/>
              </a:rPr>
              <a:t>$ git add test.txt</a:t>
            </a:r>
            <a:endParaRPr lang="en-US" sz="900" dirty="0"/>
          </a:p>
          <a:p>
            <a:pPr indent="0" marL="0">
              <a:lnSpc>
                <a:spcPct val="122000"/>
              </a:lnSpc>
              <a:buNone/>
            </a:pPr>
            <a:r>
              <a:rPr lang="en-US" sz="900" b="1" dirty="0">
                <a:solidFill>
                  <a:srgbClr val="6FD37E"/>
                </a:solidFill>
                <a:latin typeface="Courier New" pitchFamily="34" charset="0"/>
                <a:ea typeface="Courier New" pitchFamily="34" charset="-122"/>
                <a:cs typeface="Courier New" pitchFamily="34" charset="-120"/>
              </a:rPr>
              <a:t>$ git commit -m "Test my setup"</a:t>
            </a:r>
            <a:endParaRPr lang="en-US" sz="900" dirty="0"/>
          </a:p>
          <a:p>
            <a:pPr indent="0" marL="0">
              <a:lnSpc>
                <a:spcPct val="122000"/>
              </a:lnSpc>
              <a:buNone/>
            </a:pPr>
            <a:r>
              <a:rPr lang="en-US" sz="900" b="1" dirty="0">
                <a:solidFill>
                  <a:srgbClr val="6FD37E"/>
                </a:solidFill>
                <a:latin typeface="Courier New" pitchFamily="34" charset="0"/>
                <a:ea typeface="Courier New" pitchFamily="34" charset="-122"/>
                <a:cs typeface="Courier New" pitchFamily="34" charset="-120"/>
              </a:rPr>
              <a:t>$ git push</a:t>
            </a:r>
            <a:endParaRPr lang="en-US" sz="900" dirty="0"/>
          </a:p>
          <a:p>
            <a:pPr indent="0" marL="0">
              <a:lnSpc>
                <a:spcPct val="122000"/>
              </a:lnSpc>
              <a:buNone/>
            </a:pPr>
            <a:r>
              <a:rPr lang="en-US" sz="900" dirty="0">
                <a:solidFill>
                  <a:srgbClr val="8B949E"/>
                </a:solidFill>
                <a:latin typeface="Courier New" pitchFamily="34" charset="0"/>
                <a:ea typeface="Courier New" pitchFamily="34" charset="-122"/>
                <a:cs typeface="Courier New" pitchFamily="34" charset="-120"/>
              </a:rPr>
              <a:t>  Username: your-username</a:t>
            </a:r>
            <a:endParaRPr lang="en-US" sz="900" dirty="0"/>
          </a:p>
          <a:p>
            <a:pPr indent="0" marL="0">
              <a:lnSpc>
                <a:spcPct val="122000"/>
              </a:lnSpc>
              <a:buNone/>
            </a:pPr>
            <a:r>
              <a:rPr lang="en-US" sz="900" b="1" dirty="0">
                <a:solidFill>
                  <a:srgbClr val="FFAA64"/>
                </a:solidFill>
                <a:latin typeface="Courier New" pitchFamily="34" charset="0"/>
                <a:ea typeface="Courier New" pitchFamily="34" charset="-122"/>
                <a:cs typeface="Courier New" pitchFamily="34" charset="-120"/>
              </a:rPr>
              <a:t>  Password: &lt;paste the TOKEN&gt;</a:t>
            </a:r>
            <a:endParaRPr lang="en-US" sz="900" dirty="0"/>
          </a:p>
          <a:p>
            <a:pPr indent="0" marL="0">
              <a:lnSpc>
                <a:spcPct val="122000"/>
              </a:lnSpc>
              <a:buNone/>
            </a:pPr>
            <a:r>
              <a:rPr lang="en-US" sz="900" dirty="0">
                <a:solidFill>
                  <a:srgbClr val="6FD37E"/>
                </a:solidFill>
                <a:latin typeface="Courier New" pitchFamily="34" charset="0"/>
                <a:ea typeface="Courier New" pitchFamily="34" charset="-122"/>
                <a:cs typeface="Courier New" pitchFamily="34" charset="-120"/>
              </a:rPr>
              <a:t>main -&gt; main</a:t>
            </a:r>
            <a:endParaRPr lang="en-US" sz="900" dirty="0"/>
          </a:p>
        </p:txBody>
      </p:sp>
      <p:sp>
        <p:nvSpPr>
          <p:cNvPr id="10" name="Shape 8"/>
          <p:cNvSpPr/>
          <p:nvPr/>
        </p:nvSpPr>
        <p:spPr>
          <a:xfrm>
            <a:off x="4846320" y="1325880"/>
            <a:ext cx="3840480" cy="2148840"/>
          </a:xfrm>
          <a:prstGeom prst="roundRect">
            <a:avLst>
              <a:gd name="adj" fmla="val 2553"/>
            </a:avLst>
          </a:prstGeom>
          <a:solidFill>
            <a:srgbClr val="E8F3EC"/>
          </a:solidFill>
          <a:ln w="12700">
            <a:solidFill>
              <a:srgbClr val="BCD9C6"/>
            </a:solidFill>
            <a:prstDash val="solid"/>
          </a:ln>
        </p:spPr>
      </p:sp>
      <p:sp>
        <p:nvSpPr>
          <p:cNvPr id="11" name="Text 9"/>
          <p:cNvSpPr txBox="1"/>
          <p:nvPr/>
        </p:nvSpPr>
        <p:spPr>
          <a:xfrm>
            <a:off x="5074920" y="1444752"/>
            <a:ext cx="3383280" cy="274320"/>
          </a:xfrm>
          <a:prstGeom prst="rect">
            <a:avLst/>
          </a:prstGeom>
          <a:noFill/>
          <a:ln/>
        </p:spPr>
        <p:txBody>
          <a:bodyPr wrap="square" lIns="0" tIns="0" rIns="0" bIns="0" rtlCol="0" anchor="ctr"/>
          <a:lstStyle/>
          <a:p>
            <a:pPr indent="0" marL="0">
              <a:buNone/>
            </a:pPr>
            <a:r>
              <a:rPr lang="en-US" sz="1300" b="1" dirty="0">
                <a:solidFill>
                  <a:srgbClr val="1F8A42"/>
                </a:solidFill>
                <a:latin typeface="Arial" pitchFamily="34" charset="0"/>
                <a:ea typeface="Arial" pitchFamily="34" charset="-122"/>
                <a:cs typeface="Arial" pitchFamily="34" charset="-120"/>
              </a:rPr>
              <a:t>You are ready when</a:t>
            </a:r>
            <a:endParaRPr lang="en-US" sz="1300" dirty="0"/>
          </a:p>
        </p:txBody>
      </p:sp>
      <p:sp>
        <p:nvSpPr>
          <p:cNvPr id="12" name="Text 10"/>
          <p:cNvSpPr txBox="1"/>
          <p:nvPr/>
        </p:nvSpPr>
        <p:spPr>
          <a:xfrm>
            <a:off x="5120640" y="1783080"/>
            <a:ext cx="3383280" cy="91440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rgbClr val="16191D"/>
                </a:solidFill>
                <a:latin typeface="Calibri" pitchFamily="34" charset="0"/>
                <a:ea typeface="Calibri" pitchFamily="34" charset="-122"/>
                <a:cs typeface="Calibri" pitchFamily="34" charset="-120"/>
              </a:rPr>
              <a:t>git push finished without an error</a:t>
            </a:r>
            <a:endParaRPr lang="en-US" sz="1100" dirty="0"/>
          </a:p>
          <a:p>
            <a:pPr marL="177800" indent="-177800">
              <a:spcAft>
                <a:spcPts val="800"/>
              </a:spcAft>
              <a:buSzPct val="100000"/>
              <a:buChar char="•"/>
            </a:pPr>
            <a:r>
              <a:rPr lang="en-US" sz="1100" dirty="0">
                <a:solidFill>
                  <a:srgbClr val="16191D"/>
                </a:solidFill>
                <a:latin typeface="Calibri" pitchFamily="34" charset="0"/>
                <a:ea typeface="Calibri" pitchFamily="34" charset="-122"/>
                <a:cs typeface="Calibri" pitchFamily="34" charset="-120"/>
              </a:rPr>
              <a:t>You refresh GitHub and test.txt is there</a:t>
            </a:r>
            <a:endParaRPr lang="en-US" sz="1100" dirty="0"/>
          </a:p>
          <a:p>
            <a:pPr marL="177800" indent="-177800">
              <a:spcAft>
                <a:spcPts val="800"/>
              </a:spcAft>
              <a:buSzPct val="100000"/>
              <a:buChar char="•"/>
            </a:pPr>
            <a:r>
              <a:rPr lang="en-US" sz="1100" dirty="0">
                <a:solidFill>
                  <a:srgbClr val="16191D"/>
                </a:solidFill>
                <a:latin typeface="Calibri" pitchFamily="34" charset="0"/>
                <a:ea typeface="Calibri" pitchFamily="34" charset="-122"/>
                <a:cs typeface="Calibri" pitchFamily="34" charset="-120"/>
              </a:rPr>
              <a:t>Your username shows next to the commit</a:t>
            </a:r>
            <a:endParaRPr lang="en-US" sz="1100" dirty="0"/>
          </a:p>
        </p:txBody>
      </p:sp>
      <p:sp>
        <p:nvSpPr>
          <p:cNvPr id="13" name="Text 11"/>
          <p:cNvSpPr txBox="1"/>
          <p:nvPr/>
        </p:nvSpPr>
        <p:spPr>
          <a:xfrm>
            <a:off x="5074920" y="2761488"/>
            <a:ext cx="3383280" cy="621792"/>
          </a:xfrm>
          <a:prstGeom prst="rect">
            <a:avLst/>
          </a:prstGeom>
          <a:noFill/>
          <a:ln/>
        </p:spPr>
        <p:txBody>
          <a:bodyPr wrap="square" lIns="0" tIns="0" rIns="0" bIns="0" rtlCol="0" anchor="ctr"/>
          <a:lstStyle/>
          <a:p>
            <a:pPr indent="0" marL="0">
              <a:lnSpc>
                <a:spcPct val="125000"/>
              </a:lnSpc>
              <a:buNone/>
            </a:pPr>
            <a:r>
              <a:rPr lang="en-US" sz="1050" dirty="0">
                <a:solidFill>
                  <a:srgbClr val="5A6572"/>
                </a:solidFill>
                <a:latin typeface="Calibri" pitchFamily="34" charset="0"/>
                <a:ea typeface="Calibri" pitchFamily="34" charset="-122"/>
                <a:cs typeface="Calibri" pitchFamily="34" charset="-120"/>
              </a:rPr>
              <a:t>If all three are true, you can do the homework tonight and the assignment next session.</a:t>
            </a:r>
            <a:endParaRPr lang="en-US" sz="1050" dirty="0"/>
          </a:p>
        </p:txBody>
      </p:sp>
      <p:sp>
        <p:nvSpPr>
          <p:cNvPr id="14" name="Text 12"/>
          <p:cNvSpPr txBox="1"/>
          <p:nvPr/>
        </p:nvSpPr>
        <p:spPr>
          <a:xfrm>
            <a:off x="502920" y="3584448"/>
            <a:ext cx="4572000" cy="256032"/>
          </a:xfrm>
          <a:prstGeom prst="rect">
            <a:avLst/>
          </a:prstGeom>
          <a:noFill/>
          <a:ln/>
        </p:spPr>
        <p:txBody>
          <a:bodyPr wrap="square" lIns="0" tIns="0" rIns="0" bIns="0" rtlCol="0" anchor="ctr"/>
          <a:lstStyle/>
          <a:p>
            <a:pPr indent="0" marL="0">
              <a:buNone/>
            </a:pPr>
            <a:r>
              <a:rPr lang="en-US" sz="1200" b="1" dirty="0">
                <a:solidFill>
                  <a:srgbClr val="16191D"/>
                </a:solidFill>
                <a:latin typeface="Arial" pitchFamily="34" charset="0"/>
                <a:ea typeface="Arial" pitchFamily="34" charset="-122"/>
                <a:cs typeface="Arial" pitchFamily="34" charset="-120"/>
              </a:rPr>
              <a:t>The four errors you will actually see</a:t>
            </a:r>
            <a:endParaRPr lang="en-US" sz="1200" dirty="0"/>
          </a:p>
        </p:txBody>
      </p:sp>
      <p:sp>
        <p:nvSpPr>
          <p:cNvPr id="15" name="Text 13"/>
          <p:cNvSpPr txBox="1"/>
          <p:nvPr/>
        </p:nvSpPr>
        <p:spPr>
          <a:xfrm>
            <a:off x="502920" y="3877056"/>
            <a:ext cx="3931920" cy="246888"/>
          </a:xfrm>
          <a:prstGeom prst="rect">
            <a:avLst/>
          </a:prstGeom>
          <a:noFill/>
          <a:ln/>
        </p:spPr>
        <p:txBody>
          <a:bodyPr wrap="square" lIns="0" tIns="0" rIns="0" bIns="0" rtlCol="0" anchor="ctr"/>
          <a:lstStyle/>
          <a:p>
            <a:pPr indent="0" marL="0">
              <a:buNone/>
            </a:pPr>
            <a:r>
              <a:rPr lang="en-US" sz="850" dirty="0">
                <a:solidFill>
                  <a:srgbClr val="C1211F"/>
                </a:solidFill>
                <a:latin typeface="Courier New" pitchFamily="34" charset="0"/>
                <a:ea typeface="Courier New" pitchFamily="34" charset="-122"/>
                <a:cs typeface="Courier New" pitchFamily="34" charset="-120"/>
              </a:rPr>
              <a:t>Support for password authentication was removed</a:t>
            </a:r>
            <a:endParaRPr lang="en-US" sz="850" dirty="0"/>
          </a:p>
        </p:txBody>
      </p:sp>
      <p:sp>
        <p:nvSpPr>
          <p:cNvPr id="16" name="Text 14"/>
          <p:cNvSpPr txBox="1"/>
          <p:nvPr/>
        </p:nvSpPr>
        <p:spPr>
          <a:xfrm>
            <a:off x="4572000" y="3877056"/>
            <a:ext cx="4114800" cy="246888"/>
          </a:xfrm>
          <a:prstGeom prst="rect">
            <a:avLst/>
          </a:prstGeom>
          <a:noFill/>
          <a:ln/>
        </p:spPr>
        <p:txBody>
          <a:bodyPr wrap="square" lIns="0" tIns="0" rIns="0" bIns="0" rtlCol="0" anchor="ctr"/>
          <a:lstStyle/>
          <a:p>
            <a:pPr indent="0" marL="0">
              <a:buNone/>
            </a:pPr>
            <a:r>
              <a:rPr lang="en-US" sz="900" dirty="0">
                <a:solidFill>
                  <a:srgbClr val="5A6572"/>
                </a:solidFill>
                <a:latin typeface="Calibri" pitchFamily="34" charset="0"/>
                <a:ea typeface="Calibri" pitchFamily="34" charset="-122"/>
                <a:cs typeface="Calibri" pitchFamily="34" charset="-120"/>
              </a:rPr>
              <a:t>You typed your password. Paste the token.</a:t>
            </a:r>
            <a:endParaRPr lang="en-US" sz="900" dirty="0"/>
          </a:p>
        </p:txBody>
      </p:sp>
      <p:sp>
        <p:nvSpPr>
          <p:cNvPr id="17" name="Text 15"/>
          <p:cNvSpPr txBox="1"/>
          <p:nvPr/>
        </p:nvSpPr>
        <p:spPr>
          <a:xfrm>
            <a:off x="502920" y="4123944"/>
            <a:ext cx="3931920" cy="246888"/>
          </a:xfrm>
          <a:prstGeom prst="rect">
            <a:avLst/>
          </a:prstGeom>
          <a:noFill/>
          <a:ln/>
        </p:spPr>
        <p:txBody>
          <a:bodyPr wrap="square" lIns="0" tIns="0" rIns="0" bIns="0" rtlCol="0" anchor="ctr"/>
          <a:lstStyle/>
          <a:p>
            <a:pPr indent="0" marL="0">
              <a:buNone/>
            </a:pPr>
            <a:r>
              <a:rPr lang="en-US" sz="850" dirty="0">
                <a:solidFill>
                  <a:srgbClr val="C1211F"/>
                </a:solidFill>
                <a:latin typeface="Courier New" pitchFamily="34" charset="0"/>
                <a:ea typeface="Courier New" pitchFamily="34" charset="-122"/>
                <a:cs typeface="Courier New" pitchFamily="34" charset="-120"/>
              </a:rPr>
              <a:t>Authentication failed</a:t>
            </a:r>
            <a:endParaRPr lang="en-US" sz="850" dirty="0"/>
          </a:p>
        </p:txBody>
      </p:sp>
      <p:sp>
        <p:nvSpPr>
          <p:cNvPr id="18" name="Text 16"/>
          <p:cNvSpPr txBox="1"/>
          <p:nvPr/>
        </p:nvSpPr>
        <p:spPr>
          <a:xfrm>
            <a:off x="4572000" y="4123944"/>
            <a:ext cx="4114800" cy="246888"/>
          </a:xfrm>
          <a:prstGeom prst="rect">
            <a:avLst/>
          </a:prstGeom>
          <a:noFill/>
          <a:ln/>
        </p:spPr>
        <p:txBody>
          <a:bodyPr wrap="square" lIns="0" tIns="0" rIns="0" bIns="0" rtlCol="0" anchor="ctr"/>
          <a:lstStyle/>
          <a:p>
            <a:pPr indent="0" marL="0">
              <a:buNone/>
            </a:pPr>
            <a:r>
              <a:rPr lang="en-US" sz="900" dirty="0">
                <a:solidFill>
                  <a:srgbClr val="5A6572"/>
                </a:solidFill>
                <a:latin typeface="Calibri" pitchFamily="34" charset="0"/>
                <a:ea typeface="Calibri" pitchFamily="34" charset="-122"/>
                <a:cs typeface="Calibri" pitchFamily="34" charset="-120"/>
              </a:rPr>
              <a:t>Wrong token, expired, or "repo" scope not ticked.</a:t>
            </a:r>
            <a:endParaRPr lang="en-US" sz="900" dirty="0"/>
          </a:p>
        </p:txBody>
      </p:sp>
      <p:sp>
        <p:nvSpPr>
          <p:cNvPr id="19" name="Text 17"/>
          <p:cNvSpPr txBox="1"/>
          <p:nvPr/>
        </p:nvSpPr>
        <p:spPr>
          <a:xfrm>
            <a:off x="502920" y="4370832"/>
            <a:ext cx="3931920" cy="246888"/>
          </a:xfrm>
          <a:prstGeom prst="rect">
            <a:avLst/>
          </a:prstGeom>
          <a:noFill/>
          <a:ln/>
        </p:spPr>
        <p:txBody>
          <a:bodyPr wrap="square" lIns="0" tIns="0" rIns="0" bIns="0" rtlCol="0" anchor="ctr"/>
          <a:lstStyle/>
          <a:p>
            <a:pPr indent="0" marL="0">
              <a:buNone/>
            </a:pPr>
            <a:r>
              <a:rPr lang="en-US" sz="850" dirty="0">
                <a:solidFill>
                  <a:srgbClr val="C1211F"/>
                </a:solidFill>
                <a:latin typeface="Courier New" pitchFamily="34" charset="0"/>
                <a:ea typeface="Courier New" pitchFamily="34" charset="-122"/>
                <a:cs typeface="Courier New" pitchFamily="34" charset="-120"/>
              </a:rPr>
              <a:t>fatal: not a git repository</a:t>
            </a:r>
            <a:endParaRPr lang="en-US" sz="850" dirty="0"/>
          </a:p>
        </p:txBody>
      </p:sp>
      <p:sp>
        <p:nvSpPr>
          <p:cNvPr id="20" name="Text 18"/>
          <p:cNvSpPr txBox="1"/>
          <p:nvPr/>
        </p:nvSpPr>
        <p:spPr>
          <a:xfrm>
            <a:off x="4572000" y="4370832"/>
            <a:ext cx="4114800" cy="246888"/>
          </a:xfrm>
          <a:prstGeom prst="rect">
            <a:avLst/>
          </a:prstGeom>
          <a:noFill/>
          <a:ln/>
        </p:spPr>
        <p:txBody>
          <a:bodyPr wrap="square" lIns="0" tIns="0" rIns="0" bIns="0" rtlCol="0" anchor="ctr"/>
          <a:lstStyle/>
          <a:p>
            <a:pPr indent="0" marL="0">
              <a:buNone/>
            </a:pPr>
            <a:r>
              <a:rPr lang="en-US" sz="900" dirty="0">
                <a:solidFill>
                  <a:srgbClr val="5A6572"/>
                </a:solidFill>
                <a:latin typeface="Calibri" pitchFamily="34" charset="0"/>
                <a:ea typeface="Calibri" pitchFamily="34" charset="-122"/>
                <a:cs typeface="Calibri" pitchFamily="34" charset="-120"/>
              </a:rPr>
              <a:t>You are not inside the project folder. cd into it.</a:t>
            </a:r>
            <a:endParaRPr lang="en-US" sz="900" dirty="0"/>
          </a:p>
        </p:txBody>
      </p:sp>
      <p:sp>
        <p:nvSpPr>
          <p:cNvPr id="21" name="Text 19"/>
          <p:cNvSpPr txBox="1"/>
          <p:nvPr/>
        </p:nvSpPr>
        <p:spPr>
          <a:xfrm>
            <a:off x="502920" y="4617720"/>
            <a:ext cx="3931920" cy="246888"/>
          </a:xfrm>
          <a:prstGeom prst="rect">
            <a:avLst/>
          </a:prstGeom>
          <a:noFill/>
          <a:ln/>
        </p:spPr>
        <p:txBody>
          <a:bodyPr wrap="square" lIns="0" tIns="0" rIns="0" bIns="0" rtlCol="0" anchor="ctr"/>
          <a:lstStyle/>
          <a:p>
            <a:pPr indent="0" marL="0">
              <a:buNone/>
            </a:pPr>
            <a:r>
              <a:rPr lang="en-US" sz="850" dirty="0">
                <a:solidFill>
                  <a:srgbClr val="C1211F"/>
                </a:solidFill>
                <a:latin typeface="Courier New" pitchFamily="34" charset="0"/>
                <a:ea typeface="Courier New" pitchFamily="34" charset="-122"/>
                <a:cs typeface="Courier New" pitchFamily="34" charset="-120"/>
              </a:rPr>
              <a:t>Please tell me who you are</a:t>
            </a:r>
            <a:endParaRPr lang="en-US" sz="850" dirty="0"/>
          </a:p>
        </p:txBody>
      </p:sp>
      <p:sp>
        <p:nvSpPr>
          <p:cNvPr id="22" name="Text 20"/>
          <p:cNvSpPr txBox="1"/>
          <p:nvPr/>
        </p:nvSpPr>
        <p:spPr>
          <a:xfrm>
            <a:off x="4572000" y="4617720"/>
            <a:ext cx="4114800" cy="246888"/>
          </a:xfrm>
          <a:prstGeom prst="rect">
            <a:avLst/>
          </a:prstGeom>
          <a:noFill/>
          <a:ln/>
        </p:spPr>
        <p:txBody>
          <a:bodyPr wrap="square" lIns="0" tIns="0" rIns="0" bIns="0" rtlCol="0" anchor="ctr"/>
          <a:lstStyle/>
          <a:p>
            <a:pPr indent="0" marL="0">
              <a:buNone/>
            </a:pPr>
            <a:r>
              <a:rPr lang="en-US" sz="900" dirty="0">
                <a:solidFill>
                  <a:srgbClr val="5A6572"/>
                </a:solidFill>
                <a:latin typeface="Calibri" pitchFamily="34" charset="0"/>
                <a:ea typeface="Calibri" pitchFamily="34" charset="-122"/>
                <a:cs typeface="Calibri" pitchFamily="34" charset="-120"/>
              </a:rPr>
              <a:t>Run the two git config --global commands again.</a:t>
            </a:r>
            <a:endParaRPr lang="en-US" sz="900" dirty="0"/>
          </a:p>
        </p:txBody>
      </p:sp>
      <p:sp>
        <p:nvSpPr>
          <p:cNvPr id="23" name="Text 21"/>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THE MENTAL MODEL EVERYTHING RESTS ON</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16191D"/>
                </a:solidFill>
                <a:latin typeface="Arial" pitchFamily="34" charset="0"/>
                <a:ea typeface="Arial" pitchFamily="34" charset="-122"/>
                <a:cs typeface="Arial" pitchFamily="34" charset="-120"/>
              </a:rPr>
              <a:t>Where your code lives — four places</a:t>
            </a:r>
            <a:endParaRPr lang="en-US" sz="2900" dirty="0"/>
          </a:p>
        </p:txBody>
      </p:sp>
      <p:sp>
        <p:nvSpPr>
          <p:cNvPr id="4" name="Shape 2"/>
          <p:cNvSpPr/>
          <p:nvPr/>
        </p:nvSpPr>
        <p:spPr>
          <a:xfrm>
            <a:off x="502920" y="1600200"/>
            <a:ext cx="1828800" cy="1463040"/>
          </a:xfrm>
          <a:prstGeom prst="roundRect">
            <a:avLst>
              <a:gd name="adj" fmla="val 3750"/>
            </a:avLst>
          </a:prstGeom>
          <a:solidFill>
            <a:srgbClr val="F3F5F7"/>
          </a:solidFill>
          <a:ln w="12700">
            <a:solidFill>
              <a:srgbClr val="D5DCE3"/>
            </a:solidFill>
            <a:prstDash val="solid"/>
          </a:ln>
        </p:spPr>
      </p:sp>
      <p:sp>
        <p:nvSpPr>
          <p:cNvPr id="5" name="Text 3"/>
          <p:cNvSpPr txBox="1"/>
          <p:nvPr/>
        </p:nvSpPr>
        <p:spPr>
          <a:xfrm>
            <a:off x="612648" y="1783080"/>
            <a:ext cx="1609344" cy="566928"/>
          </a:xfrm>
          <a:prstGeom prst="rect">
            <a:avLst/>
          </a:prstGeom>
          <a:noFill/>
          <a:ln/>
        </p:spPr>
        <p:txBody>
          <a:bodyPr wrap="square" lIns="0" tIns="0" rIns="0" bIns="0" rtlCol="0" anchor="ctr"/>
          <a:lstStyle/>
          <a:p>
            <a:pPr algn="ctr" indent="0" marL="0">
              <a:lnSpc>
                <a:spcPct val="110000"/>
              </a:lnSpc>
              <a:buNone/>
            </a:pPr>
            <a:r>
              <a:rPr lang="en-US" sz="1350" b="1" dirty="0">
                <a:solidFill>
                  <a:srgbClr val="5A6572"/>
                </a:solidFill>
                <a:latin typeface="Arial" pitchFamily="34" charset="0"/>
                <a:ea typeface="Arial" pitchFamily="34" charset="-122"/>
                <a:cs typeface="Arial" pitchFamily="34" charset="-120"/>
              </a:rPr>
              <a:t>Working</a:t>
            </a:r>
            <a:endParaRPr lang="en-US" sz="1350" dirty="0"/>
          </a:p>
          <a:p>
            <a:pPr algn="ctr" indent="0" marL="0">
              <a:lnSpc>
                <a:spcPct val="110000"/>
              </a:lnSpc>
              <a:buNone/>
            </a:pPr>
            <a:r>
              <a:rPr lang="en-US" sz="1350" b="1" dirty="0">
                <a:solidFill>
                  <a:srgbClr val="5A6572"/>
                </a:solidFill>
                <a:latin typeface="Arial" pitchFamily="34" charset="0"/>
                <a:ea typeface="Arial" pitchFamily="34" charset="-122"/>
                <a:cs typeface="Arial" pitchFamily="34" charset="-120"/>
              </a:rPr>
              <a:t>Directory</a:t>
            </a:r>
            <a:endParaRPr lang="en-US" sz="1350" dirty="0"/>
          </a:p>
        </p:txBody>
      </p:sp>
      <p:sp>
        <p:nvSpPr>
          <p:cNvPr id="6" name="Text 4"/>
          <p:cNvSpPr txBox="1"/>
          <p:nvPr/>
        </p:nvSpPr>
        <p:spPr>
          <a:xfrm>
            <a:off x="612648" y="2395728"/>
            <a:ext cx="1609344" cy="548640"/>
          </a:xfrm>
          <a:prstGeom prst="rect">
            <a:avLst/>
          </a:prstGeom>
          <a:noFill/>
          <a:ln/>
        </p:spPr>
        <p:txBody>
          <a:bodyPr wrap="square" lIns="0" tIns="0" rIns="0" bIns="0" rtlCol="0" anchor="ctr"/>
          <a:lstStyle/>
          <a:p>
            <a:pPr algn="ctr" indent="0" marL="0">
              <a:lnSpc>
                <a:spcPct val="120000"/>
              </a:lnSpc>
              <a:buNone/>
            </a:pPr>
            <a:r>
              <a:rPr lang="en-US" sz="1050" dirty="0">
                <a:solidFill>
                  <a:srgbClr val="5A6572"/>
                </a:solidFill>
                <a:latin typeface="Calibri" pitchFamily="34" charset="0"/>
                <a:ea typeface="Calibri" pitchFamily="34" charset="-122"/>
                <a:cs typeface="Calibri" pitchFamily="34" charset="-120"/>
              </a:rPr>
              <a:t>Files you edit</a:t>
            </a:r>
            <a:endParaRPr lang="en-US" sz="1050" dirty="0"/>
          </a:p>
          <a:p>
            <a:pPr algn="ctr" indent="0" marL="0">
              <a:lnSpc>
                <a:spcPct val="120000"/>
              </a:lnSpc>
              <a:buNone/>
            </a:pPr>
            <a:r>
              <a:rPr lang="en-US" sz="1050" dirty="0">
                <a:solidFill>
                  <a:srgbClr val="5A6572"/>
                </a:solidFill>
                <a:latin typeface="Calibri" pitchFamily="34" charset="0"/>
                <a:ea typeface="Calibri" pitchFamily="34" charset="-122"/>
                <a:cs typeface="Calibri" pitchFamily="34" charset="-120"/>
              </a:rPr>
              <a:t>in VS Code</a:t>
            </a:r>
            <a:endParaRPr lang="en-US" sz="1050" dirty="0"/>
          </a:p>
        </p:txBody>
      </p:sp>
      <p:sp>
        <p:nvSpPr>
          <p:cNvPr id="7" name="Shape 5"/>
          <p:cNvSpPr/>
          <p:nvPr/>
        </p:nvSpPr>
        <p:spPr>
          <a:xfrm>
            <a:off x="2340864" y="2231136"/>
            <a:ext cx="256032" cy="201168"/>
          </a:xfrm>
          <a:prstGeom prst="rightArrow">
            <a:avLst/>
          </a:prstGeom>
          <a:solidFill>
            <a:srgbClr val="D5DCE3"/>
          </a:solidFill>
          <a:ln w="12700">
            <a:solidFill>
              <a:srgbClr val="D5DCE3"/>
            </a:solidFill>
            <a:prstDash val="solid"/>
          </a:ln>
        </p:spPr>
      </p:sp>
      <p:sp>
        <p:nvSpPr>
          <p:cNvPr id="8" name="Text 6"/>
          <p:cNvSpPr txBox="1"/>
          <p:nvPr/>
        </p:nvSpPr>
        <p:spPr>
          <a:xfrm>
            <a:off x="2011680" y="3127248"/>
            <a:ext cx="914400" cy="237744"/>
          </a:xfrm>
          <a:prstGeom prst="rect">
            <a:avLst/>
          </a:prstGeom>
          <a:noFill/>
          <a:ln/>
        </p:spPr>
        <p:txBody>
          <a:bodyPr wrap="square" lIns="0" tIns="0" rIns="0" bIns="0" rtlCol="0" anchor="ctr"/>
          <a:lstStyle/>
          <a:p>
            <a:pPr algn="ctr" indent="0" marL="0">
              <a:buNone/>
            </a:pPr>
            <a:r>
              <a:rPr lang="en-US" sz="850" b="1" dirty="0">
                <a:solidFill>
                  <a:srgbClr val="16191D"/>
                </a:solidFill>
                <a:latin typeface="Courier New" pitchFamily="34" charset="0"/>
                <a:ea typeface="Courier New" pitchFamily="34" charset="-122"/>
                <a:cs typeface="Courier New" pitchFamily="34" charset="-120"/>
              </a:rPr>
              <a:t>git add</a:t>
            </a:r>
            <a:endParaRPr lang="en-US" sz="850" dirty="0"/>
          </a:p>
        </p:txBody>
      </p:sp>
      <p:sp>
        <p:nvSpPr>
          <p:cNvPr id="9" name="Shape 7"/>
          <p:cNvSpPr/>
          <p:nvPr/>
        </p:nvSpPr>
        <p:spPr>
          <a:xfrm>
            <a:off x="2606040" y="1600200"/>
            <a:ext cx="1828800" cy="1463040"/>
          </a:xfrm>
          <a:prstGeom prst="roundRect">
            <a:avLst>
              <a:gd name="adj" fmla="val 3750"/>
            </a:avLst>
          </a:prstGeom>
          <a:solidFill>
            <a:srgbClr val="F3F5F7"/>
          </a:solidFill>
          <a:ln w="12700">
            <a:solidFill>
              <a:srgbClr val="D5DCE3"/>
            </a:solidFill>
            <a:prstDash val="solid"/>
          </a:ln>
        </p:spPr>
      </p:sp>
      <p:sp>
        <p:nvSpPr>
          <p:cNvPr id="10" name="Text 8"/>
          <p:cNvSpPr txBox="1"/>
          <p:nvPr/>
        </p:nvSpPr>
        <p:spPr>
          <a:xfrm>
            <a:off x="2715768" y="1783080"/>
            <a:ext cx="1609344" cy="566928"/>
          </a:xfrm>
          <a:prstGeom prst="rect">
            <a:avLst/>
          </a:prstGeom>
          <a:noFill/>
          <a:ln/>
        </p:spPr>
        <p:txBody>
          <a:bodyPr wrap="square" lIns="0" tIns="0" rIns="0" bIns="0" rtlCol="0" anchor="ctr"/>
          <a:lstStyle/>
          <a:p>
            <a:pPr algn="ctr" indent="0" marL="0">
              <a:lnSpc>
                <a:spcPct val="110000"/>
              </a:lnSpc>
              <a:buNone/>
            </a:pPr>
            <a:r>
              <a:rPr lang="en-US" sz="1350" b="1" dirty="0">
                <a:solidFill>
                  <a:srgbClr val="E04A29"/>
                </a:solidFill>
                <a:latin typeface="Arial" pitchFamily="34" charset="0"/>
                <a:ea typeface="Arial" pitchFamily="34" charset="-122"/>
                <a:cs typeface="Arial" pitchFamily="34" charset="-120"/>
              </a:rPr>
              <a:t>Staging</a:t>
            </a:r>
            <a:endParaRPr lang="en-US" sz="1350" dirty="0"/>
          </a:p>
          <a:p>
            <a:pPr algn="ctr" indent="0" marL="0">
              <a:lnSpc>
                <a:spcPct val="110000"/>
              </a:lnSpc>
              <a:buNone/>
            </a:pPr>
            <a:r>
              <a:rPr lang="en-US" sz="1350" b="1" dirty="0">
                <a:solidFill>
                  <a:srgbClr val="E04A29"/>
                </a:solidFill>
                <a:latin typeface="Arial" pitchFamily="34" charset="0"/>
                <a:ea typeface="Arial" pitchFamily="34" charset="-122"/>
                <a:cs typeface="Arial" pitchFamily="34" charset="-120"/>
              </a:rPr>
              <a:t>Area</a:t>
            </a:r>
            <a:endParaRPr lang="en-US" sz="1350" dirty="0"/>
          </a:p>
        </p:txBody>
      </p:sp>
      <p:sp>
        <p:nvSpPr>
          <p:cNvPr id="11" name="Text 9"/>
          <p:cNvSpPr txBox="1"/>
          <p:nvPr/>
        </p:nvSpPr>
        <p:spPr>
          <a:xfrm>
            <a:off x="2715768" y="2395728"/>
            <a:ext cx="1609344" cy="548640"/>
          </a:xfrm>
          <a:prstGeom prst="rect">
            <a:avLst/>
          </a:prstGeom>
          <a:noFill/>
          <a:ln/>
        </p:spPr>
        <p:txBody>
          <a:bodyPr wrap="square" lIns="0" tIns="0" rIns="0" bIns="0" rtlCol="0" anchor="ctr"/>
          <a:lstStyle/>
          <a:p>
            <a:pPr algn="ctr" indent="0" marL="0">
              <a:lnSpc>
                <a:spcPct val="120000"/>
              </a:lnSpc>
              <a:buNone/>
            </a:pPr>
            <a:r>
              <a:rPr lang="en-US" sz="1050" dirty="0">
                <a:solidFill>
                  <a:srgbClr val="5A6572"/>
                </a:solidFill>
                <a:latin typeface="Calibri" pitchFamily="34" charset="0"/>
                <a:ea typeface="Calibri" pitchFamily="34" charset="-122"/>
                <a:cs typeface="Calibri" pitchFamily="34" charset="-120"/>
              </a:rPr>
              <a:t>What you picked</a:t>
            </a:r>
            <a:endParaRPr lang="en-US" sz="1050" dirty="0"/>
          </a:p>
          <a:p>
            <a:pPr algn="ctr" indent="0" marL="0">
              <a:lnSpc>
                <a:spcPct val="120000"/>
              </a:lnSpc>
              <a:buNone/>
            </a:pPr>
            <a:r>
              <a:rPr lang="en-US" sz="1050" dirty="0">
                <a:solidFill>
                  <a:srgbClr val="5A6572"/>
                </a:solidFill>
                <a:latin typeface="Calibri" pitchFamily="34" charset="0"/>
                <a:ea typeface="Calibri" pitchFamily="34" charset="-122"/>
                <a:cs typeface="Calibri" pitchFamily="34" charset="-120"/>
              </a:rPr>
              <a:t>for the next save</a:t>
            </a:r>
            <a:endParaRPr lang="en-US" sz="1050" dirty="0"/>
          </a:p>
        </p:txBody>
      </p:sp>
      <p:sp>
        <p:nvSpPr>
          <p:cNvPr id="12" name="Shape 10"/>
          <p:cNvSpPr/>
          <p:nvPr/>
        </p:nvSpPr>
        <p:spPr>
          <a:xfrm>
            <a:off x="4443984" y="2231136"/>
            <a:ext cx="256032" cy="201168"/>
          </a:xfrm>
          <a:prstGeom prst="rightArrow">
            <a:avLst/>
          </a:prstGeom>
          <a:solidFill>
            <a:srgbClr val="D5DCE3"/>
          </a:solidFill>
          <a:ln w="12700">
            <a:solidFill>
              <a:srgbClr val="D5DCE3"/>
            </a:solidFill>
            <a:prstDash val="solid"/>
          </a:ln>
        </p:spPr>
      </p:sp>
      <p:sp>
        <p:nvSpPr>
          <p:cNvPr id="13" name="Text 11"/>
          <p:cNvSpPr txBox="1"/>
          <p:nvPr/>
        </p:nvSpPr>
        <p:spPr>
          <a:xfrm>
            <a:off x="4114800" y="3127248"/>
            <a:ext cx="914400" cy="237744"/>
          </a:xfrm>
          <a:prstGeom prst="rect">
            <a:avLst/>
          </a:prstGeom>
          <a:noFill/>
          <a:ln/>
        </p:spPr>
        <p:txBody>
          <a:bodyPr wrap="square" lIns="0" tIns="0" rIns="0" bIns="0" rtlCol="0" anchor="ctr"/>
          <a:lstStyle/>
          <a:p>
            <a:pPr algn="ctr" indent="0" marL="0">
              <a:buNone/>
            </a:pPr>
            <a:r>
              <a:rPr lang="en-US" sz="850" b="1" dirty="0">
                <a:solidFill>
                  <a:srgbClr val="16191D"/>
                </a:solidFill>
                <a:latin typeface="Courier New" pitchFamily="34" charset="0"/>
                <a:ea typeface="Courier New" pitchFamily="34" charset="-122"/>
                <a:cs typeface="Courier New" pitchFamily="34" charset="-120"/>
              </a:rPr>
              <a:t>git commit</a:t>
            </a:r>
            <a:endParaRPr lang="en-US" sz="850" dirty="0"/>
          </a:p>
        </p:txBody>
      </p:sp>
      <p:sp>
        <p:nvSpPr>
          <p:cNvPr id="14" name="Shape 12"/>
          <p:cNvSpPr/>
          <p:nvPr/>
        </p:nvSpPr>
        <p:spPr>
          <a:xfrm>
            <a:off x="4709160" y="1600200"/>
            <a:ext cx="1828800" cy="1463040"/>
          </a:xfrm>
          <a:prstGeom prst="roundRect">
            <a:avLst>
              <a:gd name="adj" fmla="val 3750"/>
            </a:avLst>
          </a:prstGeom>
          <a:solidFill>
            <a:srgbClr val="F3F5F7"/>
          </a:solidFill>
          <a:ln w="12700">
            <a:solidFill>
              <a:srgbClr val="D5DCE3"/>
            </a:solidFill>
            <a:prstDash val="solid"/>
          </a:ln>
        </p:spPr>
      </p:sp>
      <p:sp>
        <p:nvSpPr>
          <p:cNvPr id="15" name="Text 13"/>
          <p:cNvSpPr txBox="1"/>
          <p:nvPr/>
        </p:nvSpPr>
        <p:spPr>
          <a:xfrm>
            <a:off x="4818888" y="1783080"/>
            <a:ext cx="1609344" cy="566928"/>
          </a:xfrm>
          <a:prstGeom prst="rect">
            <a:avLst/>
          </a:prstGeom>
          <a:noFill/>
          <a:ln/>
        </p:spPr>
        <p:txBody>
          <a:bodyPr wrap="square" lIns="0" tIns="0" rIns="0" bIns="0" rtlCol="0" anchor="ctr"/>
          <a:lstStyle/>
          <a:p>
            <a:pPr algn="ctr" indent="0" marL="0">
              <a:lnSpc>
                <a:spcPct val="110000"/>
              </a:lnSpc>
              <a:buNone/>
            </a:pPr>
            <a:r>
              <a:rPr lang="en-US" sz="1350" b="1" dirty="0">
                <a:solidFill>
                  <a:srgbClr val="7B3FD4"/>
                </a:solidFill>
                <a:latin typeface="Arial" pitchFamily="34" charset="0"/>
                <a:ea typeface="Arial" pitchFamily="34" charset="-122"/>
                <a:cs typeface="Arial" pitchFamily="34" charset="-120"/>
              </a:rPr>
              <a:t>Local</a:t>
            </a:r>
            <a:endParaRPr lang="en-US" sz="1350" dirty="0"/>
          </a:p>
          <a:p>
            <a:pPr algn="ctr" indent="0" marL="0">
              <a:lnSpc>
                <a:spcPct val="110000"/>
              </a:lnSpc>
              <a:buNone/>
            </a:pPr>
            <a:r>
              <a:rPr lang="en-US" sz="1350" b="1" dirty="0">
                <a:solidFill>
                  <a:srgbClr val="7B3FD4"/>
                </a:solidFill>
                <a:latin typeface="Arial" pitchFamily="34" charset="0"/>
                <a:ea typeface="Arial" pitchFamily="34" charset="-122"/>
                <a:cs typeface="Arial" pitchFamily="34" charset="-120"/>
              </a:rPr>
              <a:t>Repository</a:t>
            </a:r>
            <a:endParaRPr lang="en-US" sz="1350" dirty="0"/>
          </a:p>
        </p:txBody>
      </p:sp>
      <p:sp>
        <p:nvSpPr>
          <p:cNvPr id="16" name="Text 14"/>
          <p:cNvSpPr txBox="1"/>
          <p:nvPr/>
        </p:nvSpPr>
        <p:spPr>
          <a:xfrm>
            <a:off x="4818888" y="2395728"/>
            <a:ext cx="1609344" cy="548640"/>
          </a:xfrm>
          <a:prstGeom prst="rect">
            <a:avLst/>
          </a:prstGeom>
          <a:noFill/>
          <a:ln/>
        </p:spPr>
        <p:txBody>
          <a:bodyPr wrap="square" lIns="0" tIns="0" rIns="0" bIns="0" rtlCol="0" anchor="ctr"/>
          <a:lstStyle/>
          <a:p>
            <a:pPr algn="ctr" indent="0" marL="0">
              <a:lnSpc>
                <a:spcPct val="120000"/>
              </a:lnSpc>
              <a:buNone/>
            </a:pPr>
            <a:r>
              <a:rPr lang="en-US" sz="1050" dirty="0">
                <a:solidFill>
                  <a:srgbClr val="5A6572"/>
                </a:solidFill>
                <a:latin typeface="Calibri" pitchFamily="34" charset="0"/>
                <a:ea typeface="Calibri" pitchFamily="34" charset="-122"/>
                <a:cs typeface="Calibri" pitchFamily="34" charset="-120"/>
              </a:rPr>
              <a:t>Your .git folder</a:t>
            </a:r>
            <a:endParaRPr lang="en-US" sz="1050" dirty="0"/>
          </a:p>
          <a:p>
            <a:pPr algn="ctr" indent="0" marL="0">
              <a:lnSpc>
                <a:spcPct val="120000"/>
              </a:lnSpc>
              <a:buNone/>
            </a:pPr>
            <a:r>
              <a:rPr lang="en-US" sz="1050" dirty="0">
                <a:solidFill>
                  <a:srgbClr val="5A6572"/>
                </a:solidFill>
                <a:latin typeface="Calibri" pitchFamily="34" charset="0"/>
                <a:ea typeface="Calibri" pitchFamily="34" charset="-122"/>
                <a:cs typeface="Calibri" pitchFamily="34" charset="-120"/>
              </a:rPr>
              <a:t>full history</a:t>
            </a:r>
            <a:endParaRPr lang="en-US" sz="1050" dirty="0"/>
          </a:p>
        </p:txBody>
      </p:sp>
      <p:sp>
        <p:nvSpPr>
          <p:cNvPr id="17" name="Shape 15"/>
          <p:cNvSpPr/>
          <p:nvPr/>
        </p:nvSpPr>
        <p:spPr>
          <a:xfrm>
            <a:off x="6547104" y="2231136"/>
            <a:ext cx="256032" cy="201168"/>
          </a:xfrm>
          <a:prstGeom prst="rightArrow">
            <a:avLst/>
          </a:prstGeom>
          <a:solidFill>
            <a:srgbClr val="D5DCE3"/>
          </a:solidFill>
          <a:ln w="12700">
            <a:solidFill>
              <a:srgbClr val="D5DCE3"/>
            </a:solidFill>
            <a:prstDash val="solid"/>
          </a:ln>
        </p:spPr>
      </p:sp>
      <p:sp>
        <p:nvSpPr>
          <p:cNvPr id="18" name="Text 16"/>
          <p:cNvSpPr txBox="1"/>
          <p:nvPr/>
        </p:nvSpPr>
        <p:spPr>
          <a:xfrm>
            <a:off x="6217920" y="3127248"/>
            <a:ext cx="914400" cy="237744"/>
          </a:xfrm>
          <a:prstGeom prst="rect">
            <a:avLst/>
          </a:prstGeom>
          <a:noFill/>
          <a:ln/>
        </p:spPr>
        <p:txBody>
          <a:bodyPr wrap="square" lIns="0" tIns="0" rIns="0" bIns="0" rtlCol="0" anchor="ctr"/>
          <a:lstStyle/>
          <a:p>
            <a:pPr algn="ctr" indent="0" marL="0">
              <a:buNone/>
            </a:pPr>
            <a:r>
              <a:rPr lang="en-US" sz="850" b="1" dirty="0">
                <a:solidFill>
                  <a:srgbClr val="16191D"/>
                </a:solidFill>
                <a:latin typeface="Courier New" pitchFamily="34" charset="0"/>
                <a:ea typeface="Courier New" pitchFamily="34" charset="-122"/>
                <a:cs typeface="Courier New" pitchFamily="34" charset="-120"/>
              </a:rPr>
              <a:t>git push</a:t>
            </a:r>
            <a:endParaRPr lang="en-US" sz="850" dirty="0"/>
          </a:p>
        </p:txBody>
      </p:sp>
      <p:sp>
        <p:nvSpPr>
          <p:cNvPr id="19" name="Shape 17"/>
          <p:cNvSpPr/>
          <p:nvPr/>
        </p:nvSpPr>
        <p:spPr>
          <a:xfrm>
            <a:off x="6812280" y="1600200"/>
            <a:ext cx="1828800" cy="1463040"/>
          </a:xfrm>
          <a:prstGeom prst="roundRect">
            <a:avLst>
              <a:gd name="adj" fmla="val 3750"/>
            </a:avLst>
          </a:prstGeom>
          <a:solidFill>
            <a:srgbClr val="F3F5F7"/>
          </a:solidFill>
          <a:ln w="12700">
            <a:solidFill>
              <a:srgbClr val="D5DCE3"/>
            </a:solidFill>
            <a:prstDash val="solid"/>
          </a:ln>
        </p:spPr>
      </p:sp>
      <p:sp>
        <p:nvSpPr>
          <p:cNvPr id="20" name="Text 18"/>
          <p:cNvSpPr txBox="1"/>
          <p:nvPr/>
        </p:nvSpPr>
        <p:spPr>
          <a:xfrm>
            <a:off x="6922008" y="1783080"/>
            <a:ext cx="1609344" cy="566928"/>
          </a:xfrm>
          <a:prstGeom prst="rect">
            <a:avLst/>
          </a:prstGeom>
          <a:noFill/>
          <a:ln/>
        </p:spPr>
        <p:txBody>
          <a:bodyPr wrap="square" lIns="0" tIns="0" rIns="0" bIns="0" rtlCol="0" anchor="ctr"/>
          <a:lstStyle/>
          <a:p>
            <a:pPr algn="ctr" indent="0" marL="0">
              <a:lnSpc>
                <a:spcPct val="110000"/>
              </a:lnSpc>
              <a:buNone/>
            </a:pPr>
            <a:r>
              <a:rPr lang="en-US" sz="1350" b="1" dirty="0">
                <a:solidFill>
                  <a:srgbClr val="1F8A42"/>
                </a:solidFill>
                <a:latin typeface="Arial" pitchFamily="34" charset="0"/>
                <a:ea typeface="Arial" pitchFamily="34" charset="-122"/>
                <a:cs typeface="Arial" pitchFamily="34" charset="-120"/>
              </a:rPr>
              <a:t>Remote</a:t>
            </a:r>
            <a:endParaRPr lang="en-US" sz="1350" dirty="0"/>
          </a:p>
          <a:p>
            <a:pPr algn="ctr" indent="0" marL="0">
              <a:lnSpc>
                <a:spcPct val="110000"/>
              </a:lnSpc>
              <a:buNone/>
            </a:pPr>
            <a:r>
              <a:rPr lang="en-US" sz="1350" b="1" dirty="0">
                <a:solidFill>
                  <a:srgbClr val="1F8A42"/>
                </a:solidFill>
                <a:latin typeface="Arial" pitchFamily="34" charset="0"/>
                <a:ea typeface="Arial" pitchFamily="34" charset="-122"/>
                <a:cs typeface="Arial" pitchFamily="34" charset="-120"/>
              </a:rPr>
              <a:t>(GitHub)</a:t>
            </a:r>
            <a:endParaRPr lang="en-US" sz="1350" dirty="0"/>
          </a:p>
        </p:txBody>
      </p:sp>
      <p:sp>
        <p:nvSpPr>
          <p:cNvPr id="21" name="Text 19"/>
          <p:cNvSpPr txBox="1"/>
          <p:nvPr/>
        </p:nvSpPr>
        <p:spPr>
          <a:xfrm>
            <a:off x="6922008" y="2395728"/>
            <a:ext cx="1609344" cy="548640"/>
          </a:xfrm>
          <a:prstGeom prst="rect">
            <a:avLst/>
          </a:prstGeom>
          <a:noFill/>
          <a:ln/>
        </p:spPr>
        <p:txBody>
          <a:bodyPr wrap="square" lIns="0" tIns="0" rIns="0" bIns="0" rtlCol="0" anchor="ctr"/>
          <a:lstStyle/>
          <a:p>
            <a:pPr algn="ctr" indent="0" marL="0">
              <a:lnSpc>
                <a:spcPct val="120000"/>
              </a:lnSpc>
              <a:buNone/>
            </a:pPr>
            <a:r>
              <a:rPr lang="en-US" sz="1050" dirty="0">
                <a:solidFill>
                  <a:srgbClr val="5A6572"/>
                </a:solidFill>
                <a:latin typeface="Calibri" pitchFamily="34" charset="0"/>
                <a:ea typeface="Calibri" pitchFamily="34" charset="-122"/>
                <a:cs typeface="Calibri" pitchFamily="34" charset="-120"/>
              </a:rPr>
              <a:t>The shared copy</a:t>
            </a:r>
            <a:endParaRPr lang="en-US" sz="1050" dirty="0"/>
          </a:p>
          <a:p>
            <a:pPr algn="ctr" indent="0" marL="0">
              <a:lnSpc>
                <a:spcPct val="120000"/>
              </a:lnSpc>
              <a:buNone/>
            </a:pPr>
            <a:r>
              <a:rPr lang="en-US" sz="1050" dirty="0">
                <a:solidFill>
                  <a:srgbClr val="5A6572"/>
                </a:solidFill>
                <a:latin typeface="Calibri" pitchFamily="34" charset="0"/>
                <a:ea typeface="Calibri" pitchFamily="34" charset="-122"/>
                <a:cs typeface="Calibri" pitchFamily="34" charset="-120"/>
              </a:rPr>
              <a:t>the team uses</a:t>
            </a:r>
            <a:endParaRPr lang="en-US" sz="1050" dirty="0"/>
          </a:p>
        </p:txBody>
      </p:sp>
      <p:sp>
        <p:nvSpPr>
          <p:cNvPr id="22" name="Shape 20"/>
          <p:cNvSpPr/>
          <p:nvPr/>
        </p:nvSpPr>
        <p:spPr>
          <a:xfrm>
            <a:off x="502920" y="3520440"/>
            <a:ext cx="3977640" cy="960120"/>
          </a:xfrm>
          <a:prstGeom prst="roundRect">
            <a:avLst>
              <a:gd name="adj" fmla="val 5714"/>
            </a:avLst>
          </a:prstGeom>
          <a:solidFill>
            <a:srgbClr val="F3F5F7"/>
          </a:solidFill>
          <a:ln w="12700">
            <a:solidFill>
              <a:srgbClr val="D5DCE3"/>
            </a:solidFill>
            <a:prstDash val="solid"/>
          </a:ln>
        </p:spPr>
      </p:sp>
      <p:sp>
        <p:nvSpPr>
          <p:cNvPr id="23" name="Text 21"/>
          <p:cNvSpPr txBox="1"/>
          <p:nvPr/>
        </p:nvSpPr>
        <p:spPr>
          <a:xfrm>
            <a:off x="731520" y="3621024"/>
            <a:ext cx="3566160" cy="256032"/>
          </a:xfrm>
          <a:prstGeom prst="rect">
            <a:avLst/>
          </a:prstGeom>
          <a:noFill/>
          <a:ln/>
        </p:spPr>
        <p:txBody>
          <a:bodyPr wrap="square" lIns="0" tIns="0" rIns="0" bIns="0" rtlCol="0" anchor="ctr"/>
          <a:lstStyle/>
          <a:p>
            <a:pPr indent="0" marL="0">
              <a:buNone/>
            </a:pPr>
            <a:r>
              <a:rPr lang="en-US" sz="1200" b="1" dirty="0">
                <a:solidFill>
                  <a:srgbClr val="E04A29"/>
                </a:solidFill>
                <a:latin typeface="Arial" pitchFamily="34" charset="0"/>
                <a:ea typeface="Arial" pitchFamily="34" charset="-122"/>
                <a:cs typeface="Arial" pitchFamily="34" charset="-120"/>
              </a:rPr>
              <a:t>Why is there a staging area?</a:t>
            </a:r>
            <a:endParaRPr lang="en-US" sz="1200" dirty="0"/>
          </a:p>
        </p:txBody>
      </p:sp>
      <p:sp>
        <p:nvSpPr>
          <p:cNvPr id="24" name="Text 22"/>
          <p:cNvSpPr txBox="1"/>
          <p:nvPr/>
        </p:nvSpPr>
        <p:spPr>
          <a:xfrm>
            <a:off x="731520" y="3877056"/>
            <a:ext cx="3566160" cy="548640"/>
          </a:xfrm>
          <a:prstGeom prst="rect">
            <a:avLst/>
          </a:prstGeom>
          <a:noFill/>
          <a:ln/>
        </p:spPr>
        <p:txBody>
          <a:bodyPr wrap="square" lIns="0" tIns="0" rIns="0" bIns="0" rtlCol="0" anchor="ctr"/>
          <a:lstStyle/>
          <a:p>
            <a:pPr indent="0" marL="0">
              <a:lnSpc>
                <a:spcPct val="125000"/>
              </a:lnSpc>
              <a:buNone/>
            </a:pPr>
            <a:r>
              <a:rPr lang="en-US" sz="1050" dirty="0">
                <a:solidFill>
                  <a:srgbClr val="5A6572"/>
                </a:solidFill>
                <a:latin typeface="Calibri" pitchFamily="34" charset="0"/>
                <a:ea typeface="Calibri" pitchFamily="34" charset="-122"/>
                <a:cs typeface="Calibri" pitchFamily="34" charset="-120"/>
              </a:rPr>
              <a:t>You changed five files, but only two belong in this commit. git add is how you choose.</a:t>
            </a:r>
            <a:endParaRPr lang="en-US" sz="1050" dirty="0"/>
          </a:p>
          <a:p>
            <a:pPr indent="0" marL="0">
              <a:lnSpc>
                <a:spcPct val="125000"/>
              </a:lnSpc>
              <a:buNone/>
            </a:pPr>
            <a:r>
              <a:rPr lang="en-US" sz="1050" dirty="0">
                <a:solidFill>
                  <a:srgbClr val="5A6572"/>
                </a:solidFill>
                <a:latin typeface="Calibri" pitchFamily="34" charset="0"/>
                <a:ea typeface="Calibri" pitchFamily="34" charset="-122"/>
                <a:cs typeface="Calibri" pitchFamily="34" charset="-120"/>
              </a:rPr>
              <a:t>Staging is the packing list. Commit seals the box.</a:t>
            </a:r>
            <a:endParaRPr lang="en-US" sz="1050" dirty="0"/>
          </a:p>
        </p:txBody>
      </p:sp>
      <p:sp>
        <p:nvSpPr>
          <p:cNvPr id="25" name="Shape 23"/>
          <p:cNvSpPr/>
          <p:nvPr/>
        </p:nvSpPr>
        <p:spPr>
          <a:xfrm>
            <a:off x="4709160" y="3520440"/>
            <a:ext cx="3977640" cy="960120"/>
          </a:xfrm>
          <a:prstGeom prst="roundRect">
            <a:avLst>
              <a:gd name="adj" fmla="val 5714"/>
            </a:avLst>
          </a:prstGeom>
          <a:solidFill>
            <a:srgbClr val="FFFFFF"/>
          </a:solidFill>
          <a:ln w="12700">
            <a:solidFill>
              <a:srgbClr val="D5DCE3"/>
            </a:solidFill>
            <a:prstDash val="solid"/>
          </a:ln>
        </p:spPr>
      </p:sp>
      <p:sp>
        <p:nvSpPr>
          <p:cNvPr id="26" name="Text 24"/>
          <p:cNvSpPr txBox="1"/>
          <p:nvPr/>
        </p:nvSpPr>
        <p:spPr>
          <a:xfrm>
            <a:off x="4937760" y="3621024"/>
            <a:ext cx="3566160" cy="256032"/>
          </a:xfrm>
          <a:prstGeom prst="rect">
            <a:avLst/>
          </a:prstGeom>
          <a:noFill/>
          <a:ln/>
        </p:spPr>
        <p:txBody>
          <a:bodyPr wrap="square" lIns="0" tIns="0" rIns="0" bIns="0" rtlCol="0" anchor="ctr"/>
          <a:lstStyle/>
          <a:p>
            <a:pPr indent="0" marL="0">
              <a:buNone/>
            </a:pPr>
            <a:r>
              <a:rPr lang="en-US" sz="1200" b="1" dirty="0">
                <a:solidFill>
                  <a:srgbClr val="16191D"/>
                </a:solidFill>
                <a:latin typeface="Arial" pitchFamily="34" charset="0"/>
                <a:ea typeface="Arial" pitchFamily="34" charset="-122"/>
                <a:cs typeface="Arial" pitchFamily="34" charset="-120"/>
              </a:rPr>
              <a:t>Coming back the other way</a:t>
            </a:r>
            <a:endParaRPr lang="en-US" sz="1200" dirty="0"/>
          </a:p>
        </p:txBody>
      </p:sp>
      <p:sp>
        <p:nvSpPr>
          <p:cNvPr id="27" name="Text 25"/>
          <p:cNvSpPr txBox="1"/>
          <p:nvPr/>
        </p:nvSpPr>
        <p:spPr>
          <a:xfrm>
            <a:off x="4937760" y="3877056"/>
            <a:ext cx="3566160" cy="548640"/>
          </a:xfrm>
          <a:prstGeom prst="rect">
            <a:avLst/>
          </a:prstGeom>
          <a:noFill/>
          <a:ln/>
        </p:spPr>
        <p:txBody>
          <a:bodyPr wrap="square" lIns="0" tIns="0" rIns="0" bIns="0" rtlCol="0" anchor="ctr"/>
          <a:lstStyle/>
          <a:p>
            <a:pPr indent="0" marL="0">
              <a:lnSpc>
                <a:spcPct val="135000"/>
              </a:lnSpc>
              <a:buNone/>
            </a:pPr>
            <a:r>
              <a:rPr lang="en-US" sz="950" dirty="0">
                <a:solidFill>
                  <a:srgbClr val="5A6572"/>
                </a:solidFill>
                <a:latin typeface="Courier New" pitchFamily="34" charset="0"/>
                <a:ea typeface="Courier New" pitchFamily="34" charset="-122"/>
                <a:cs typeface="Courier New" pitchFamily="34" charset="-120"/>
              </a:rPr>
              <a:t>git clone  — the whole repo + history, once</a:t>
            </a:r>
            <a:endParaRPr lang="en-US" sz="950" dirty="0"/>
          </a:p>
          <a:p>
            <a:pPr indent="0" marL="0">
              <a:lnSpc>
                <a:spcPct val="135000"/>
              </a:lnSpc>
              <a:buNone/>
            </a:pPr>
            <a:r>
              <a:rPr lang="en-US" sz="950" dirty="0">
                <a:solidFill>
                  <a:srgbClr val="5A6572"/>
                </a:solidFill>
                <a:latin typeface="Courier New" pitchFamily="34" charset="0"/>
                <a:ea typeface="Courier New" pitchFamily="34" charset="-122"/>
                <a:cs typeface="Courier New" pitchFamily="34" charset="-120"/>
              </a:rPr>
              <a:t>git pull   — whatever teammates pushed, daily</a:t>
            </a:r>
            <a:endParaRPr lang="en-US" sz="950" dirty="0"/>
          </a:p>
        </p:txBody>
      </p:sp>
      <p:sp>
        <p:nvSpPr>
          <p:cNvPr id="28" name="Text 26"/>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WHO DOES WHAT</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16191D"/>
                </a:solidFill>
                <a:latin typeface="Arial" pitchFamily="34" charset="0"/>
                <a:ea typeface="Arial" pitchFamily="34" charset="-122"/>
                <a:cs typeface="Arial" pitchFamily="34" charset="-120"/>
              </a:rPr>
              <a:t>The roles you will walk into on day one</a:t>
            </a:r>
            <a:endParaRPr lang="en-US" sz="2900" dirty="0"/>
          </a:p>
        </p:txBody>
      </p:sp>
      <p:sp>
        <p:nvSpPr>
          <p:cNvPr id="4" name="Shape 2"/>
          <p:cNvSpPr/>
          <p:nvPr/>
        </p:nvSpPr>
        <p:spPr>
          <a:xfrm>
            <a:off x="502920" y="1371600"/>
            <a:ext cx="8183880" cy="694944"/>
          </a:xfrm>
          <a:prstGeom prst="roundRect">
            <a:avLst>
              <a:gd name="adj" fmla="val 7895"/>
            </a:avLst>
          </a:prstGeom>
          <a:solidFill>
            <a:srgbClr val="F3F5F7"/>
          </a:solidFill>
          <a:ln w="12700">
            <a:solidFill>
              <a:srgbClr val="D5DCE3"/>
            </a:solidFill>
            <a:prstDash val="solid"/>
          </a:ln>
        </p:spPr>
      </p:sp>
      <p:sp>
        <p:nvSpPr>
          <p:cNvPr id="5" name="Shape 3"/>
          <p:cNvSpPr/>
          <p:nvPr/>
        </p:nvSpPr>
        <p:spPr>
          <a:xfrm>
            <a:off x="713232" y="1527048"/>
            <a:ext cx="384048" cy="384048"/>
          </a:xfrm>
          <a:prstGeom prst="ellipse">
            <a:avLst/>
          </a:prstGeom>
          <a:solidFill>
            <a:srgbClr val="E04A29"/>
          </a:solidFill>
          <a:ln w="12700">
            <a:solidFill>
              <a:srgbClr val="E04A29"/>
            </a:solidFill>
            <a:prstDash val="solid"/>
          </a:ln>
        </p:spPr>
      </p:sp>
      <p:sp>
        <p:nvSpPr>
          <p:cNvPr id="6" name="Text 4"/>
          <p:cNvSpPr txBox="1"/>
          <p:nvPr/>
        </p:nvSpPr>
        <p:spPr>
          <a:xfrm>
            <a:off x="713232" y="152704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TL</a:t>
            </a:r>
            <a:endParaRPr lang="en-US" sz="1150" dirty="0"/>
          </a:p>
        </p:txBody>
      </p:sp>
      <p:sp>
        <p:nvSpPr>
          <p:cNvPr id="7" name="Text 5"/>
          <p:cNvSpPr txBox="1"/>
          <p:nvPr/>
        </p:nvSpPr>
        <p:spPr>
          <a:xfrm>
            <a:off x="1261872" y="1463040"/>
            <a:ext cx="2011680" cy="512064"/>
          </a:xfrm>
          <a:prstGeom prst="rect">
            <a:avLst/>
          </a:prstGeom>
          <a:noFill/>
          <a:ln/>
        </p:spPr>
        <p:txBody>
          <a:bodyPr wrap="square" lIns="0" tIns="0" rIns="0" bIns="0" rtlCol="0" anchor="ctr"/>
          <a:lstStyle/>
          <a:p>
            <a:pPr indent="0" marL="0">
              <a:buNone/>
            </a:pPr>
            <a:r>
              <a:rPr lang="en-US" sz="1350" b="1" dirty="0">
                <a:solidFill>
                  <a:srgbClr val="16191D"/>
                </a:solidFill>
                <a:latin typeface="Arial" pitchFamily="34" charset="0"/>
                <a:ea typeface="Arial" pitchFamily="34" charset="-122"/>
                <a:cs typeface="Arial" pitchFamily="34" charset="-120"/>
              </a:rPr>
              <a:t>Team Lead</a:t>
            </a:r>
            <a:endParaRPr lang="en-US" sz="1350" dirty="0"/>
          </a:p>
        </p:txBody>
      </p:sp>
      <p:sp>
        <p:nvSpPr>
          <p:cNvPr id="8" name="Text 6"/>
          <p:cNvSpPr txBox="1"/>
          <p:nvPr/>
        </p:nvSpPr>
        <p:spPr>
          <a:xfrm>
            <a:off x="3291840" y="1463040"/>
            <a:ext cx="5166360" cy="512064"/>
          </a:xfrm>
          <a:prstGeom prst="rect">
            <a:avLst/>
          </a:prstGeom>
          <a:noFill/>
          <a:ln/>
        </p:spPr>
        <p:txBody>
          <a:bodyPr wrap="square" lIns="0" tIns="0" rIns="0" bIns="0" rtlCol="0" anchor="ctr"/>
          <a:lstStyle/>
          <a:p>
            <a:pPr indent="0" marL="0">
              <a:buNone/>
            </a:pPr>
            <a:r>
              <a:rPr lang="en-US" sz="1100" dirty="0">
                <a:solidFill>
                  <a:srgbClr val="5A6572"/>
                </a:solidFill>
                <a:latin typeface="Calibri" pitchFamily="34" charset="0"/>
                <a:ea typeface="Calibri" pitchFamily="34" charset="-122"/>
                <a:cs typeface="Calibri" pitchFamily="34" charset="-120"/>
              </a:rPr>
              <a:t>Owns main. Reviews and merges other people's work. Decides what ships and when.</a:t>
            </a:r>
            <a:endParaRPr lang="en-US" sz="1100" dirty="0"/>
          </a:p>
        </p:txBody>
      </p:sp>
      <p:sp>
        <p:nvSpPr>
          <p:cNvPr id="9" name="Shape 7"/>
          <p:cNvSpPr/>
          <p:nvPr/>
        </p:nvSpPr>
        <p:spPr>
          <a:xfrm>
            <a:off x="502920" y="2167128"/>
            <a:ext cx="8183880" cy="694944"/>
          </a:xfrm>
          <a:prstGeom prst="roundRect">
            <a:avLst>
              <a:gd name="adj" fmla="val 7895"/>
            </a:avLst>
          </a:prstGeom>
          <a:solidFill>
            <a:srgbClr val="F3F5F7"/>
          </a:solidFill>
          <a:ln w="12700">
            <a:solidFill>
              <a:srgbClr val="D5DCE3"/>
            </a:solidFill>
            <a:prstDash val="solid"/>
          </a:ln>
        </p:spPr>
      </p:sp>
      <p:sp>
        <p:nvSpPr>
          <p:cNvPr id="10" name="Shape 8"/>
          <p:cNvSpPr/>
          <p:nvPr/>
        </p:nvSpPr>
        <p:spPr>
          <a:xfrm>
            <a:off x="713232" y="2322576"/>
            <a:ext cx="384048" cy="384048"/>
          </a:xfrm>
          <a:prstGeom prst="ellipse">
            <a:avLst/>
          </a:prstGeom>
          <a:solidFill>
            <a:srgbClr val="9A5B2E"/>
          </a:solidFill>
          <a:ln w="12700">
            <a:solidFill>
              <a:srgbClr val="9A5B2E"/>
            </a:solidFill>
            <a:prstDash val="solid"/>
          </a:ln>
        </p:spPr>
      </p:sp>
      <p:sp>
        <p:nvSpPr>
          <p:cNvPr id="11" name="Text 9"/>
          <p:cNvSpPr txBox="1"/>
          <p:nvPr/>
        </p:nvSpPr>
        <p:spPr>
          <a:xfrm>
            <a:off x="713232" y="23225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SR</a:t>
            </a:r>
            <a:endParaRPr lang="en-US" sz="1150" dirty="0"/>
          </a:p>
        </p:txBody>
      </p:sp>
      <p:sp>
        <p:nvSpPr>
          <p:cNvPr id="12" name="Text 10"/>
          <p:cNvSpPr txBox="1"/>
          <p:nvPr/>
        </p:nvSpPr>
        <p:spPr>
          <a:xfrm>
            <a:off x="1261872" y="2258568"/>
            <a:ext cx="2011680" cy="512064"/>
          </a:xfrm>
          <a:prstGeom prst="rect">
            <a:avLst/>
          </a:prstGeom>
          <a:noFill/>
          <a:ln/>
        </p:spPr>
        <p:txBody>
          <a:bodyPr wrap="square" lIns="0" tIns="0" rIns="0" bIns="0" rtlCol="0" anchor="ctr"/>
          <a:lstStyle/>
          <a:p>
            <a:pPr indent="0" marL="0">
              <a:buNone/>
            </a:pPr>
            <a:r>
              <a:rPr lang="en-US" sz="1350" b="1" dirty="0">
                <a:solidFill>
                  <a:srgbClr val="16191D"/>
                </a:solidFill>
                <a:latin typeface="Arial" pitchFamily="34" charset="0"/>
                <a:ea typeface="Arial" pitchFamily="34" charset="-122"/>
                <a:cs typeface="Arial" pitchFamily="34" charset="-120"/>
              </a:rPr>
              <a:t>Senior Developer</a:t>
            </a:r>
            <a:endParaRPr lang="en-US" sz="1350" dirty="0"/>
          </a:p>
        </p:txBody>
      </p:sp>
      <p:sp>
        <p:nvSpPr>
          <p:cNvPr id="13" name="Text 11"/>
          <p:cNvSpPr txBox="1"/>
          <p:nvPr/>
        </p:nvSpPr>
        <p:spPr>
          <a:xfrm>
            <a:off x="3291840" y="2258568"/>
            <a:ext cx="5166360" cy="512064"/>
          </a:xfrm>
          <a:prstGeom prst="rect">
            <a:avLst/>
          </a:prstGeom>
          <a:noFill/>
          <a:ln/>
        </p:spPr>
        <p:txBody>
          <a:bodyPr wrap="square" lIns="0" tIns="0" rIns="0" bIns="0" rtlCol="0" anchor="ctr"/>
          <a:lstStyle/>
          <a:p>
            <a:pPr indent="0" marL="0">
              <a:buNone/>
            </a:pPr>
            <a:r>
              <a:rPr lang="en-US" sz="1100" dirty="0">
                <a:solidFill>
                  <a:srgbClr val="5A6572"/>
                </a:solidFill>
                <a:latin typeface="Calibri" pitchFamily="34" charset="0"/>
                <a:ea typeface="Calibri" pitchFamily="34" charset="-122"/>
                <a:cs typeface="Calibri" pitchFamily="34" charset="-120"/>
              </a:rPr>
              <a:t>Builds features and reviews juniors' code. Usually the second reviewer on a change.</a:t>
            </a:r>
            <a:endParaRPr lang="en-US" sz="1100" dirty="0"/>
          </a:p>
        </p:txBody>
      </p:sp>
      <p:sp>
        <p:nvSpPr>
          <p:cNvPr id="14" name="Shape 12"/>
          <p:cNvSpPr/>
          <p:nvPr/>
        </p:nvSpPr>
        <p:spPr>
          <a:xfrm>
            <a:off x="502920" y="2962656"/>
            <a:ext cx="8183880" cy="694944"/>
          </a:xfrm>
          <a:prstGeom prst="roundRect">
            <a:avLst>
              <a:gd name="adj" fmla="val 7895"/>
            </a:avLst>
          </a:prstGeom>
          <a:solidFill>
            <a:srgbClr val="F4EFFC"/>
          </a:solidFill>
          <a:ln w="12700">
            <a:solidFill>
              <a:srgbClr val="D9C9F5"/>
            </a:solidFill>
            <a:prstDash val="solid"/>
          </a:ln>
        </p:spPr>
      </p:sp>
      <p:sp>
        <p:nvSpPr>
          <p:cNvPr id="15" name="Shape 13"/>
          <p:cNvSpPr/>
          <p:nvPr/>
        </p:nvSpPr>
        <p:spPr>
          <a:xfrm>
            <a:off x="713232" y="3118104"/>
            <a:ext cx="384048" cy="384048"/>
          </a:xfrm>
          <a:prstGeom prst="ellipse">
            <a:avLst/>
          </a:prstGeom>
          <a:solidFill>
            <a:srgbClr val="7B3FD4"/>
          </a:solidFill>
          <a:ln w="12700">
            <a:solidFill>
              <a:srgbClr val="7B3FD4"/>
            </a:solidFill>
            <a:prstDash val="solid"/>
          </a:ln>
        </p:spPr>
      </p:sp>
      <p:sp>
        <p:nvSpPr>
          <p:cNvPr id="16" name="Text 14"/>
          <p:cNvSpPr txBox="1"/>
          <p:nvPr/>
        </p:nvSpPr>
        <p:spPr>
          <a:xfrm>
            <a:off x="713232" y="3118104"/>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DEV</a:t>
            </a:r>
            <a:endParaRPr lang="en-US" sz="900" dirty="0"/>
          </a:p>
        </p:txBody>
      </p:sp>
      <p:sp>
        <p:nvSpPr>
          <p:cNvPr id="17" name="Text 15"/>
          <p:cNvSpPr txBox="1"/>
          <p:nvPr/>
        </p:nvSpPr>
        <p:spPr>
          <a:xfrm>
            <a:off x="1261872" y="3054096"/>
            <a:ext cx="2011680" cy="512064"/>
          </a:xfrm>
          <a:prstGeom prst="rect">
            <a:avLst/>
          </a:prstGeom>
          <a:noFill/>
          <a:ln/>
        </p:spPr>
        <p:txBody>
          <a:bodyPr wrap="square" lIns="0" tIns="0" rIns="0" bIns="0" rtlCol="0" anchor="ctr"/>
          <a:lstStyle/>
          <a:p>
            <a:pPr indent="0" marL="0">
              <a:buNone/>
            </a:pPr>
            <a:r>
              <a:rPr lang="en-US" sz="1350" b="1" dirty="0">
                <a:solidFill>
                  <a:srgbClr val="16191D"/>
                </a:solidFill>
                <a:latin typeface="Arial" pitchFamily="34" charset="0"/>
                <a:ea typeface="Arial" pitchFamily="34" charset="-122"/>
                <a:cs typeface="Arial" pitchFamily="34" charset="-120"/>
              </a:rPr>
              <a:t>Developer (you)</a:t>
            </a:r>
            <a:endParaRPr lang="en-US" sz="1350" dirty="0"/>
          </a:p>
        </p:txBody>
      </p:sp>
      <p:sp>
        <p:nvSpPr>
          <p:cNvPr id="18" name="Text 16"/>
          <p:cNvSpPr txBox="1"/>
          <p:nvPr/>
        </p:nvSpPr>
        <p:spPr>
          <a:xfrm>
            <a:off x="3291840" y="3054096"/>
            <a:ext cx="5166360" cy="512064"/>
          </a:xfrm>
          <a:prstGeom prst="rect">
            <a:avLst/>
          </a:prstGeom>
          <a:noFill/>
          <a:ln/>
        </p:spPr>
        <p:txBody>
          <a:bodyPr wrap="square" lIns="0" tIns="0" rIns="0" bIns="0" rtlCol="0" anchor="ctr"/>
          <a:lstStyle/>
          <a:p>
            <a:pPr indent="0" marL="0">
              <a:buNone/>
            </a:pPr>
            <a:r>
              <a:rPr lang="en-US" sz="1100" dirty="0">
                <a:solidFill>
                  <a:srgbClr val="5A6572"/>
                </a:solidFill>
                <a:latin typeface="Calibri" pitchFamily="34" charset="0"/>
                <a:ea typeface="Calibri" pitchFamily="34" charset="-122"/>
                <a:cs typeface="Calibri" pitchFamily="34" charset="-120"/>
              </a:rPr>
              <a:t>Picks a task, branches off main, writes code, raises a Pull Request, fixes review comments.</a:t>
            </a:r>
            <a:endParaRPr lang="en-US" sz="1100" dirty="0"/>
          </a:p>
        </p:txBody>
      </p:sp>
      <p:sp>
        <p:nvSpPr>
          <p:cNvPr id="19" name="Shape 17"/>
          <p:cNvSpPr/>
          <p:nvPr/>
        </p:nvSpPr>
        <p:spPr>
          <a:xfrm>
            <a:off x="502920" y="3758184"/>
            <a:ext cx="8183880" cy="694944"/>
          </a:xfrm>
          <a:prstGeom prst="roundRect">
            <a:avLst>
              <a:gd name="adj" fmla="val 7895"/>
            </a:avLst>
          </a:prstGeom>
          <a:solidFill>
            <a:srgbClr val="F3F5F7"/>
          </a:solidFill>
          <a:ln w="12700">
            <a:solidFill>
              <a:srgbClr val="D5DCE3"/>
            </a:solidFill>
            <a:prstDash val="solid"/>
          </a:ln>
        </p:spPr>
      </p:sp>
      <p:sp>
        <p:nvSpPr>
          <p:cNvPr id="20" name="Shape 18"/>
          <p:cNvSpPr/>
          <p:nvPr/>
        </p:nvSpPr>
        <p:spPr>
          <a:xfrm>
            <a:off x="713232" y="3913632"/>
            <a:ext cx="384048" cy="384048"/>
          </a:xfrm>
          <a:prstGeom prst="ellipse">
            <a:avLst/>
          </a:prstGeom>
          <a:solidFill>
            <a:srgbClr val="1F8A42"/>
          </a:solidFill>
          <a:ln w="12700">
            <a:solidFill>
              <a:srgbClr val="1F8A42"/>
            </a:solidFill>
            <a:prstDash val="solid"/>
          </a:ln>
        </p:spPr>
      </p:sp>
      <p:sp>
        <p:nvSpPr>
          <p:cNvPr id="21" name="Text 19"/>
          <p:cNvSpPr txBox="1"/>
          <p:nvPr/>
        </p:nvSpPr>
        <p:spPr>
          <a:xfrm>
            <a:off x="713232" y="391363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QA</a:t>
            </a:r>
            <a:endParaRPr lang="en-US" sz="1150" dirty="0"/>
          </a:p>
        </p:txBody>
      </p:sp>
      <p:sp>
        <p:nvSpPr>
          <p:cNvPr id="22" name="Text 20"/>
          <p:cNvSpPr txBox="1"/>
          <p:nvPr/>
        </p:nvSpPr>
        <p:spPr>
          <a:xfrm>
            <a:off x="1261872" y="3849624"/>
            <a:ext cx="2011680" cy="512064"/>
          </a:xfrm>
          <a:prstGeom prst="rect">
            <a:avLst/>
          </a:prstGeom>
          <a:noFill/>
          <a:ln/>
        </p:spPr>
        <p:txBody>
          <a:bodyPr wrap="square" lIns="0" tIns="0" rIns="0" bIns="0" rtlCol="0" anchor="ctr"/>
          <a:lstStyle/>
          <a:p>
            <a:pPr indent="0" marL="0">
              <a:buNone/>
            </a:pPr>
            <a:r>
              <a:rPr lang="en-US" sz="1350" b="1" dirty="0">
                <a:solidFill>
                  <a:srgbClr val="16191D"/>
                </a:solidFill>
                <a:latin typeface="Arial" pitchFamily="34" charset="0"/>
                <a:ea typeface="Arial" pitchFamily="34" charset="-122"/>
                <a:cs typeface="Arial" pitchFamily="34" charset="-120"/>
              </a:rPr>
              <a:t>Tester</a:t>
            </a:r>
            <a:endParaRPr lang="en-US" sz="1350" dirty="0"/>
          </a:p>
        </p:txBody>
      </p:sp>
      <p:sp>
        <p:nvSpPr>
          <p:cNvPr id="23" name="Text 21"/>
          <p:cNvSpPr txBox="1"/>
          <p:nvPr/>
        </p:nvSpPr>
        <p:spPr>
          <a:xfrm>
            <a:off x="3291840" y="3849624"/>
            <a:ext cx="5166360" cy="512064"/>
          </a:xfrm>
          <a:prstGeom prst="rect">
            <a:avLst/>
          </a:prstGeom>
          <a:noFill/>
          <a:ln/>
        </p:spPr>
        <p:txBody>
          <a:bodyPr wrap="square" lIns="0" tIns="0" rIns="0" bIns="0" rtlCol="0" anchor="ctr"/>
          <a:lstStyle/>
          <a:p>
            <a:pPr indent="0" marL="0">
              <a:buNone/>
            </a:pPr>
            <a:r>
              <a:rPr lang="en-US" sz="1100" dirty="0">
                <a:solidFill>
                  <a:srgbClr val="5A6572"/>
                </a:solidFill>
                <a:latin typeface="Calibri" pitchFamily="34" charset="0"/>
                <a:ea typeface="Calibri" pitchFamily="34" charset="-122"/>
                <a:cs typeface="Calibri" pitchFamily="34" charset="-120"/>
              </a:rPr>
              <a:t>Pulls your branch, tests it before it reaches main. Reports bugs back on the PR.</a:t>
            </a:r>
            <a:endParaRPr lang="en-US" sz="1100" dirty="0"/>
          </a:p>
        </p:txBody>
      </p:sp>
      <p:sp>
        <p:nvSpPr>
          <p:cNvPr id="24" name="Text 22"/>
          <p:cNvSpPr txBox="1"/>
          <p:nvPr/>
        </p:nvSpPr>
        <p:spPr>
          <a:xfrm>
            <a:off x="502920" y="4590288"/>
            <a:ext cx="8183880" cy="274320"/>
          </a:xfrm>
          <a:prstGeom prst="rect">
            <a:avLst/>
          </a:prstGeom>
          <a:noFill/>
          <a:ln/>
        </p:spPr>
        <p:txBody>
          <a:bodyPr wrap="square" lIns="0" tIns="0" rIns="0" bIns="0" rtlCol="0" anchor="ctr"/>
          <a:lstStyle/>
          <a:p>
            <a:pPr indent="0" marL="0">
              <a:buNone/>
            </a:pPr>
            <a:r>
              <a:rPr lang="en-US" sz="1150" b="1" dirty="0">
                <a:solidFill>
                  <a:srgbClr val="7B3FD4"/>
                </a:solidFill>
                <a:latin typeface="Calibri" pitchFamily="34" charset="0"/>
                <a:ea typeface="Calibri" pitchFamily="34" charset="-122"/>
                <a:cs typeface="Calibri" pitchFamily="34" charset="-120"/>
              </a:rPr>
              <a:t>As a fresher you are DEV. Your code will be read by a human before it reaches main — every single time.</a:t>
            </a:r>
            <a:endParaRPr lang="en-US" sz="1150" dirty="0"/>
          </a:p>
        </p:txBody>
      </p:sp>
      <p:sp>
        <p:nvSpPr>
          <p:cNvPr id="25" name="Text 23"/>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OUR STORY FOR THE NEXT TWO SESSIONS</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FFFFFF"/>
                </a:solidFill>
                <a:latin typeface="Arial" pitchFamily="34" charset="0"/>
                <a:ea typeface="Arial" pitchFamily="34" charset="-122"/>
                <a:cs typeface="Arial" pitchFamily="34" charset="-120"/>
              </a:rPr>
              <a:t>Meet the team building CampusCart</a:t>
            </a:r>
            <a:endParaRPr lang="en-US" sz="2900" dirty="0"/>
          </a:p>
        </p:txBody>
      </p:sp>
      <p:sp>
        <p:nvSpPr>
          <p:cNvPr id="4" name="Shape 2"/>
          <p:cNvSpPr/>
          <p:nvPr/>
        </p:nvSpPr>
        <p:spPr>
          <a:xfrm>
            <a:off x="502920" y="1417320"/>
            <a:ext cx="3977640" cy="1828800"/>
          </a:xfrm>
          <a:prstGeom prst="roundRect">
            <a:avLst>
              <a:gd name="adj" fmla="val 3000"/>
            </a:avLst>
          </a:prstGeom>
          <a:solidFill>
            <a:srgbClr val="20252B"/>
          </a:solidFill>
          <a:ln w="12700">
            <a:solidFill>
              <a:srgbClr val="3A424C"/>
            </a:solidFill>
            <a:prstDash val="solid"/>
          </a:ln>
        </p:spPr>
      </p:sp>
      <p:sp>
        <p:nvSpPr>
          <p:cNvPr id="5" name="Shape 3"/>
          <p:cNvSpPr/>
          <p:nvPr/>
        </p:nvSpPr>
        <p:spPr>
          <a:xfrm>
            <a:off x="777240" y="1645920"/>
            <a:ext cx="457200" cy="457200"/>
          </a:xfrm>
          <a:prstGeom prst="ellipse">
            <a:avLst/>
          </a:prstGeom>
          <a:solidFill>
            <a:srgbClr val="E04A29"/>
          </a:solidFill>
          <a:ln w="12700">
            <a:solidFill>
              <a:srgbClr val="E04A29"/>
            </a:solidFill>
            <a:prstDash val="solid"/>
          </a:ln>
        </p:spPr>
      </p:sp>
      <p:sp>
        <p:nvSpPr>
          <p:cNvPr id="6" name="Text 4"/>
          <p:cNvSpPr txBox="1"/>
          <p:nvPr/>
        </p:nvSpPr>
        <p:spPr>
          <a:xfrm>
            <a:off x="777240" y="16459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TL</a:t>
            </a:r>
            <a:endParaRPr lang="en-US" sz="1200" dirty="0"/>
          </a:p>
        </p:txBody>
      </p:sp>
      <p:sp>
        <p:nvSpPr>
          <p:cNvPr id="7" name="Text 5"/>
          <p:cNvSpPr txBox="1"/>
          <p:nvPr/>
        </p:nvSpPr>
        <p:spPr>
          <a:xfrm>
            <a:off x="1371600" y="1645920"/>
            <a:ext cx="2926080" cy="457200"/>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Meera — Team Lead</a:t>
            </a:r>
            <a:endParaRPr lang="en-US" sz="1550" dirty="0"/>
          </a:p>
        </p:txBody>
      </p:sp>
      <p:sp>
        <p:nvSpPr>
          <p:cNvPr id="8" name="Text 6"/>
          <p:cNvSpPr txBox="1"/>
          <p:nvPr/>
        </p:nvSpPr>
        <p:spPr>
          <a:xfrm>
            <a:off x="822960" y="2240280"/>
            <a:ext cx="3383280" cy="91440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C9D1D9"/>
                </a:solidFill>
                <a:latin typeface="Calibri" pitchFamily="34" charset="0"/>
                <a:ea typeface="Calibri" pitchFamily="34" charset="-122"/>
                <a:cs typeface="Calibri" pitchFamily="34" charset="-120"/>
              </a:rPr>
              <a:t>Created the repo, owns main</a:t>
            </a:r>
            <a:endParaRPr lang="en-US" sz="1150" dirty="0"/>
          </a:p>
          <a:p>
            <a:pPr marL="177800" indent="-177800">
              <a:spcAft>
                <a:spcPts val="700"/>
              </a:spcAft>
              <a:buSzPct val="100000"/>
              <a:buChar char="•"/>
            </a:pPr>
            <a:r>
              <a:rPr lang="en-US" sz="1150" dirty="0">
                <a:solidFill>
                  <a:srgbClr val="C9D1D9"/>
                </a:solidFill>
                <a:latin typeface="Calibri" pitchFamily="34" charset="0"/>
                <a:ea typeface="Calibri" pitchFamily="34" charset="-122"/>
                <a:cs typeface="Calibri" pitchFamily="34" charset="-120"/>
              </a:rPr>
              <a:t>Reviews and merges every change</a:t>
            </a:r>
            <a:endParaRPr lang="en-US" sz="1150" dirty="0"/>
          </a:p>
          <a:p>
            <a:pPr marL="177800" indent="-177800">
              <a:spcAft>
                <a:spcPts val="700"/>
              </a:spcAft>
              <a:buSzPct val="100000"/>
              <a:buChar char="•"/>
            </a:pPr>
            <a:r>
              <a:rPr lang="en-US" sz="1150" dirty="0">
                <a:solidFill>
                  <a:srgbClr val="C9D1D9"/>
                </a:solidFill>
                <a:latin typeface="Calibri" pitchFamily="34" charset="0"/>
                <a:ea typeface="Calibri" pitchFamily="34" charset="-122"/>
                <a:cs typeface="Calibri" pitchFamily="34" charset="-120"/>
              </a:rPr>
              <a:t>Also writes features — order history</a:t>
            </a:r>
            <a:endParaRPr lang="en-US" sz="1150" dirty="0"/>
          </a:p>
        </p:txBody>
      </p:sp>
      <p:sp>
        <p:nvSpPr>
          <p:cNvPr id="9" name="Shape 7"/>
          <p:cNvSpPr/>
          <p:nvPr/>
        </p:nvSpPr>
        <p:spPr>
          <a:xfrm>
            <a:off x="4709160" y="1417320"/>
            <a:ext cx="3977640" cy="1828800"/>
          </a:xfrm>
          <a:prstGeom prst="roundRect">
            <a:avLst>
              <a:gd name="adj" fmla="val 3000"/>
            </a:avLst>
          </a:prstGeom>
          <a:solidFill>
            <a:srgbClr val="20252B"/>
          </a:solidFill>
          <a:ln w="12700">
            <a:solidFill>
              <a:srgbClr val="3A424C"/>
            </a:solidFill>
            <a:prstDash val="solid"/>
          </a:ln>
        </p:spPr>
      </p:sp>
      <p:sp>
        <p:nvSpPr>
          <p:cNvPr id="10" name="Shape 8"/>
          <p:cNvSpPr/>
          <p:nvPr/>
        </p:nvSpPr>
        <p:spPr>
          <a:xfrm>
            <a:off x="4983480" y="1645920"/>
            <a:ext cx="457200" cy="457200"/>
          </a:xfrm>
          <a:prstGeom prst="ellipse">
            <a:avLst/>
          </a:prstGeom>
          <a:solidFill>
            <a:srgbClr val="7B3FD4"/>
          </a:solidFill>
          <a:ln w="12700">
            <a:solidFill>
              <a:srgbClr val="7B3FD4"/>
            </a:solidFill>
            <a:prstDash val="solid"/>
          </a:ln>
        </p:spPr>
      </p:sp>
      <p:sp>
        <p:nvSpPr>
          <p:cNvPr id="11" name="Text 9"/>
          <p:cNvSpPr txBox="1"/>
          <p:nvPr/>
        </p:nvSpPr>
        <p:spPr>
          <a:xfrm>
            <a:off x="4983480" y="1645920"/>
            <a:ext cx="45720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DEV</a:t>
            </a:r>
            <a:endParaRPr lang="en-US" sz="1050" dirty="0"/>
          </a:p>
        </p:txBody>
      </p:sp>
      <p:sp>
        <p:nvSpPr>
          <p:cNvPr id="12" name="Text 10"/>
          <p:cNvSpPr txBox="1"/>
          <p:nvPr/>
        </p:nvSpPr>
        <p:spPr>
          <a:xfrm>
            <a:off x="5577840" y="1645920"/>
            <a:ext cx="2926080" cy="457200"/>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Arjun — Developer</a:t>
            </a:r>
            <a:endParaRPr lang="en-US" sz="1550" dirty="0"/>
          </a:p>
        </p:txBody>
      </p:sp>
      <p:sp>
        <p:nvSpPr>
          <p:cNvPr id="13" name="Text 11"/>
          <p:cNvSpPr txBox="1"/>
          <p:nvPr/>
        </p:nvSpPr>
        <p:spPr>
          <a:xfrm>
            <a:off x="5029200" y="2240280"/>
            <a:ext cx="3383280" cy="91440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C9D1D9"/>
                </a:solidFill>
                <a:latin typeface="Calibri" pitchFamily="34" charset="0"/>
                <a:ea typeface="Calibri" pitchFamily="34" charset="-122"/>
                <a:cs typeface="Calibri" pitchFamily="34" charset="-120"/>
              </a:rPr>
              <a:t>Joined this week, Write access</a:t>
            </a:r>
            <a:endParaRPr lang="en-US" sz="1150" dirty="0"/>
          </a:p>
          <a:p>
            <a:pPr marL="177800" indent="-177800">
              <a:spcAft>
                <a:spcPts val="700"/>
              </a:spcAft>
              <a:buSzPct val="100000"/>
              <a:buChar char="•"/>
            </a:pPr>
            <a:r>
              <a:rPr lang="en-US" sz="1150" dirty="0">
                <a:solidFill>
                  <a:srgbClr val="C9D1D9"/>
                </a:solidFill>
                <a:latin typeface="Calibri" pitchFamily="34" charset="0"/>
                <a:ea typeface="Calibri" pitchFamily="34" charset="-122"/>
                <a:cs typeface="Calibri" pitchFamily="34" charset="-120"/>
              </a:rPr>
              <a:t>Never touches main directly</a:t>
            </a:r>
            <a:endParaRPr lang="en-US" sz="1150" dirty="0"/>
          </a:p>
          <a:p>
            <a:pPr marL="177800" indent="-177800">
              <a:spcAft>
                <a:spcPts val="700"/>
              </a:spcAft>
              <a:buSzPct val="100000"/>
              <a:buChar char="•"/>
            </a:pPr>
            <a:r>
              <a:rPr lang="en-US" sz="1150" dirty="0">
                <a:solidFill>
                  <a:srgbClr val="C9D1D9"/>
                </a:solidFill>
                <a:latin typeface="Calibri" pitchFamily="34" charset="0"/>
                <a:ea typeface="Calibri" pitchFamily="34" charset="-122"/>
                <a:cs typeface="Calibri" pitchFamily="34" charset="-120"/>
              </a:rPr>
              <a:t>Building product search</a:t>
            </a:r>
            <a:endParaRPr lang="en-US" sz="1150" dirty="0"/>
          </a:p>
        </p:txBody>
      </p:sp>
      <p:sp>
        <p:nvSpPr>
          <p:cNvPr id="14" name="Shape 12"/>
          <p:cNvSpPr/>
          <p:nvPr/>
        </p:nvSpPr>
        <p:spPr>
          <a:xfrm>
            <a:off x="502920" y="3429000"/>
            <a:ext cx="8183880" cy="960120"/>
          </a:xfrm>
          <a:prstGeom prst="roundRect">
            <a:avLst>
              <a:gd name="adj" fmla="val 5714"/>
            </a:avLst>
          </a:prstGeom>
          <a:solidFill>
            <a:srgbClr val="20252B"/>
          </a:solidFill>
          <a:ln w="12700">
            <a:solidFill>
              <a:srgbClr val="3A424C"/>
            </a:solidFill>
            <a:prstDash val="solid"/>
          </a:ln>
        </p:spPr>
      </p:sp>
      <p:sp>
        <p:nvSpPr>
          <p:cNvPr id="15" name="Text 13"/>
          <p:cNvSpPr txBox="1"/>
          <p:nvPr/>
        </p:nvSpPr>
        <p:spPr>
          <a:xfrm>
            <a:off x="777240" y="3547872"/>
            <a:ext cx="2743200" cy="237744"/>
          </a:xfrm>
          <a:prstGeom prst="rect">
            <a:avLst/>
          </a:prstGeom>
          <a:noFill/>
          <a:ln/>
        </p:spPr>
        <p:txBody>
          <a:bodyPr wrap="square" lIns="0" tIns="0" rIns="0" bIns="0" rtlCol="0" anchor="ctr"/>
          <a:lstStyle/>
          <a:p>
            <a:pPr indent="0" marL="0">
              <a:buNone/>
            </a:pPr>
            <a:r>
              <a:rPr lang="en-US" sz="950" b="1" spc="200" kern="0" dirty="0">
                <a:solidFill>
                  <a:srgbClr val="8B949E"/>
                </a:solidFill>
                <a:latin typeface="Arial" pitchFamily="34" charset="0"/>
                <a:ea typeface="Arial" pitchFamily="34" charset="-122"/>
                <a:cs typeface="Arial" pitchFamily="34" charset="-120"/>
              </a:rPr>
              <a:t>THE REPOSITORY</a:t>
            </a:r>
            <a:endParaRPr lang="en-US" sz="950" dirty="0"/>
          </a:p>
        </p:txBody>
      </p:sp>
      <p:sp>
        <p:nvSpPr>
          <p:cNvPr id="16" name="Text 14"/>
          <p:cNvSpPr txBox="1"/>
          <p:nvPr/>
        </p:nvSpPr>
        <p:spPr>
          <a:xfrm>
            <a:off x="777240" y="3785616"/>
            <a:ext cx="4206240" cy="292608"/>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github.com/ksr-training/campuscart</a:t>
            </a:r>
            <a:endParaRPr lang="en-US" sz="1300" dirty="0"/>
          </a:p>
        </p:txBody>
      </p:sp>
      <p:sp>
        <p:nvSpPr>
          <p:cNvPr id="17" name="Shape 15"/>
          <p:cNvSpPr/>
          <p:nvPr/>
        </p:nvSpPr>
        <p:spPr>
          <a:xfrm>
            <a:off x="5212080" y="3730752"/>
            <a:ext cx="1508760" cy="365760"/>
          </a:xfrm>
          <a:prstGeom prst="roundRect">
            <a:avLst>
              <a:gd name="adj" fmla="val 20000"/>
            </a:avLst>
          </a:prstGeom>
          <a:solidFill>
            <a:srgbClr val="1F8A42"/>
          </a:solidFill>
          <a:ln w="12700">
            <a:solidFill>
              <a:srgbClr val="1F8A42"/>
            </a:solidFill>
            <a:prstDash val="solid"/>
          </a:ln>
        </p:spPr>
      </p:sp>
      <p:sp>
        <p:nvSpPr>
          <p:cNvPr id="18" name="Text 16"/>
          <p:cNvSpPr txBox="1"/>
          <p:nvPr/>
        </p:nvSpPr>
        <p:spPr>
          <a:xfrm>
            <a:off x="5212080" y="3730752"/>
            <a:ext cx="1508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main</a:t>
            </a:r>
            <a:endParaRPr lang="en-US" sz="1100" dirty="0"/>
          </a:p>
        </p:txBody>
      </p:sp>
      <p:sp>
        <p:nvSpPr>
          <p:cNvPr id="19" name="Text 17"/>
          <p:cNvSpPr txBox="1"/>
          <p:nvPr/>
        </p:nvSpPr>
        <p:spPr>
          <a:xfrm>
            <a:off x="6858000" y="3675888"/>
            <a:ext cx="1645920" cy="457200"/>
          </a:xfrm>
          <a:prstGeom prst="rect">
            <a:avLst/>
          </a:prstGeom>
          <a:noFill/>
          <a:ln/>
        </p:spPr>
        <p:txBody>
          <a:bodyPr wrap="square" lIns="0" tIns="0" rIns="0" bIns="0" rtlCol="0" anchor="ctr"/>
          <a:lstStyle/>
          <a:p>
            <a:pPr indent="0" marL="0">
              <a:lnSpc>
                <a:spcPct val="120000"/>
              </a:lnSpc>
              <a:buNone/>
            </a:pPr>
            <a:r>
              <a:rPr lang="en-US" sz="950" dirty="0">
                <a:solidFill>
                  <a:srgbClr val="8B949E"/>
                </a:solidFill>
                <a:latin typeface="Calibri" pitchFamily="34" charset="0"/>
                <a:ea typeface="Calibri" pitchFamily="34" charset="-122"/>
                <a:cs typeface="Calibri" pitchFamily="34" charset="-120"/>
              </a:rPr>
              <a:t>default branch</a:t>
            </a:r>
            <a:endParaRPr lang="en-US" sz="950" dirty="0"/>
          </a:p>
          <a:p>
            <a:pPr indent="0" marL="0">
              <a:lnSpc>
                <a:spcPct val="120000"/>
              </a:lnSpc>
              <a:buNone/>
            </a:pPr>
            <a:r>
              <a:rPr lang="en-US" sz="950" dirty="0">
                <a:solidFill>
                  <a:srgbClr val="8B949E"/>
                </a:solidFill>
                <a:latin typeface="Calibri" pitchFamily="34" charset="0"/>
                <a:ea typeface="Calibri" pitchFamily="34" charset="-122"/>
                <a:cs typeface="Calibri" pitchFamily="34" charset="-120"/>
              </a:rPr>
              <a:t>always working</a:t>
            </a:r>
            <a:endParaRPr lang="en-US" sz="950" dirty="0"/>
          </a:p>
        </p:txBody>
      </p:sp>
      <p:sp>
        <p:nvSpPr>
          <p:cNvPr id="20" name="Text 18"/>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5A6572"/>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HOW I WILL PLAY TWO PEOPLE</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16191D"/>
                </a:solidFill>
                <a:latin typeface="Arial" pitchFamily="34" charset="0"/>
                <a:ea typeface="Arial" pitchFamily="34" charset="-122"/>
                <a:cs typeface="Arial" pitchFamily="34" charset="-120"/>
              </a:rPr>
              <a:t>One laptop, two clones, two terminals</a:t>
            </a:r>
            <a:endParaRPr lang="en-US" sz="2900" dirty="0"/>
          </a:p>
        </p:txBody>
      </p:sp>
      <p:sp>
        <p:nvSpPr>
          <p:cNvPr id="4" name="Shape 2"/>
          <p:cNvSpPr/>
          <p:nvPr/>
        </p:nvSpPr>
        <p:spPr>
          <a:xfrm>
            <a:off x="502920" y="1371600"/>
            <a:ext cx="3977640" cy="1371600"/>
          </a:xfrm>
          <a:prstGeom prst="roundRect">
            <a:avLst>
              <a:gd name="adj" fmla="val 4000"/>
            </a:avLst>
          </a:prstGeom>
          <a:solidFill>
            <a:srgbClr val="FCEEE9"/>
          </a:solidFill>
          <a:ln w="12700">
            <a:solidFill>
              <a:srgbClr val="F2CBBC"/>
            </a:solidFill>
            <a:prstDash val="solid"/>
          </a:ln>
        </p:spPr>
      </p:sp>
      <p:sp>
        <p:nvSpPr>
          <p:cNvPr id="5" name="Shape 3"/>
          <p:cNvSpPr/>
          <p:nvPr/>
        </p:nvSpPr>
        <p:spPr>
          <a:xfrm>
            <a:off x="731520" y="1572768"/>
            <a:ext cx="384048" cy="384048"/>
          </a:xfrm>
          <a:prstGeom prst="ellipse">
            <a:avLst/>
          </a:prstGeom>
          <a:solidFill>
            <a:srgbClr val="E04A29"/>
          </a:solidFill>
          <a:ln w="12700">
            <a:solidFill>
              <a:srgbClr val="E04A29"/>
            </a:solidFill>
            <a:prstDash val="solid"/>
          </a:ln>
        </p:spPr>
      </p:sp>
      <p:sp>
        <p:nvSpPr>
          <p:cNvPr id="6" name="Text 4"/>
          <p:cNvSpPr txBox="1"/>
          <p:nvPr/>
        </p:nvSpPr>
        <p:spPr>
          <a:xfrm>
            <a:off x="731520" y="157276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TL</a:t>
            </a:r>
            <a:endParaRPr lang="en-US" sz="1150" dirty="0"/>
          </a:p>
        </p:txBody>
      </p:sp>
      <p:sp>
        <p:nvSpPr>
          <p:cNvPr id="7" name="Text 5"/>
          <p:cNvSpPr txBox="1"/>
          <p:nvPr/>
        </p:nvSpPr>
        <p:spPr>
          <a:xfrm>
            <a:off x="1280160" y="1572768"/>
            <a:ext cx="3017520" cy="384048"/>
          </a:xfrm>
          <a:prstGeom prst="rect">
            <a:avLst/>
          </a:prstGeom>
          <a:noFill/>
          <a:ln/>
        </p:spPr>
        <p:txBody>
          <a:bodyPr wrap="square" lIns="0" tIns="0" rIns="0" bIns="0" rtlCol="0" anchor="ctr"/>
          <a:lstStyle/>
          <a:p>
            <a:pPr indent="0" marL="0">
              <a:buNone/>
            </a:pPr>
            <a:r>
              <a:rPr lang="en-US" sz="1300" b="1" dirty="0">
                <a:solidFill>
                  <a:srgbClr val="16191D"/>
                </a:solidFill>
                <a:latin typeface="Arial" pitchFamily="34" charset="0"/>
                <a:ea typeface="Arial" pitchFamily="34" charset="-122"/>
                <a:cs typeface="Arial" pitchFamily="34" charset="-120"/>
              </a:rPr>
              <a:t>Terminal tab 1 — Meera</a:t>
            </a:r>
            <a:endParaRPr lang="en-US" sz="1300" dirty="0"/>
          </a:p>
        </p:txBody>
      </p:sp>
      <p:sp>
        <p:nvSpPr>
          <p:cNvPr id="8" name="Text 6"/>
          <p:cNvSpPr txBox="1"/>
          <p:nvPr/>
        </p:nvSpPr>
        <p:spPr>
          <a:xfrm>
            <a:off x="777240" y="2066544"/>
            <a:ext cx="3566160" cy="274320"/>
          </a:xfrm>
          <a:prstGeom prst="rect">
            <a:avLst/>
          </a:prstGeom>
          <a:noFill/>
          <a:ln/>
        </p:spPr>
        <p:txBody>
          <a:bodyPr wrap="square" lIns="0" tIns="0" rIns="0" bIns="0" rtlCol="0" anchor="ctr"/>
          <a:lstStyle/>
          <a:p>
            <a:pPr indent="0" marL="0">
              <a:buNone/>
            </a:pPr>
            <a:r>
              <a:rPr lang="en-US" sz="1200" b="1" dirty="0">
                <a:solidFill>
                  <a:srgbClr val="E04A29"/>
                </a:solidFill>
                <a:latin typeface="Courier New" pitchFamily="34" charset="0"/>
                <a:ea typeface="Courier New" pitchFamily="34" charset="-122"/>
                <a:cs typeface="Courier New" pitchFamily="34" charset="-120"/>
              </a:rPr>
              <a:t>~/gitdemo/TL_campuscart</a:t>
            </a:r>
            <a:endParaRPr lang="en-US" sz="1200" dirty="0"/>
          </a:p>
        </p:txBody>
      </p:sp>
      <p:sp>
        <p:nvSpPr>
          <p:cNvPr id="9" name="Text 7"/>
          <p:cNvSpPr txBox="1"/>
          <p:nvPr/>
        </p:nvSpPr>
        <p:spPr>
          <a:xfrm>
            <a:off x="777240" y="2359152"/>
            <a:ext cx="3566160" cy="274320"/>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Everything I type here, Meera typed.</a:t>
            </a:r>
            <a:endParaRPr lang="en-US" sz="1050" dirty="0"/>
          </a:p>
        </p:txBody>
      </p:sp>
      <p:sp>
        <p:nvSpPr>
          <p:cNvPr id="10" name="Shape 8"/>
          <p:cNvSpPr/>
          <p:nvPr/>
        </p:nvSpPr>
        <p:spPr>
          <a:xfrm>
            <a:off x="4709160" y="1371600"/>
            <a:ext cx="3977640" cy="1371600"/>
          </a:xfrm>
          <a:prstGeom prst="roundRect">
            <a:avLst>
              <a:gd name="adj" fmla="val 4000"/>
            </a:avLst>
          </a:prstGeom>
          <a:solidFill>
            <a:srgbClr val="F4EFFC"/>
          </a:solidFill>
          <a:ln w="12700">
            <a:solidFill>
              <a:srgbClr val="D9C9F5"/>
            </a:solidFill>
            <a:prstDash val="solid"/>
          </a:ln>
        </p:spPr>
      </p:sp>
      <p:sp>
        <p:nvSpPr>
          <p:cNvPr id="11" name="Shape 9"/>
          <p:cNvSpPr/>
          <p:nvPr/>
        </p:nvSpPr>
        <p:spPr>
          <a:xfrm>
            <a:off x="4937760" y="1572768"/>
            <a:ext cx="384048" cy="384048"/>
          </a:xfrm>
          <a:prstGeom prst="ellipse">
            <a:avLst/>
          </a:prstGeom>
          <a:solidFill>
            <a:srgbClr val="7B3FD4"/>
          </a:solidFill>
          <a:ln w="12700">
            <a:solidFill>
              <a:srgbClr val="7B3FD4"/>
            </a:solidFill>
            <a:prstDash val="solid"/>
          </a:ln>
        </p:spPr>
      </p:sp>
      <p:sp>
        <p:nvSpPr>
          <p:cNvPr id="12" name="Text 10"/>
          <p:cNvSpPr txBox="1"/>
          <p:nvPr/>
        </p:nvSpPr>
        <p:spPr>
          <a:xfrm>
            <a:off x="4937760" y="1572768"/>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DEV</a:t>
            </a:r>
            <a:endParaRPr lang="en-US" sz="900" dirty="0"/>
          </a:p>
        </p:txBody>
      </p:sp>
      <p:sp>
        <p:nvSpPr>
          <p:cNvPr id="13" name="Text 11"/>
          <p:cNvSpPr txBox="1"/>
          <p:nvPr/>
        </p:nvSpPr>
        <p:spPr>
          <a:xfrm>
            <a:off x="5486400" y="1572768"/>
            <a:ext cx="3017520" cy="384048"/>
          </a:xfrm>
          <a:prstGeom prst="rect">
            <a:avLst/>
          </a:prstGeom>
          <a:noFill/>
          <a:ln/>
        </p:spPr>
        <p:txBody>
          <a:bodyPr wrap="square" lIns="0" tIns="0" rIns="0" bIns="0" rtlCol="0" anchor="ctr"/>
          <a:lstStyle/>
          <a:p>
            <a:pPr indent="0" marL="0">
              <a:buNone/>
            </a:pPr>
            <a:r>
              <a:rPr lang="en-US" sz="1300" b="1" dirty="0">
                <a:solidFill>
                  <a:srgbClr val="16191D"/>
                </a:solidFill>
                <a:latin typeface="Arial" pitchFamily="34" charset="0"/>
                <a:ea typeface="Arial" pitchFamily="34" charset="-122"/>
                <a:cs typeface="Arial" pitchFamily="34" charset="-120"/>
              </a:rPr>
              <a:t>Terminal tab 2 — Arjun</a:t>
            </a:r>
            <a:endParaRPr lang="en-US" sz="1300" dirty="0"/>
          </a:p>
        </p:txBody>
      </p:sp>
      <p:sp>
        <p:nvSpPr>
          <p:cNvPr id="14" name="Text 12"/>
          <p:cNvSpPr txBox="1"/>
          <p:nvPr/>
        </p:nvSpPr>
        <p:spPr>
          <a:xfrm>
            <a:off x="4983480" y="2066544"/>
            <a:ext cx="3566160" cy="274320"/>
          </a:xfrm>
          <a:prstGeom prst="rect">
            <a:avLst/>
          </a:prstGeom>
          <a:noFill/>
          <a:ln/>
        </p:spPr>
        <p:txBody>
          <a:bodyPr wrap="square" lIns="0" tIns="0" rIns="0" bIns="0" rtlCol="0" anchor="ctr"/>
          <a:lstStyle/>
          <a:p>
            <a:pPr indent="0" marL="0">
              <a:buNone/>
            </a:pPr>
            <a:r>
              <a:rPr lang="en-US" sz="1200" b="1" dirty="0">
                <a:solidFill>
                  <a:srgbClr val="7B3FD4"/>
                </a:solidFill>
                <a:latin typeface="Courier New" pitchFamily="34" charset="0"/>
                <a:ea typeface="Courier New" pitchFamily="34" charset="-122"/>
                <a:cs typeface="Courier New" pitchFamily="34" charset="-120"/>
              </a:rPr>
              <a:t>~/gitdemo/DEV_campuscart</a:t>
            </a:r>
            <a:endParaRPr lang="en-US" sz="1200" dirty="0"/>
          </a:p>
        </p:txBody>
      </p:sp>
      <p:sp>
        <p:nvSpPr>
          <p:cNvPr id="15" name="Text 13"/>
          <p:cNvSpPr txBox="1"/>
          <p:nvPr/>
        </p:nvSpPr>
        <p:spPr>
          <a:xfrm>
            <a:off x="4983480" y="2359152"/>
            <a:ext cx="3566160" cy="274320"/>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Everything I type here, Arjun typed.</a:t>
            </a:r>
            <a:endParaRPr lang="en-US" sz="1050" dirty="0"/>
          </a:p>
        </p:txBody>
      </p:sp>
      <p:sp>
        <p:nvSpPr>
          <p:cNvPr id="16" name="Shape 14"/>
          <p:cNvSpPr/>
          <p:nvPr/>
        </p:nvSpPr>
        <p:spPr>
          <a:xfrm>
            <a:off x="502920" y="2926080"/>
            <a:ext cx="8183880" cy="1508760"/>
          </a:xfrm>
          <a:prstGeom prst="roundRect">
            <a:avLst>
              <a:gd name="adj" fmla="val 3636"/>
            </a:avLst>
          </a:prstGeom>
          <a:solidFill>
            <a:srgbClr val="F3F5F7"/>
          </a:solidFill>
          <a:ln w="12700">
            <a:solidFill>
              <a:srgbClr val="D5DCE3"/>
            </a:solidFill>
            <a:prstDash val="solid"/>
          </a:ln>
        </p:spPr>
      </p:sp>
      <p:sp>
        <p:nvSpPr>
          <p:cNvPr id="17" name="Text 15"/>
          <p:cNvSpPr txBox="1"/>
          <p:nvPr/>
        </p:nvSpPr>
        <p:spPr>
          <a:xfrm>
            <a:off x="777240" y="3044952"/>
            <a:ext cx="7680960" cy="274320"/>
          </a:xfrm>
          <a:prstGeom prst="rect">
            <a:avLst/>
          </a:prstGeom>
          <a:noFill/>
          <a:ln/>
        </p:spPr>
        <p:txBody>
          <a:bodyPr wrap="square" lIns="0" tIns="0" rIns="0" bIns="0" rtlCol="0" anchor="ctr"/>
          <a:lstStyle/>
          <a:p>
            <a:pPr indent="0" marL="0">
              <a:buNone/>
            </a:pPr>
            <a:r>
              <a:rPr lang="en-US" sz="1250" b="1" dirty="0">
                <a:solidFill>
                  <a:srgbClr val="16191D"/>
                </a:solidFill>
                <a:latin typeface="Arial" pitchFamily="34" charset="0"/>
                <a:ea typeface="Arial" pitchFamily="34" charset="-122"/>
                <a:cs typeface="Arial" pitchFamily="34" charset="-120"/>
              </a:rPr>
              <a:t>Why this works</a:t>
            </a:r>
            <a:endParaRPr lang="en-US" sz="1250" dirty="0"/>
          </a:p>
        </p:txBody>
      </p:sp>
      <p:sp>
        <p:nvSpPr>
          <p:cNvPr id="18" name="Text 16"/>
          <p:cNvSpPr txBox="1"/>
          <p:nvPr/>
        </p:nvSpPr>
        <p:spPr>
          <a:xfrm>
            <a:off x="777240" y="3346704"/>
            <a:ext cx="7680960" cy="914400"/>
          </a:xfrm>
          <a:prstGeom prst="rect">
            <a:avLst/>
          </a:prstGeom>
          <a:noFill/>
          <a:ln/>
        </p:spPr>
        <p:txBody>
          <a:bodyPr wrap="square" lIns="0" tIns="0" rIns="0" bIns="0" rtlCol="0" anchor="ctr"/>
          <a:lstStyle/>
          <a:p>
            <a:pPr indent="0" marL="0">
              <a:lnSpc>
                <a:spcPct val="135000"/>
              </a:lnSpc>
              <a:buNone/>
            </a:pPr>
            <a:r>
              <a:rPr lang="en-US" sz="1150" dirty="0">
                <a:solidFill>
                  <a:srgbClr val="5A6572"/>
                </a:solidFill>
                <a:latin typeface="Calibri" pitchFamily="34" charset="0"/>
                <a:ea typeface="Calibri" pitchFamily="34" charset="-122"/>
                <a:cs typeface="Calibri" pitchFamily="34" charset="-120"/>
              </a:rPr>
              <a:t>Two clones of the same GitHub repo behave EXACTLY like two laptops in two different cities.</a:t>
            </a:r>
            <a:endParaRPr lang="en-US" sz="1150" dirty="0"/>
          </a:p>
          <a:p>
            <a:pPr indent="0" marL="0">
              <a:lnSpc>
                <a:spcPct val="135000"/>
              </a:lnSpc>
              <a:buNone/>
            </a:pPr>
            <a:r>
              <a:rPr lang="en-US" sz="1150" dirty="0">
                <a:solidFill>
                  <a:srgbClr val="5A6572"/>
                </a:solidFill>
                <a:latin typeface="Calibri" pitchFamily="34" charset="0"/>
                <a:ea typeface="Calibri" pitchFamily="34" charset="-122"/>
                <a:cs typeface="Calibri" pitchFamily="34" charset="-120"/>
              </a:rPr>
              <a:t>Git does not know or care that both folders are on my machine — it only knows they both talk to the same remote.</a:t>
            </a:r>
            <a:endParaRPr lang="en-US" sz="1150" dirty="0"/>
          </a:p>
          <a:p>
            <a:pPr indent="0" marL="0">
              <a:lnSpc>
                <a:spcPct val="135000"/>
              </a:lnSpc>
              <a:buNone/>
            </a:pPr>
            <a:r>
              <a:rPr lang="en-US" sz="1150" dirty="0">
                <a:solidFill>
                  <a:srgbClr val="5A6572"/>
                </a:solidFill>
                <a:latin typeface="Calibri" pitchFamily="34" charset="0"/>
                <a:ea typeface="Calibri" pitchFamily="34" charset="-122"/>
                <a:cs typeface="Calibri" pitchFamily="34" charset="-120"/>
              </a:rPr>
              <a:t>You can do this at home tonight with a classmate, or with two folders like this one.</a:t>
            </a:r>
            <a:endParaRPr lang="en-US" sz="1150" dirty="0"/>
          </a:p>
        </p:txBody>
      </p:sp>
      <p:sp>
        <p:nvSpPr>
          <p:cNvPr id="19" name="Text 17"/>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DEMO 1 · DAY 0 · TEAM LEAD</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FFFFFF"/>
                </a:solidFill>
                <a:latin typeface="Arial" pitchFamily="34" charset="0"/>
                <a:ea typeface="Arial" pitchFamily="34" charset="-122"/>
                <a:cs typeface="Arial" pitchFamily="34" charset="-120"/>
              </a:rPr>
              <a:t>Meera creates the repository</a:t>
            </a:r>
            <a:endParaRPr lang="en-US" sz="2900" dirty="0"/>
          </a:p>
        </p:txBody>
      </p:sp>
      <p:sp>
        <p:nvSpPr>
          <p:cNvPr id="4" name="Shape 2"/>
          <p:cNvSpPr/>
          <p:nvPr/>
        </p:nvSpPr>
        <p:spPr>
          <a:xfrm>
            <a:off x="502920" y="1371600"/>
            <a:ext cx="5029200" cy="3063240"/>
          </a:xfrm>
          <a:prstGeom prst="roundRect">
            <a:avLst>
              <a:gd name="adj" fmla="val 1493"/>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504188"/>
            <a:ext cx="77724" cy="77724"/>
          </a:xfrm>
          <a:prstGeom prst="ellipse">
            <a:avLst/>
          </a:prstGeom>
          <a:solidFill>
            <a:srgbClr val="FF5F56"/>
          </a:solidFill>
          <a:ln w="12700">
            <a:solidFill>
              <a:srgbClr val="FF5F56"/>
            </a:solidFill>
            <a:prstDash val="solid"/>
          </a:ln>
        </p:spPr>
      </p:sp>
      <p:sp>
        <p:nvSpPr>
          <p:cNvPr id="6" name="Shape 4"/>
          <p:cNvSpPr/>
          <p:nvPr/>
        </p:nvSpPr>
        <p:spPr>
          <a:xfrm>
            <a:off x="781812" y="1504188"/>
            <a:ext cx="77724" cy="77724"/>
          </a:xfrm>
          <a:prstGeom prst="ellipse">
            <a:avLst/>
          </a:prstGeom>
          <a:solidFill>
            <a:srgbClr val="FFBD2E"/>
          </a:solidFill>
          <a:ln w="12700">
            <a:solidFill>
              <a:srgbClr val="FFBD2E"/>
            </a:solidFill>
            <a:prstDash val="solid"/>
          </a:ln>
        </p:spPr>
      </p:sp>
      <p:sp>
        <p:nvSpPr>
          <p:cNvPr id="7" name="Shape 5"/>
          <p:cNvSpPr/>
          <p:nvPr/>
        </p:nvSpPr>
        <p:spPr>
          <a:xfrm>
            <a:off x="923544" y="150418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49324"/>
            <a:ext cx="434340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TL — ~/gitdemo/TL_campuscart</a:t>
            </a:r>
            <a:endParaRPr lang="en-US" sz="850" dirty="0"/>
          </a:p>
        </p:txBody>
      </p:sp>
      <p:sp>
        <p:nvSpPr>
          <p:cNvPr id="9" name="Text 7"/>
          <p:cNvSpPr txBox="1"/>
          <p:nvPr/>
        </p:nvSpPr>
        <p:spPr>
          <a:xfrm>
            <a:off x="704088" y="1737360"/>
            <a:ext cx="4626864" cy="2560320"/>
          </a:xfrm>
          <a:prstGeom prst="rect">
            <a:avLst/>
          </a:prstGeom>
          <a:noFill/>
          <a:ln/>
        </p:spPr>
        <p:txBody>
          <a:bodyPr wrap="square" lIns="0" tIns="0" rIns="0" bIns="0" rtlCol="0" anchor="t"/>
          <a:lstStyle/>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init -b main</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Initialized empty Git repository</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 </a:t>
            </a:r>
            <a:endParaRPr lang="en-US" sz="1000" dirty="0"/>
          </a:p>
          <a:p>
            <a:pPr indent="0" marL="0">
              <a:lnSpc>
                <a:spcPct val="122000"/>
              </a:lnSpc>
              <a:buNone/>
            </a:pPr>
            <a:r>
              <a:rPr lang="en-US" sz="1000" i="1" dirty="0">
                <a:solidFill>
                  <a:srgbClr val="6E7681"/>
                </a:solidFill>
                <a:latin typeface="Courier New" pitchFamily="34" charset="0"/>
                <a:ea typeface="Courier New" pitchFamily="34" charset="-122"/>
                <a:cs typeface="Courier New" pitchFamily="34" charset="-120"/>
              </a:rPr>
              <a:t># add README, .gitignore, app files</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status --short</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 .gitignore</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 README.md</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 campuscart/</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 </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add .</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commit -m "Initial commit:</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CampusCart skeleton"</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log --oneline</a:t>
            </a:r>
            <a:endParaRPr lang="en-US" sz="1000" dirty="0"/>
          </a:p>
          <a:p>
            <a:pPr indent="0" marL="0">
              <a:lnSpc>
                <a:spcPct val="122000"/>
              </a:lnSpc>
              <a:buNone/>
            </a:pPr>
            <a:r>
              <a:rPr lang="en-US" sz="1000" dirty="0">
                <a:solidFill>
                  <a:srgbClr val="6FD37E"/>
                </a:solidFill>
                <a:latin typeface="Courier New" pitchFamily="34" charset="0"/>
                <a:ea typeface="Courier New" pitchFamily="34" charset="-122"/>
                <a:cs typeface="Courier New" pitchFamily="34" charset="-120"/>
              </a:rPr>
              <a:t>de088a3 Initial commit: CampusCart</a:t>
            </a:r>
            <a:endParaRPr lang="en-US" sz="1000" dirty="0"/>
          </a:p>
        </p:txBody>
      </p:sp>
      <p:sp>
        <p:nvSpPr>
          <p:cNvPr id="10" name="Shape 8"/>
          <p:cNvSpPr/>
          <p:nvPr/>
        </p:nvSpPr>
        <p:spPr>
          <a:xfrm>
            <a:off x="5715000" y="1371600"/>
            <a:ext cx="2971800" cy="1463040"/>
          </a:xfrm>
          <a:prstGeom prst="roundRect">
            <a:avLst>
              <a:gd name="adj" fmla="val 3750"/>
            </a:avLst>
          </a:prstGeom>
          <a:solidFill>
            <a:srgbClr val="20252B"/>
          </a:solidFill>
          <a:ln w="12700">
            <a:solidFill>
              <a:srgbClr val="3A424C"/>
            </a:solidFill>
            <a:prstDash val="solid"/>
          </a:ln>
        </p:spPr>
      </p:sp>
      <p:sp>
        <p:nvSpPr>
          <p:cNvPr id="11" name="Text 9"/>
          <p:cNvSpPr txBox="1"/>
          <p:nvPr/>
        </p:nvSpPr>
        <p:spPr>
          <a:xfrm>
            <a:off x="5943600" y="1490472"/>
            <a:ext cx="2560320" cy="274320"/>
          </a:xfrm>
          <a:prstGeom prst="rect">
            <a:avLst/>
          </a:prstGeom>
          <a:noFill/>
          <a:ln/>
        </p:spPr>
        <p:txBody>
          <a:bodyPr wrap="square" lIns="0" tIns="0" rIns="0" bIns="0" rtlCol="0" anchor="ctr"/>
          <a:lstStyle/>
          <a:p>
            <a:pPr indent="0" marL="0">
              <a:buNone/>
            </a:pPr>
            <a:r>
              <a:rPr lang="en-US" sz="1200" b="1" dirty="0">
                <a:solidFill>
                  <a:srgbClr val="FFAA64"/>
                </a:solidFill>
                <a:latin typeface="Arial" pitchFamily="34" charset="0"/>
                <a:ea typeface="Arial" pitchFamily="34" charset="-122"/>
                <a:cs typeface="Arial" pitchFamily="34" charset="-120"/>
              </a:rPr>
              <a:t>.gitignore FIRST</a:t>
            </a:r>
            <a:endParaRPr lang="en-US" sz="1200" dirty="0"/>
          </a:p>
        </p:txBody>
      </p:sp>
      <p:sp>
        <p:nvSpPr>
          <p:cNvPr id="12" name="Text 10"/>
          <p:cNvSpPr txBox="1"/>
          <p:nvPr/>
        </p:nvSpPr>
        <p:spPr>
          <a:xfrm>
            <a:off x="5943600" y="1792224"/>
            <a:ext cx="2560320" cy="777240"/>
          </a:xfrm>
          <a:prstGeom prst="rect">
            <a:avLst/>
          </a:prstGeom>
          <a:noFill/>
          <a:ln/>
        </p:spPr>
        <p:txBody>
          <a:bodyPr wrap="square" lIns="0" tIns="0" rIns="0" bIns="0" rtlCol="0" anchor="ctr"/>
          <a:lstStyle/>
          <a:p>
            <a:pPr indent="0" marL="0">
              <a:lnSpc>
                <a:spcPct val="125000"/>
              </a:lnSpc>
              <a:buNone/>
            </a:pPr>
            <a:r>
              <a:rPr lang="en-US" sz="1050" dirty="0">
                <a:solidFill>
                  <a:srgbClr val="C9D1D9"/>
                </a:solidFill>
                <a:latin typeface="Courier New" pitchFamily="34" charset="0"/>
                <a:ea typeface="Courier New" pitchFamily="34" charset="-122"/>
                <a:cs typeface="Courier New" pitchFamily="34" charset="-120"/>
              </a:rPr>
              <a:t>.venv/</a:t>
            </a:r>
            <a:endParaRPr lang="en-US" sz="1050" dirty="0"/>
          </a:p>
          <a:p>
            <a:pPr indent="0" marL="0">
              <a:lnSpc>
                <a:spcPct val="125000"/>
              </a:lnSpc>
              <a:buNone/>
            </a:pPr>
            <a:r>
              <a:rPr lang="en-US" sz="1050" dirty="0">
                <a:solidFill>
                  <a:srgbClr val="C9D1D9"/>
                </a:solidFill>
                <a:latin typeface="Courier New" pitchFamily="34" charset="0"/>
                <a:ea typeface="Courier New" pitchFamily="34" charset="-122"/>
                <a:cs typeface="Courier New" pitchFamily="34" charset="-120"/>
              </a:rPr>
              <a:t>__pycache__/</a:t>
            </a:r>
            <a:endParaRPr lang="en-US" sz="1050" dirty="0"/>
          </a:p>
          <a:p>
            <a:pPr indent="0" marL="0">
              <a:lnSpc>
                <a:spcPct val="125000"/>
              </a:lnSpc>
              <a:buNone/>
            </a:pPr>
            <a:r>
              <a:rPr lang="en-US" sz="1050" dirty="0">
                <a:solidFill>
                  <a:srgbClr val="C9D1D9"/>
                </a:solidFill>
                <a:latin typeface="Courier New" pitchFamily="34" charset="0"/>
                <a:ea typeface="Courier New" pitchFamily="34" charset="-122"/>
                <a:cs typeface="Courier New" pitchFamily="34" charset="-120"/>
              </a:rPr>
              <a:t>.env</a:t>
            </a:r>
            <a:endParaRPr lang="en-US" sz="1050" dirty="0"/>
          </a:p>
          <a:p>
            <a:pPr indent="0" marL="0">
              <a:lnSpc>
                <a:spcPct val="125000"/>
              </a:lnSpc>
              <a:buNone/>
            </a:pPr>
            <a:r>
              <a:rPr lang="en-US" sz="1050" dirty="0">
                <a:solidFill>
                  <a:srgbClr val="C9D1D9"/>
                </a:solidFill>
                <a:latin typeface="Courier New" pitchFamily="34" charset="0"/>
                <a:ea typeface="Courier New" pitchFamily="34" charset="-122"/>
                <a:cs typeface="Courier New" pitchFamily="34" charset="-120"/>
              </a:rPr>
              <a:t>.idea/</a:t>
            </a:r>
            <a:endParaRPr lang="en-US" sz="1050" dirty="0"/>
          </a:p>
        </p:txBody>
      </p:sp>
      <p:sp>
        <p:nvSpPr>
          <p:cNvPr id="13" name="Shape 11"/>
          <p:cNvSpPr/>
          <p:nvPr/>
        </p:nvSpPr>
        <p:spPr>
          <a:xfrm>
            <a:off x="5715000" y="2971800"/>
            <a:ext cx="2971800" cy="1463040"/>
          </a:xfrm>
          <a:prstGeom prst="roundRect">
            <a:avLst>
              <a:gd name="adj" fmla="val 3750"/>
            </a:avLst>
          </a:prstGeom>
          <a:solidFill>
            <a:srgbClr val="2E211F"/>
          </a:solidFill>
          <a:ln w="12700">
            <a:solidFill>
              <a:srgbClr val="5A3A34"/>
            </a:solidFill>
            <a:prstDash val="solid"/>
          </a:ln>
        </p:spPr>
      </p:sp>
      <p:sp>
        <p:nvSpPr>
          <p:cNvPr id="14" name="Text 12"/>
          <p:cNvSpPr txBox="1"/>
          <p:nvPr/>
        </p:nvSpPr>
        <p:spPr>
          <a:xfrm>
            <a:off x="5943600" y="3090672"/>
            <a:ext cx="2560320" cy="274320"/>
          </a:xfrm>
          <a:prstGeom prst="rect">
            <a:avLst/>
          </a:prstGeom>
          <a:noFill/>
          <a:ln/>
        </p:spPr>
        <p:txBody>
          <a:bodyPr wrap="square" lIns="0" tIns="0" rIns="0" bIns="0" rtlCol="0" anchor="ctr"/>
          <a:lstStyle/>
          <a:p>
            <a:pPr indent="0" marL="0">
              <a:buNone/>
            </a:pPr>
            <a:r>
              <a:rPr lang="en-US" sz="1200" b="1" dirty="0">
                <a:solidFill>
                  <a:srgbClr val="FF8A7A"/>
                </a:solidFill>
                <a:latin typeface="Arial" pitchFamily="34" charset="0"/>
                <a:ea typeface="Arial" pitchFamily="34" charset="-122"/>
                <a:cs typeface="Arial" pitchFamily="34" charset="-120"/>
              </a:rPr>
              <a:t>Before the FIRST commit</a:t>
            </a:r>
            <a:endParaRPr lang="en-US" sz="1200" dirty="0"/>
          </a:p>
        </p:txBody>
      </p:sp>
      <p:sp>
        <p:nvSpPr>
          <p:cNvPr id="15" name="Text 13"/>
          <p:cNvSpPr txBox="1"/>
          <p:nvPr/>
        </p:nvSpPr>
        <p:spPr>
          <a:xfrm>
            <a:off x="5943600" y="3383280"/>
            <a:ext cx="2560320" cy="868680"/>
          </a:xfrm>
          <a:prstGeom prst="rect">
            <a:avLst/>
          </a:prstGeom>
          <a:noFill/>
          <a:ln/>
        </p:spPr>
        <p:txBody>
          <a:bodyPr wrap="square" lIns="0" tIns="0" rIns="0" bIns="0" rtlCol="0" anchor="ctr"/>
          <a:lstStyle/>
          <a:p>
            <a:pPr indent="0" marL="0">
              <a:lnSpc>
                <a:spcPct val="125000"/>
              </a:lnSpc>
              <a:buNone/>
            </a:pPr>
            <a:r>
              <a:rPr lang="en-US" sz="1050" dirty="0">
                <a:solidFill>
                  <a:srgbClr val="C9D1D9"/>
                </a:solidFill>
                <a:latin typeface="Calibri" pitchFamily="34" charset="0"/>
                <a:ea typeface="Calibri" pitchFamily="34" charset="-122"/>
                <a:cs typeface="Calibri" pitchFamily="34" charset="-120"/>
              </a:rPr>
              <a:t>Once .env is committed, the password in it is public — even if you delete it later.</a:t>
            </a:r>
            <a:endParaRPr lang="en-US" sz="1050" dirty="0"/>
          </a:p>
        </p:txBody>
      </p:sp>
      <p:sp>
        <p:nvSpPr>
          <p:cNvPr id="16" name="Text 14"/>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5A6572"/>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DEMO 1B · DAY 0 · TEAM LEAD</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FFFFFF"/>
                </a:solidFill>
                <a:latin typeface="Arial" pitchFamily="34" charset="0"/>
                <a:ea typeface="Arial" pitchFamily="34" charset="-122"/>
                <a:cs typeface="Arial" pitchFamily="34" charset="-120"/>
              </a:rPr>
              <a:t>Push it to GitHub, then invite Arjun</a:t>
            </a:r>
            <a:endParaRPr lang="en-US" sz="2900" dirty="0"/>
          </a:p>
        </p:txBody>
      </p:sp>
      <p:sp>
        <p:nvSpPr>
          <p:cNvPr id="4" name="Shape 2"/>
          <p:cNvSpPr/>
          <p:nvPr/>
        </p:nvSpPr>
        <p:spPr>
          <a:xfrm>
            <a:off x="502920" y="1371600"/>
            <a:ext cx="5029200" cy="2057400"/>
          </a:xfrm>
          <a:prstGeom prst="roundRect">
            <a:avLst>
              <a:gd name="adj" fmla="val 2222"/>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504188"/>
            <a:ext cx="77724" cy="77724"/>
          </a:xfrm>
          <a:prstGeom prst="ellipse">
            <a:avLst/>
          </a:prstGeom>
          <a:solidFill>
            <a:srgbClr val="FF5F56"/>
          </a:solidFill>
          <a:ln w="12700">
            <a:solidFill>
              <a:srgbClr val="FF5F56"/>
            </a:solidFill>
            <a:prstDash val="solid"/>
          </a:ln>
        </p:spPr>
      </p:sp>
      <p:sp>
        <p:nvSpPr>
          <p:cNvPr id="6" name="Shape 4"/>
          <p:cNvSpPr/>
          <p:nvPr/>
        </p:nvSpPr>
        <p:spPr>
          <a:xfrm>
            <a:off x="781812" y="1504188"/>
            <a:ext cx="77724" cy="77724"/>
          </a:xfrm>
          <a:prstGeom prst="ellipse">
            <a:avLst/>
          </a:prstGeom>
          <a:solidFill>
            <a:srgbClr val="FFBD2E"/>
          </a:solidFill>
          <a:ln w="12700">
            <a:solidFill>
              <a:srgbClr val="FFBD2E"/>
            </a:solidFill>
            <a:prstDash val="solid"/>
          </a:ln>
        </p:spPr>
      </p:sp>
      <p:sp>
        <p:nvSpPr>
          <p:cNvPr id="7" name="Shape 5"/>
          <p:cNvSpPr/>
          <p:nvPr/>
        </p:nvSpPr>
        <p:spPr>
          <a:xfrm>
            <a:off x="923544" y="150418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49324"/>
            <a:ext cx="434340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TL — ~/gitdemo/TL_campuscart</a:t>
            </a:r>
            <a:endParaRPr lang="en-US" sz="850" dirty="0"/>
          </a:p>
        </p:txBody>
      </p:sp>
      <p:sp>
        <p:nvSpPr>
          <p:cNvPr id="9" name="Text 7"/>
          <p:cNvSpPr txBox="1"/>
          <p:nvPr/>
        </p:nvSpPr>
        <p:spPr>
          <a:xfrm>
            <a:off x="704088" y="1737360"/>
            <a:ext cx="4626864" cy="1554480"/>
          </a:xfrm>
          <a:prstGeom prst="rect">
            <a:avLst/>
          </a:prstGeom>
          <a:noFill/>
          <a:ln/>
        </p:spPr>
        <p:txBody>
          <a:bodyPr wrap="square" lIns="0" tIns="0" rIns="0" bIns="0" rtlCol="0" anchor="t"/>
          <a:lstStyle/>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remote add origin \</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https://github.com/.../campuscart.git</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push -u origin main</a:t>
            </a:r>
            <a:endParaRPr lang="en-US" sz="1000" dirty="0"/>
          </a:p>
          <a:p>
            <a:pPr indent="0" marL="0">
              <a:lnSpc>
                <a:spcPct val="122000"/>
              </a:lnSpc>
              <a:buNone/>
            </a:pPr>
            <a:r>
              <a:rPr lang="en-US" sz="1000" dirty="0">
                <a:solidFill>
                  <a:srgbClr val="6FD37E"/>
                </a:solidFill>
                <a:latin typeface="Courier New" pitchFamily="34" charset="0"/>
                <a:ea typeface="Courier New" pitchFamily="34" charset="-122"/>
                <a:cs typeface="Courier New" pitchFamily="34" charset="-120"/>
              </a:rPr>
              <a:t> * [new branch]      main -&gt; main</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branch 'main' set up to track</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'origin/main'.</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 </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remote -v</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origin  https://github.com/... (fetch)</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origin  https://github.com/... (push)</a:t>
            </a:r>
            <a:endParaRPr lang="en-US" sz="1000" dirty="0"/>
          </a:p>
        </p:txBody>
      </p:sp>
      <p:sp>
        <p:nvSpPr>
          <p:cNvPr id="10" name="Shape 8"/>
          <p:cNvSpPr/>
          <p:nvPr/>
        </p:nvSpPr>
        <p:spPr>
          <a:xfrm>
            <a:off x="5715000" y="1371600"/>
            <a:ext cx="2971800" cy="2057400"/>
          </a:xfrm>
          <a:prstGeom prst="roundRect">
            <a:avLst>
              <a:gd name="adj" fmla="val 2667"/>
            </a:avLst>
          </a:prstGeom>
          <a:solidFill>
            <a:srgbClr val="20252B"/>
          </a:solidFill>
          <a:ln w="12700">
            <a:solidFill>
              <a:srgbClr val="3A424C"/>
            </a:solidFill>
            <a:prstDash val="solid"/>
          </a:ln>
        </p:spPr>
      </p:sp>
      <p:sp>
        <p:nvSpPr>
          <p:cNvPr id="11" name="Text 9"/>
          <p:cNvSpPr txBox="1"/>
          <p:nvPr/>
        </p:nvSpPr>
        <p:spPr>
          <a:xfrm>
            <a:off x="5943600" y="1490472"/>
            <a:ext cx="2560320" cy="237744"/>
          </a:xfrm>
          <a:prstGeom prst="rect">
            <a:avLst/>
          </a:prstGeom>
          <a:noFill/>
          <a:ln/>
        </p:spPr>
        <p:txBody>
          <a:bodyPr wrap="square" lIns="0" tIns="0" rIns="0" bIns="0" rtlCol="0" anchor="ctr"/>
          <a:lstStyle/>
          <a:p>
            <a:pPr indent="0" marL="0">
              <a:buNone/>
            </a:pPr>
            <a:r>
              <a:rPr lang="en-US" sz="950" b="1" spc="180" kern="0" dirty="0">
                <a:solidFill>
                  <a:srgbClr val="8B949E"/>
                </a:solidFill>
                <a:latin typeface="Arial" pitchFamily="34" charset="0"/>
                <a:ea typeface="Arial" pitchFamily="34" charset="-122"/>
                <a:cs typeface="Arial" pitchFamily="34" charset="-120"/>
              </a:rPr>
              <a:t>ON GITHUB.COM</a:t>
            </a:r>
            <a:endParaRPr lang="en-US" sz="950" dirty="0"/>
          </a:p>
        </p:txBody>
      </p:sp>
      <p:sp>
        <p:nvSpPr>
          <p:cNvPr id="12" name="Text 10"/>
          <p:cNvSpPr txBox="1"/>
          <p:nvPr/>
        </p:nvSpPr>
        <p:spPr>
          <a:xfrm>
            <a:off x="5943600" y="1773936"/>
            <a:ext cx="2560320" cy="914400"/>
          </a:xfrm>
          <a:prstGeom prst="rect">
            <a:avLst/>
          </a:prstGeom>
          <a:noFill/>
          <a:ln/>
        </p:spPr>
        <p:txBody>
          <a:bodyPr wrap="square" lIns="0" tIns="0" rIns="0" bIns="0" rtlCol="0" anchor="ctr"/>
          <a:lstStyle/>
          <a:p>
            <a:pPr indent="0" marL="0">
              <a:lnSpc>
                <a:spcPct val="130000"/>
              </a:lnSpc>
              <a:buNone/>
            </a:pPr>
            <a:r>
              <a:rPr lang="en-US" sz="1100" dirty="0">
                <a:solidFill>
                  <a:srgbClr val="C9D1D9"/>
                </a:solidFill>
                <a:latin typeface="Courier New" pitchFamily="34" charset="0"/>
                <a:ea typeface="Courier New" pitchFamily="34" charset="-122"/>
                <a:cs typeface="Courier New" pitchFamily="34" charset="-120"/>
              </a:rPr>
              <a:t>Settings</a:t>
            </a:r>
            <a:endParaRPr lang="en-US" sz="1100" dirty="0"/>
          </a:p>
          <a:p>
            <a:pPr indent="0" marL="0">
              <a:lnSpc>
                <a:spcPct val="130000"/>
              </a:lnSpc>
              <a:buNone/>
            </a:pPr>
            <a:r>
              <a:rPr lang="en-US" sz="1100" dirty="0">
                <a:solidFill>
                  <a:srgbClr val="C9D1D9"/>
                </a:solidFill>
                <a:latin typeface="Courier New" pitchFamily="34" charset="0"/>
                <a:ea typeface="Courier New" pitchFamily="34" charset="-122"/>
                <a:cs typeface="Courier New" pitchFamily="34" charset="-120"/>
              </a:rPr>
              <a:t>  → Collaborators</a:t>
            </a:r>
            <a:endParaRPr lang="en-US" sz="1100" dirty="0"/>
          </a:p>
          <a:p>
            <a:pPr indent="0" marL="0">
              <a:lnSpc>
                <a:spcPct val="130000"/>
              </a:lnSpc>
              <a:buNone/>
            </a:pPr>
            <a:r>
              <a:rPr lang="en-US" sz="1100" dirty="0">
                <a:solidFill>
                  <a:srgbClr val="C9D1D9"/>
                </a:solidFill>
                <a:latin typeface="Courier New" pitchFamily="34" charset="0"/>
                <a:ea typeface="Courier New" pitchFamily="34" charset="-122"/>
                <a:cs typeface="Courier New" pitchFamily="34" charset="-120"/>
              </a:rPr>
              <a:t>    → Add people</a:t>
            </a:r>
            <a:endParaRPr lang="en-US" sz="1100" dirty="0"/>
          </a:p>
          <a:p>
            <a:pPr indent="0" marL="0">
              <a:lnSpc>
                <a:spcPct val="130000"/>
              </a:lnSpc>
              <a:buNone/>
            </a:pPr>
            <a:r>
              <a:rPr lang="en-US" sz="1100" dirty="0">
                <a:solidFill>
                  <a:srgbClr val="C9D1D9"/>
                </a:solidFill>
                <a:latin typeface="Courier New" pitchFamily="34" charset="0"/>
                <a:ea typeface="Courier New" pitchFamily="34" charset="-122"/>
                <a:cs typeface="Courier New" pitchFamily="34" charset="-120"/>
              </a:rPr>
              <a:t>      → arjun  (Write)</a:t>
            </a:r>
            <a:endParaRPr lang="en-US" sz="1100" dirty="0"/>
          </a:p>
        </p:txBody>
      </p:sp>
      <p:sp>
        <p:nvSpPr>
          <p:cNvPr id="13" name="Text 11"/>
          <p:cNvSpPr txBox="1"/>
          <p:nvPr/>
        </p:nvSpPr>
        <p:spPr>
          <a:xfrm>
            <a:off x="5943600" y="2743200"/>
            <a:ext cx="2560320" cy="548640"/>
          </a:xfrm>
          <a:prstGeom prst="rect">
            <a:avLst/>
          </a:prstGeom>
          <a:noFill/>
          <a:ln/>
        </p:spPr>
        <p:txBody>
          <a:bodyPr wrap="square" lIns="0" tIns="0" rIns="0" bIns="0" rtlCol="0" anchor="ctr"/>
          <a:lstStyle/>
          <a:p>
            <a:pPr indent="0" marL="0">
              <a:lnSpc>
                <a:spcPct val="120000"/>
              </a:lnSpc>
              <a:buNone/>
            </a:pPr>
            <a:r>
              <a:rPr lang="en-US" sz="1050" dirty="0">
                <a:solidFill>
                  <a:srgbClr val="8B949E"/>
                </a:solidFill>
                <a:latin typeface="Calibri" pitchFamily="34" charset="0"/>
                <a:ea typeface="Calibri" pitchFamily="34" charset="-122"/>
                <a:cs typeface="Calibri" pitchFamily="34" charset="-120"/>
              </a:rPr>
              <a:t>Arjun accepts the email invite and is now in the repo.</a:t>
            </a:r>
            <a:endParaRPr lang="en-US" sz="1050" dirty="0"/>
          </a:p>
        </p:txBody>
      </p:sp>
      <p:sp>
        <p:nvSpPr>
          <p:cNvPr id="14" name="Shape 12"/>
          <p:cNvSpPr/>
          <p:nvPr/>
        </p:nvSpPr>
        <p:spPr>
          <a:xfrm>
            <a:off x="502920" y="3611880"/>
            <a:ext cx="8183880" cy="841248"/>
          </a:xfrm>
          <a:prstGeom prst="roundRect">
            <a:avLst>
              <a:gd name="adj" fmla="val 6522"/>
            </a:avLst>
          </a:prstGeom>
          <a:solidFill>
            <a:srgbClr val="20252B"/>
          </a:solidFill>
          <a:ln w="12700">
            <a:solidFill>
              <a:srgbClr val="3A424C"/>
            </a:solidFill>
            <a:prstDash val="solid"/>
          </a:ln>
        </p:spPr>
      </p:sp>
      <p:sp>
        <p:nvSpPr>
          <p:cNvPr id="15" name="Text 13"/>
          <p:cNvSpPr txBox="1"/>
          <p:nvPr/>
        </p:nvSpPr>
        <p:spPr>
          <a:xfrm>
            <a:off x="777240" y="3712464"/>
            <a:ext cx="2194560" cy="256032"/>
          </a:xfrm>
          <a:prstGeom prst="rect">
            <a:avLst/>
          </a:prstGeom>
          <a:noFill/>
          <a:ln/>
        </p:spPr>
        <p:txBody>
          <a:bodyPr wrap="square" lIns="0" tIns="0" rIns="0" bIns="0" rtlCol="0" anchor="ctr"/>
          <a:lstStyle/>
          <a:p>
            <a:pPr indent="0" marL="0">
              <a:buNone/>
            </a:pPr>
            <a:r>
              <a:rPr lang="en-US" sz="1200" b="1" dirty="0">
                <a:solidFill>
                  <a:srgbClr val="FFAA64"/>
                </a:solidFill>
                <a:latin typeface="Arial" pitchFamily="34" charset="0"/>
                <a:ea typeface="Arial" pitchFamily="34" charset="-122"/>
                <a:cs typeface="Arial" pitchFamily="34" charset="-120"/>
              </a:rPr>
              <a:t>What -u does</a:t>
            </a:r>
            <a:endParaRPr lang="en-US" sz="1200" dirty="0"/>
          </a:p>
        </p:txBody>
      </p:sp>
      <p:sp>
        <p:nvSpPr>
          <p:cNvPr id="16" name="Text 14"/>
          <p:cNvSpPr txBox="1"/>
          <p:nvPr/>
        </p:nvSpPr>
        <p:spPr>
          <a:xfrm>
            <a:off x="777240" y="3968496"/>
            <a:ext cx="7680960" cy="411480"/>
          </a:xfrm>
          <a:prstGeom prst="rect">
            <a:avLst/>
          </a:prstGeom>
          <a:noFill/>
          <a:ln/>
        </p:spPr>
        <p:txBody>
          <a:bodyPr wrap="square" lIns="0" tIns="0" rIns="0" bIns="0" rtlCol="0" anchor="ctr"/>
          <a:lstStyle/>
          <a:p>
            <a:pPr indent="0" marL="0">
              <a:buNone/>
            </a:pPr>
            <a:r>
              <a:rPr lang="en-US" sz="1100" dirty="0">
                <a:solidFill>
                  <a:srgbClr val="C9D1D9"/>
                </a:solidFill>
                <a:latin typeface="Calibri" pitchFamily="34" charset="0"/>
                <a:ea typeface="Calibri" pitchFamily="34" charset="-122"/>
                <a:cs typeface="Calibri" pitchFamily="34" charset="-120"/>
              </a:rPr>
              <a:t>It links your local branch to the one on GitHub — after this, plain "git push" and "git pull" know where to go. You only need -u the first time you push a branch.</a:t>
            </a:r>
            <a:endParaRPr lang="en-US" sz="1100" dirty="0"/>
          </a:p>
        </p:txBody>
      </p:sp>
      <p:sp>
        <p:nvSpPr>
          <p:cNvPr id="17" name="Text 15"/>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5A6572"/>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DEMO 2 · DEVELOPER</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FFFFFF"/>
                </a:solidFill>
                <a:latin typeface="Arial" pitchFamily="34" charset="0"/>
                <a:ea typeface="Arial" pitchFamily="34" charset="-122"/>
                <a:cs typeface="Arial" pitchFamily="34" charset="-120"/>
              </a:rPr>
              <a:t>Arjun clones — and gets the whole history</a:t>
            </a:r>
            <a:endParaRPr lang="en-US" sz="2900" dirty="0"/>
          </a:p>
        </p:txBody>
      </p:sp>
      <p:sp>
        <p:nvSpPr>
          <p:cNvPr id="4" name="Shape 2"/>
          <p:cNvSpPr/>
          <p:nvPr/>
        </p:nvSpPr>
        <p:spPr>
          <a:xfrm>
            <a:off x="502920" y="1371600"/>
            <a:ext cx="5029200" cy="2468880"/>
          </a:xfrm>
          <a:prstGeom prst="roundRect">
            <a:avLst>
              <a:gd name="adj" fmla="val 1852"/>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504188"/>
            <a:ext cx="77724" cy="77724"/>
          </a:xfrm>
          <a:prstGeom prst="ellipse">
            <a:avLst/>
          </a:prstGeom>
          <a:solidFill>
            <a:srgbClr val="FF5F56"/>
          </a:solidFill>
          <a:ln w="12700">
            <a:solidFill>
              <a:srgbClr val="FF5F56"/>
            </a:solidFill>
            <a:prstDash val="solid"/>
          </a:ln>
        </p:spPr>
      </p:sp>
      <p:sp>
        <p:nvSpPr>
          <p:cNvPr id="6" name="Shape 4"/>
          <p:cNvSpPr/>
          <p:nvPr/>
        </p:nvSpPr>
        <p:spPr>
          <a:xfrm>
            <a:off x="781812" y="1504188"/>
            <a:ext cx="77724" cy="77724"/>
          </a:xfrm>
          <a:prstGeom prst="ellipse">
            <a:avLst/>
          </a:prstGeom>
          <a:solidFill>
            <a:srgbClr val="FFBD2E"/>
          </a:solidFill>
          <a:ln w="12700">
            <a:solidFill>
              <a:srgbClr val="FFBD2E"/>
            </a:solidFill>
            <a:prstDash val="solid"/>
          </a:ln>
        </p:spPr>
      </p:sp>
      <p:sp>
        <p:nvSpPr>
          <p:cNvPr id="7" name="Shape 5"/>
          <p:cNvSpPr/>
          <p:nvPr/>
        </p:nvSpPr>
        <p:spPr>
          <a:xfrm>
            <a:off x="923544" y="150418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49324"/>
            <a:ext cx="434340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DEV — ~/gitdemo</a:t>
            </a:r>
            <a:endParaRPr lang="en-US" sz="850" dirty="0"/>
          </a:p>
        </p:txBody>
      </p:sp>
      <p:sp>
        <p:nvSpPr>
          <p:cNvPr id="9" name="Text 7"/>
          <p:cNvSpPr txBox="1"/>
          <p:nvPr/>
        </p:nvSpPr>
        <p:spPr>
          <a:xfrm>
            <a:off x="704088" y="1737360"/>
            <a:ext cx="4626864" cy="1965960"/>
          </a:xfrm>
          <a:prstGeom prst="rect">
            <a:avLst/>
          </a:prstGeom>
          <a:noFill/>
          <a:ln/>
        </p:spPr>
        <p:txBody>
          <a:bodyPr wrap="square" lIns="0" tIns="0" rIns="0" bIns="0" rtlCol="0" anchor="t"/>
          <a:lstStyle/>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clone &lt;repo-url&gt; DEV_campuscart</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Cloning into 'DEV_campuscart'...</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done.</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 </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cd DEV_campuscart</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log --oneline</a:t>
            </a:r>
            <a:endParaRPr lang="en-US" sz="1000" dirty="0"/>
          </a:p>
          <a:p>
            <a:pPr indent="0" marL="0">
              <a:lnSpc>
                <a:spcPct val="122000"/>
              </a:lnSpc>
              <a:buNone/>
            </a:pPr>
            <a:r>
              <a:rPr lang="en-US" sz="1000" dirty="0">
                <a:solidFill>
                  <a:srgbClr val="6FD37E"/>
                </a:solidFill>
                <a:latin typeface="Courier New" pitchFamily="34" charset="0"/>
                <a:ea typeface="Courier New" pitchFamily="34" charset="-122"/>
                <a:cs typeface="Courier New" pitchFamily="34" charset="-120"/>
              </a:rPr>
              <a:t>de088a3 Initial commit: CampusCart</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 </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branch -a</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 main</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  remotes/origin/HEAD -&gt; origin/main</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  remotes/origin/main</a:t>
            </a:r>
            <a:endParaRPr lang="en-US" sz="1000" dirty="0"/>
          </a:p>
        </p:txBody>
      </p:sp>
      <p:sp>
        <p:nvSpPr>
          <p:cNvPr id="10" name="Shape 8"/>
          <p:cNvSpPr/>
          <p:nvPr/>
        </p:nvSpPr>
        <p:spPr>
          <a:xfrm>
            <a:off x="5715000" y="1371600"/>
            <a:ext cx="2971800" cy="2468880"/>
          </a:xfrm>
          <a:prstGeom prst="roundRect">
            <a:avLst>
              <a:gd name="adj" fmla="val 2222"/>
            </a:avLst>
          </a:prstGeom>
          <a:solidFill>
            <a:srgbClr val="20252B"/>
          </a:solidFill>
          <a:ln w="12700">
            <a:solidFill>
              <a:srgbClr val="3A424C"/>
            </a:solidFill>
            <a:prstDash val="solid"/>
          </a:ln>
        </p:spPr>
      </p:sp>
      <p:sp>
        <p:nvSpPr>
          <p:cNvPr id="11" name="Text 9"/>
          <p:cNvSpPr txBox="1"/>
          <p:nvPr/>
        </p:nvSpPr>
        <p:spPr>
          <a:xfrm>
            <a:off x="5943600" y="1508760"/>
            <a:ext cx="2560320" cy="274320"/>
          </a:xfrm>
          <a:prstGeom prst="rect">
            <a:avLst/>
          </a:prstGeom>
          <a:noFill/>
          <a:ln/>
        </p:spPr>
        <p:txBody>
          <a:bodyPr wrap="square" lIns="0" tIns="0" rIns="0" bIns="0" rtlCol="0" anchor="ctr"/>
          <a:lstStyle/>
          <a:p>
            <a:pPr indent="0" marL="0">
              <a:buNone/>
            </a:pPr>
            <a:r>
              <a:rPr lang="en-US" sz="1250" b="1" dirty="0">
                <a:solidFill>
                  <a:srgbClr val="FFAA64"/>
                </a:solidFill>
                <a:latin typeface="Arial" pitchFamily="34" charset="0"/>
                <a:ea typeface="Arial" pitchFamily="34" charset="-122"/>
                <a:cs typeface="Arial" pitchFamily="34" charset="-120"/>
              </a:rPr>
              <a:t>clone is not "download"</a:t>
            </a:r>
            <a:endParaRPr lang="en-US" sz="1250" dirty="0"/>
          </a:p>
        </p:txBody>
      </p:sp>
      <p:sp>
        <p:nvSpPr>
          <p:cNvPr id="12" name="Text 10"/>
          <p:cNvSpPr txBox="1"/>
          <p:nvPr/>
        </p:nvSpPr>
        <p:spPr>
          <a:xfrm>
            <a:off x="5943600" y="1828800"/>
            <a:ext cx="2560320" cy="1828800"/>
          </a:xfrm>
          <a:prstGeom prst="rect">
            <a:avLst/>
          </a:prstGeom>
          <a:noFill/>
          <a:ln/>
        </p:spPr>
        <p:txBody>
          <a:bodyPr wrap="square" lIns="0" tIns="0" rIns="0" bIns="0" rtlCol="0" anchor="ctr"/>
          <a:lstStyle/>
          <a:p>
            <a:pPr indent="0" marL="0">
              <a:lnSpc>
                <a:spcPct val="130000"/>
              </a:lnSpc>
              <a:buNone/>
            </a:pPr>
            <a:r>
              <a:rPr lang="en-US" sz="1100" dirty="0">
                <a:solidFill>
                  <a:srgbClr val="C9D1D9"/>
                </a:solidFill>
                <a:latin typeface="Calibri" pitchFamily="34" charset="0"/>
                <a:ea typeface="Calibri" pitchFamily="34" charset="-122"/>
                <a:cs typeface="Calibri" pitchFamily="34" charset="-120"/>
              </a:rPr>
              <a:t>A zip gives you the files as they are today.</a:t>
            </a:r>
            <a:endParaRPr lang="en-US" sz="1100" dirty="0"/>
          </a:p>
          <a:p>
            <a:pPr indent="0" marL="0">
              <a:lnSpc>
                <a:spcPct val="130000"/>
              </a:lnSpc>
              <a:buNone/>
            </a:pPr>
            <a:endParaRPr lang="en-US" sz="1100" dirty="0"/>
          </a:p>
          <a:p>
            <a:pPr indent="0" marL="0">
              <a:lnSpc>
                <a:spcPct val="130000"/>
              </a:lnSpc>
              <a:buNone/>
            </a:pPr>
            <a:r>
              <a:rPr lang="en-US" sz="1100" dirty="0">
                <a:solidFill>
                  <a:srgbClr val="C9D1D9"/>
                </a:solidFill>
                <a:latin typeface="Calibri" pitchFamily="34" charset="0"/>
                <a:ea typeface="Calibri" pitchFamily="34" charset="-122"/>
                <a:cs typeface="Calibri" pitchFamily="34" charset="-120"/>
              </a:rPr>
              <a:t>A clone gives you every commit, every author, every message, every version since day one — and a live link back to GitHub.</a:t>
            </a:r>
            <a:endParaRPr lang="en-US" sz="1100" dirty="0"/>
          </a:p>
        </p:txBody>
      </p:sp>
      <p:sp>
        <p:nvSpPr>
          <p:cNvPr id="13" name="Shape 11"/>
          <p:cNvSpPr/>
          <p:nvPr/>
        </p:nvSpPr>
        <p:spPr>
          <a:xfrm>
            <a:off x="502920" y="4023360"/>
            <a:ext cx="8183880" cy="457200"/>
          </a:xfrm>
          <a:prstGeom prst="roundRect">
            <a:avLst>
              <a:gd name="adj" fmla="val 12000"/>
            </a:avLst>
          </a:prstGeom>
          <a:solidFill>
            <a:srgbClr val="1B2A1F"/>
          </a:solidFill>
          <a:ln w="12700">
            <a:solidFill>
              <a:srgbClr val="2F5137"/>
            </a:solidFill>
            <a:prstDash val="solid"/>
          </a:ln>
        </p:spPr>
      </p:sp>
      <p:sp>
        <p:nvSpPr>
          <p:cNvPr id="14" name="Text 12"/>
          <p:cNvSpPr txBox="1"/>
          <p:nvPr/>
        </p:nvSpPr>
        <p:spPr>
          <a:xfrm>
            <a:off x="777240" y="4023360"/>
            <a:ext cx="7772400" cy="457200"/>
          </a:xfrm>
          <a:prstGeom prst="rect">
            <a:avLst/>
          </a:prstGeom>
          <a:noFill/>
          <a:ln/>
        </p:spPr>
        <p:txBody>
          <a:bodyPr wrap="square" lIns="0" tIns="0" rIns="0" bIns="0" rtlCol="0" anchor="ctr"/>
          <a:lstStyle/>
          <a:p>
            <a:pPr indent="0" marL="0">
              <a:buNone/>
            </a:pPr>
            <a:r>
              <a:rPr lang="en-US" sz="1250" b="1" dirty="0">
                <a:solidFill>
                  <a:srgbClr val="8FE3A3"/>
                </a:solidFill>
                <a:latin typeface="Arial" pitchFamily="34" charset="0"/>
                <a:ea typeface="Arial" pitchFamily="34" charset="-122"/>
                <a:cs typeface="Arial" pitchFamily="34" charset="-120"/>
              </a:rPr>
              <a:t>Arjun ran one command and now has the full project, its history, and a connection to the team.</a:t>
            </a:r>
            <a:endParaRPr lang="en-US" sz="1250" dirty="0"/>
          </a:p>
        </p:txBody>
      </p:sp>
      <p:sp>
        <p:nvSpPr>
          <p:cNvPr id="15" name="Text 13"/>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5A6572"/>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THE CORE IDEA OF TODAY</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16191D"/>
                </a:solidFill>
                <a:latin typeface="Arial" pitchFamily="34" charset="0"/>
                <a:ea typeface="Arial" pitchFamily="34" charset="-122"/>
                <a:cs typeface="Arial" pitchFamily="34" charset="-120"/>
              </a:rPr>
              <a:t>Why branches exist</a:t>
            </a:r>
            <a:endParaRPr lang="en-US" sz="3000" dirty="0"/>
          </a:p>
        </p:txBody>
      </p:sp>
      <p:sp>
        <p:nvSpPr>
          <p:cNvPr id="4" name="Shape 2"/>
          <p:cNvSpPr/>
          <p:nvPr/>
        </p:nvSpPr>
        <p:spPr>
          <a:xfrm>
            <a:off x="502920" y="1371600"/>
            <a:ext cx="3977640" cy="1783080"/>
          </a:xfrm>
          <a:prstGeom prst="roundRect">
            <a:avLst>
              <a:gd name="adj" fmla="val 3077"/>
            </a:avLst>
          </a:prstGeom>
          <a:solidFill>
            <a:srgbClr val="E8F3EC"/>
          </a:solidFill>
          <a:ln w="12700">
            <a:solidFill>
              <a:srgbClr val="BCD9C6"/>
            </a:solidFill>
            <a:prstDash val="solid"/>
          </a:ln>
        </p:spPr>
      </p:sp>
      <p:sp>
        <p:nvSpPr>
          <p:cNvPr id="5" name="Text 3"/>
          <p:cNvSpPr txBox="1"/>
          <p:nvPr/>
        </p:nvSpPr>
        <p:spPr>
          <a:xfrm>
            <a:off x="777240" y="1536192"/>
            <a:ext cx="3474720" cy="320040"/>
          </a:xfrm>
          <a:prstGeom prst="rect">
            <a:avLst/>
          </a:prstGeom>
          <a:noFill/>
          <a:ln/>
        </p:spPr>
        <p:txBody>
          <a:bodyPr wrap="square" lIns="0" tIns="0" rIns="0" bIns="0" rtlCol="0" anchor="ctr"/>
          <a:lstStyle/>
          <a:p>
            <a:pPr indent="0" marL="0">
              <a:buNone/>
            </a:pPr>
            <a:r>
              <a:rPr lang="en-US" sz="1450" b="1" dirty="0">
                <a:solidFill>
                  <a:srgbClr val="1F8A42"/>
                </a:solidFill>
                <a:latin typeface="Arial" pitchFamily="34" charset="0"/>
                <a:ea typeface="Arial" pitchFamily="34" charset="-122"/>
                <a:cs typeface="Arial" pitchFamily="34" charset="-120"/>
              </a:rPr>
              <a:t>main = the college notice board</a:t>
            </a:r>
            <a:endParaRPr lang="en-US" sz="1450" dirty="0"/>
          </a:p>
        </p:txBody>
      </p:sp>
      <p:sp>
        <p:nvSpPr>
          <p:cNvPr id="6" name="Text 4"/>
          <p:cNvSpPr txBox="1"/>
          <p:nvPr/>
        </p:nvSpPr>
        <p:spPr>
          <a:xfrm>
            <a:off x="777240" y="1901952"/>
            <a:ext cx="3474720" cy="1097280"/>
          </a:xfrm>
          <a:prstGeom prst="rect">
            <a:avLst/>
          </a:prstGeom>
          <a:noFill/>
          <a:ln/>
        </p:spPr>
        <p:txBody>
          <a:bodyPr wrap="square" lIns="0" tIns="0" rIns="0" bIns="0" rtlCol="0" anchor="ctr"/>
          <a:lstStyle/>
          <a:p>
            <a:pPr indent="0" marL="0">
              <a:lnSpc>
                <a:spcPct val="130000"/>
              </a:lnSpc>
              <a:buNone/>
            </a:pPr>
            <a:r>
              <a:rPr lang="en-US" sz="1200" dirty="0">
                <a:solidFill>
                  <a:srgbClr val="16191D"/>
                </a:solidFill>
                <a:latin typeface="Calibri" pitchFamily="34" charset="0"/>
                <a:ea typeface="Calibri" pitchFamily="34" charset="-122"/>
                <a:cs typeface="Calibri" pitchFamily="34" charset="-120"/>
              </a:rPr>
              <a:t>Official. Public. Always correct. Everyone reads it and trusts it.</a:t>
            </a:r>
            <a:endParaRPr lang="en-US" sz="1200" dirty="0"/>
          </a:p>
          <a:p>
            <a:pPr indent="0" marL="0">
              <a:lnSpc>
                <a:spcPct val="130000"/>
              </a:lnSpc>
              <a:buNone/>
            </a:pPr>
            <a:endParaRPr lang="en-US" sz="1200" dirty="0"/>
          </a:p>
          <a:p>
            <a:pPr indent="0" marL="0">
              <a:lnSpc>
                <a:spcPct val="130000"/>
              </a:lnSpc>
              <a:buNone/>
            </a:pPr>
            <a:r>
              <a:rPr lang="en-US" sz="1200" dirty="0">
                <a:solidFill>
                  <a:srgbClr val="16191D"/>
                </a:solidFill>
                <a:latin typeface="Calibri" pitchFamily="34" charset="0"/>
                <a:ea typeface="Calibri" pitchFamily="34" charset="-122"/>
                <a:cs typeface="Calibri" pitchFamily="34" charset="-120"/>
              </a:rPr>
              <a:t>You do not scribble half-finished ideas on the notice board.</a:t>
            </a:r>
            <a:endParaRPr lang="en-US" sz="1200" dirty="0"/>
          </a:p>
        </p:txBody>
      </p:sp>
      <p:sp>
        <p:nvSpPr>
          <p:cNvPr id="7" name="Shape 5"/>
          <p:cNvSpPr/>
          <p:nvPr/>
        </p:nvSpPr>
        <p:spPr>
          <a:xfrm>
            <a:off x="4709160" y="1371600"/>
            <a:ext cx="3977640" cy="1783080"/>
          </a:xfrm>
          <a:prstGeom prst="roundRect">
            <a:avLst>
              <a:gd name="adj" fmla="val 3077"/>
            </a:avLst>
          </a:prstGeom>
          <a:solidFill>
            <a:srgbClr val="F4EFFC"/>
          </a:solidFill>
          <a:ln w="12700">
            <a:solidFill>
              <a:srgbClr val="D9C9F5"/>
            </a:solidFill>
            <a:prstDash val="solid"/>
          </a:ln>
        </p:spPr>
      </p:sp>
      <p:sp>
        <p:nvSpPr>
          <p:cNvPr id="8" name="Text 6"/>
          <p:cNvSpPr txBox="1"/>
          <p:nvPr/>
        </p:nvSpPr>
        <p:spPr>
          <a:xfrm>
            <a:off x="4983480" y="1536192"/>
            <a:ext cx="3474720" cy="320040"/>
          </a:xfrm>
          <a:prstGeom prst="rect">
            <a:avLst/>
          </a:prstGeom>
          <a:noFill/>
          <a:ln/>
        </p:spPr>
        <p:txBody>
          <a:bodyPr wrap="square" lIns="0" tIns="0" rIns="0" bIns="0" rtlCol="0" anchor="ctr"/>
          <a:lstStyle/>
          <a:p>
            <a:pPr indent="0" marL="0">
              <a:buNone/>
            </a:pPr>
            <a:r>
              <a:rPr lang="en-US" sz="1450" b="1" dirty="0">
                <a:solidFill>
                  <a:srgbClr val="7B3FD4"/>
                </a:solidFill>
                <a:latin typeface="Arial" pitchFamily="34" charset="0"/>
                <a:ea typeface="Arial" pitchFamily="34" charset="-122"/>
                <a:cs typeface="Arial" pitchFamily="34" charset="-120"/>
              </a:rPr>
              <a:t>a branch = your rough notebook</a:t>
            </a:r>
            <a:endParaRPr lang="en-US" sz="1450" dirty="0"/>
          </a:p>
        </p:txBody>
      </p:sp>
      <p:sp>
        <p:nvSpPr>
          <p:cNvPr id="9" name="Text 7"/>
          <p:cNvSpPr txBox="1"/>
          <p:nvPr/>
        </p:nvSpPr>
        <p:spPr>
          <a:xfrm>
            <a:off x="4983480" y="1901952"/>
            <a:ext cx="3474720" cy="1097280"/>
          </a:xfrm>
          <a:prstGeom prst="rect">
            <a:avLst/>
          </a:prstGeom>
          <a:noFill/>
          <a:ln/>
        </p:spPr>
        <p:txBody>
          <a:bodyPr wrap="square" lIns="0" tIns="0" rIns="0" bIns="0" rtlCol="0" anchor="ctr"/>
          <a:lstStyle/>
          <a:p>
            <a:pPr indent="0" marL="0">
              <a:lnSpc>
                <a:spcPct val="130000"/>
              </a:lnSpc>
              <a:buNone/>
            </a:pPr>
            <a:r>
              <a:rPr lang="en-US" sz="1200" dirty="0">
                <a:solidFill>
                  <a:srgbClr val="16191D"/>
                </a:solidFill>
                <a:latin typeface="Calibri" pitchFamily="34" charset="0"/>
                <a:ea typeface="Calibri" pitchFamily="34" charset="-122"/>
                <a:cs typeface="Calibri" pitchFamily="34" charset="-120"/>
              </a:rPr>
              <a:t>Private. Messy. Yours. Try things, break things, start again.</a:t>
            </a:r>
            <a:endParaRPr lang="en-US" sz="1200" dirty="0"/>
          </a:p>
          <a:p>
            <a:pPr indent="0" marL="0">
              <a:lnSpc>
                <a:spcPct val="130000"/>
              </a:lnSpc>
              <a:buNone/>
            </a:pPr>
            <a:endParaRPr lang="en-US" sz="1200" dirty="0"/>
          </a:p>
          <a:p>
            <a:pPr indent="0" marL="0">
              <a:lnSpc>
                <a:spcPct val="130000"/>
              </a:lnSpc>
              <a:buNone/>
            </a:pPr>
            <a:r>
              <a:rPr lang="en-US" sz="1200" dirty="0">
                <a:solidFill>
                  <a:srgbClr val="16191D"/>
                </a:solidFill>
                <a:latin typeface="Calibri" pitchFamily="34" charset="0"/>
                <a:ea typeface="Calibri" pitchFamily="34" charset="-122"/>
                <a:cs typeface="Calibri" pitchFamily="34" charset="-120"/>
              </a:rPr>
              <a:t>When it is finally good, you copy it onto the notice board.</a:t>
            </a:r>
            <a:endParaRPr lang="en-US" sz="1200" dirty="0"/>
          </a:p>
        </p:txBody>
      </p:sp>
      <p:sp>
        <p:nvSpPr>
          <p:cNvPr id="10" name="Shape 8"/>
          <p:cNvSpPr/>
          <p:nvPr/>
        </p:nvSpPr>
        <p:spPr>
          <a:xfrm>
            <a:off x="502920" y="3337560"/>
            <a:ext cx="8183880" cy="1188720"/>
          </a:xfrm>
          <a:prstGeom prst="roundRect">
            <a:avLst>
              <a:gd name="adj" fmla="val 4615"/>
            </a:avLst>
          </a:prstGeom>
          <a:solidFill>
            <a:srgbClr val="F3F5F7"/>
          </a:solidFill>
          <a:ln w="12700">
            <a:solidFill>
              <a:srgbClr val="D5DCE3"/>
            </a:solidFill>
            <a:prstDash val="solid"/>
          </a:ln>
        </p:spPr>
      </p:sp>
      <p:sp>
        <p:nvSpPr>
          <p:cNvPr id="11" name="Text 9"/>
          <p:cNvSpPr txBox="1"/>
          <p:nvPr/>
        </p:nvSpPr>
        <p:spPr>
          <a:xfrm>
            <a:off x="777240" y="3456432"/>
            <a:ext cx="3657600" cy="274320"/>
          </a:xfrm>
          <a:prstGeom prst="rect">
            <a:avLst/>
          </a:prstGeom>
          <a:noFill/>
          <a:ln/>
        </p:spPr>
        <p:txBody>
          <a:bodyPr wrap="square" lIns="0" tIns="0" rIns="0" bIns="0" rtlCol="0" anchor="ctr"/>
          <a:lstStyle/>
          <a:p>
            <a:pPr indent="0" marL="0">
              <a:buNone/>
            </a:pPr>
            <a:r>
              <a:rPr lang="en-US" sz="1250" b="1" dirty="0">
                <a:solidFill>
                  <a:srgbClr val="16191D"/>
                </a:solidFill>
                <a:latin typeface="Arial" pitchFamily="34" charset="0"/>
                <a:ea typeface="Arial" pitchFamily="34" charset="-122"/>
                <a:cs typeface="Arial" pitchFamily="34" charset="-120"/>
              </a:rPr>
              <a:t>A branch costs nothing</a:t>
            </a:r>
            <a:endParaRPr lang="en-US" sz="1250" dirty="0"/>
          </a:p>
        </p:txBody>
      </p:sp>
      <p:sp>
        <p:nvSpPr>
          <p:cNvPr id="12" name="Text 10"/>
          <p:cNvSpPr txBox="1"/>
          <p:nvPr/>
        </p:nvSpPr>
        <p:spPr>
          <a:xfrm>
            <a:off x="777240" y="3749040"/>
            <a:ext cx="7680960" cy="640080"/>
          </a:xfrm>
          <a:prstGeom prst="rect">
            <a:avLst/>
          </a:prstGeom>
          <a:noFill/>
          <a:ln/>
        </p:spPr>
        <p:txBody>
          <a:bodyPr wrap="square" lIns="0" tIns="0" rIns="0" bIns="0" rtlCol="0" anchor="ctr"/>
          <a:lstStyle/>
          <a:p>
            <a:pPr indent="0" marL="0">
              <a:lnSpc>
                <a:spcPct val="135000"/>
              </a:lnSpc>
              <a:buNone/>
            </a:pPr>
            <a:r>
              <a:rPr lang="en-US" sz="1150" dirty="0">
                <a:solidFill>
                  <a:srgbClr val="5A6572"/>
                </a:solidFill>
                <a:latin typeface="Calibri" pitchFamily="34" charset="0"/>
                <a:ea typeface="Calibri" pitchFamily="34" charset="-122"/>
                <a:cs typeface="Calibri" pitchFamily="34" charset="-120"/>
              </a:rPr>
              <a:t>It is not a copy of your project — Git just remembers "this line of work started at that commit".</a:t>
            </a:r>
            <a:endParaRPr lang="en-US" sz="1150" dirty="0"/>
          </a:p>
          <a:p>
            <a:pPr indent="0" marL="0">
              <a:lnSpc>
                <a:spcPct val="135000"/>
              </a:lnSpc>
              <a:buNone/>
            </a:pPr>
            <a:r>
              <a:rPr lang="en-US" sz="1150" dirty="0">
                <a:solidFill>
                  <a:srgbClr val="5A6572"/>
                </a:solidFill>
                <a:latin typeface="Calibri" pitchFamily="34" charset="0"/>
                <a:ea typeface="Calibri" pitchFamily="34" charset="-122"/>
                <a:cs typeface="Calibri" pitchFamily="34" charset="-120"/>
              </a:rPr>
              <a:t>Creating one is instant. Deleting one is instant. Make a branch for every task, however small.</a:t>
            </a:r>
            <a:endParaRPr lang="en-US" sz="1150" dirty="0"/>
          </a:p>
        </p:txBody>
      </p:sp>
      <p:sp>
        <p:nvSpPr>
          <p:cNvPr id="13" name="Text 11"/>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RIGHT NOW</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700" b="1" dirty="0">
                <a:solidFill>
                  <a:srgbClr val="16191D"/>
                </a:solidFill>
                <a:latin typeface="Arial" pitchFamily="34" charset="0"/>
                <a:ea typeface="Arial" pitchFamily="34" charset="-122"/>
                <a:cs typeface="Arial" pitchFamily="34" charset="-120"/>
              </a:rPr>
              <a:t>One commit. One branch. Two people about to start.</a:t>
            </a:r>
            <a:endParaRPr lang="en-US" sz="2700" dirty="0"/>
          </a:p>
        </p:txBody>
      </p:sp>
      <p:sp>
        <p:nvSpPr>
          <p:cNvPr id="4" name="Shape 2"/>
          <p:cNvSpPr/>
          <p:nvPr/>
        </p:nvSpPr>
        <p:spPr>
          <a:xfrm>
            <a:off x="914400" y="2377440"/>
            <a:ext cx="7132320" cy="0"/>
          </a:xfrm>
          <a:prstGeom prst="line">
            <a:avLst/>
          </a:prstGeom>
          <a:noFill/>
          <a:ln w="38100">
            <a:solidFill>
              <a:srgbClr val="D5DCE3"/>
            </a:solidFill>
            <a:prstDash val="solid"/>
          </a:ln>
        </p:spPr>
      </p:sp>
      <p:sp>
        <p:nvSpPr>
          <p:cNvPr id="5" name="Shape 3"/>
          <p:cNvSpPr/>
          <p:nvPr/>
        </p:nvSpPr>
        <p:spPr>
          <a:xfrm>
            <a:off x="1371600" y="2212848"/>
            <a:ext cx="329184" cy="329184"/>
          </a:xfrm>
          <a:prstGeom prst="ellipse">
            <a:avLst/>
          </a:prstGeom>
          <a:solidFill>
            <a:srgbClr val="1F8A42"/>
          </a:solidFill>
          <a:ln w="12700">
            <a:solidFill>
              <a:srgbClr val="1F8A42"/>
            </a:solidFill>
            <a:prstDash val="solid"/>
          </a:ln>
        </p:spPr>
      </p:sp>
      <p:sp>
        <p:nvSpPr>
          <p:cNvPr id="6" name="Text 4"/>
          <p:cNvSpPr txBox="1"/>
          <p:nvPr/>
        </p:nvSpPr>
        <p:spPr>
          <a:xfrm>
            <a:off x="868680" y="2615184"/>
            <a:ext cx="1371600" cy="237744"/>
          </a:xfrm>
          <a:prstGeom prst="rect">
            <a:avLst/>
          </a:prstGeom>
          <a:noFill/>
          <a:ln/>
        </p:spPr>
        <p:txBody>
          <a:bodyPr wrap="square" lIns="0" tIns="0" rIns="0" bIns="0" rtlCol="0" anchor="ctr"/>
          <a:lstStyle/>
          <a:p>
            <a:pPr algn="ctr" indent="0" marL="0">
              <a:buNone/>
            </a:pPr>
            <a:r>
              <a:rPr lang="en-US" sz="1050" b="1" dirty="0">
                <a:solidFill>
                  <a:srgbClr val="16191D"/>
                </a:solidFill>
                <a:latin typeface="Courier New" pitchFamily="34" charset="0"/>
                <a:ea typeface="Courier New" pitchFamily="34" charset="-122"/>
                <a:cs typeface="Courier New" pitchFamily="34" charset="-120"/>
              </a:rPr>
              <a:t>de088a3</a:t>
            </a:r>
            <a:endParaRPr lang="en-US" sz="1050" dirty="0"/>
          </a:p>
        </p:txBody>
      </p:sp>
      <p:sp>
        <p:nvSpPr>
          <p:cNvPr id="7" name="Text 5"/>
          <p:cNvSpPr txBox="1"/>
          <p:nvPr/>
        </p:nvSpPr>
        <p:spPr>
          <a:xfrm>
            <a:off x="868680" y="2852928"/>
            <a:ext cx="1371600" cy="237744"/>
          </a:xfrm>
          <a:prstGeom prst="rect">
            <a:avLst/>
          </a:prstGeom>
          <a:noFill/>
          <a:ln/>
        </p:spPr>
        <p:txBody>
          <a:bodyPr wrap="square" lIns="0" tIns="0" rIns="0" bIns="0" rtlCol="0" anchor="ctr"/>
          <a:lstStyle/>
          <a:p>
            <a:pPr algn="ctr" indent="0" marL="0">
              <a:buNone/>
            </a:pPr>
            <a:r>
              <a:rPr lang="en-US" sz="1000" dirty="0">
                <a:solidFill>
                  <a:srgbClr val="5A6572"/>
                </a:solidFill>
                <a:latin typeface="Calibri" pitchFamily="34" charset="0"/>
                <a:ea typeface="Calibri" pitchFamily="34" charset="-122"/>
                <a:cs typeface="Calibri" pitchFamily="34" charset="-120"/>
              </a:rPr>
              <a:t>Initial commit</a:t>
            </a:r>
            <a:endParaRPr lang="en-US" sz="1000" dirty="0"/>
          </a:p>
        </p:txBody>
      </p:sp>
      <p:sp>
        <p:nvSpPr>
          <p:cNvPr id="8" name="Shape 6"/>
          <p:cNvSpPr/>
          <p:nvPr/>
        </p:nvSpPr>
        <p:spPr>
          <a:xfrm>
            <a:off x="7178040" y="2194560"/>
            <a:ext cx="1051560" cy="365760"/>
          </a:xfrm>
          <a:prstGeom prst="roundRect">
            <a:avLst>
              <a:gd name="adj" fmla="val 20000"/>
            </a:avLst>
          </a:prstGeom>
          <a:solidFill>
            <a:srgbClr val="1F8A42"/>
          </a:solidFill>
          <a:ln w="12700">
            <a:solidFill>
              <a:srgbClr val="1F8A42"/>
            </a:solidFill>
            <a:prstDash val="solid"/>
          </a:ln>
        </p:spPr>
      </p:sp>
      <p:sp>
        <p:nvSpPr>
          <p:cNvPr id="9" name="Text 7"/>
          <p:cNvSpPr txBox="1"/>
          <p:nvPr/>
        </p:nvSpPr>
        <p:spPr>
          <a:xfrm>
            <a:off x="7178040" y="2194560"/>
            <a:ext cx="10515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main</a:t>
            </a:r>
            <a:endParaRPr lang="en-US" sz="1100" dirty="0"/>
          </a:p>
        </p:txBody>
      </p:sp>
      <p:sp>
        <p:nvSpPr>
          <p:cNvPr id="10" name="Text 8"/>
          <p:cNvSpPr txBox="1"/>
          <p:nvPr/>
        </p:nvSpPr>
        <p:spPr>
          <a:xfrm>
            <a:off x="914400" y="1600200"/>
            <a:ext cx="7132320" cy="274320"/>
          </a:xfrm>
          <a:prstGeom prst="rect">
            <a:avLst/>
          </a:prstGeom>
          <a:noFill/>
          <a:ln/>
        </p:spPr>
        <p:txBody>
          <a:bodyPr wrap="square" lIns="0" tIns="0" rIns="0" bIns="0" rtlCol="0" anchor="ctr"/>
          <a:lstStyle/>
          <a:p>
            <a:pPr indent="0" marL="0">
              <a:buNone/>
            </a:pPr>
            <a:r>
              <a:rPr lang="en-US" sz="1300" dirty="0">
                <a:solidFill>
                  <a:srgbClr val="5A6572"/>
                </a:solidFill>
                <a:latin typeface="Calibri" pitchFamily="34" charset="0"/>
                <a:ea typeface="Calibri" pitchFamily="34" charset="-122"/>
                <a:cs typeface="Calibri" pitchFamily="34" charset="-120"/>
              </a:rPr>
              <a:t>Both Meera and Arjun are standing on this exact commit.</a:t>
            </a:r>
            <a:endParaRPr lang="en-US" sz="1300" dirty="0"/>
          </a:p>
        </p:txBody>
      </p:sp>
      <p:sp>
        <p:nvSpPr>
          <p:cNvPr id="11" name="Shape 9"/>
          <p:cNvSpPr/>
          <p:nvPr/>
        </p:nvSpPr>
        <p:spPr>
          <a:xfrm>
            <a:off x="3291840" y="3337560"/>
            <a:ext cx="402336" cy="402336"/>
          </a:xfrm>
          <a:prstGeom prst="ellipse">
            <a:avLst/>
          </a:prstGeom>
          <a:solidFill>
            <a:srgbClr val="E04A29"/>
          </a:solidFill>
          <a:ln w="12700">
            <a:solidFill>
              <a:srgbClr val="E04A29"/>
            </a:solidFill>
            <a:prstDash val="solid"/>
          </a:ln>
        </p:spPr>
      </p:sp>
      <p:sp>
        <p:nvSpPr>
          <p:cNvPr id="12" name="Text 10"/>
          <p:cNvSpPr txBox="1"/>
          <p:nvPr/>
        </p:nvSpPr>
        <p:spPr>
          <a:xfrm>
            <a:off x="3291840" y="3337560"/>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TL</a:t>
            </a:r>
            <a:endParaRPr lang="en-US" sz="1150" dirty="0"/>
          </a:p>
        </p:txBody>
      </p:sp>
      <p:sp>
        <p:nvSpPr>
          <p:cNvPr id="13" name="Text 11"/>
          <p:cNvSpPr txBox="1"/>
          <p:nvPr/>
        </p:nvSpPr>
        <p:spPr>
          <a:xfrm>
            <a:off x="3840480" y="3337560"/>
            <a:ext cx="2377440" cy="402336"/>
          </a:xfrm>
          <a:prstGeom prst="rect">
            <a:avLst/>
          </a:prstGeom>
          <a:noFill/>
          <a:ln/>
        </p:spPr>
        <p:txBody>
          <a:bodyPr wrap="square" lIns="0" tIns="0" rIns="0" bIns="0" rtlCol="0" anchor="ctr"/>
          <a:lstStyle/>
          <a:p>
            <a:pPr indent="0" marL="0">
              <a:buNone/>
            </a:pPr>
            <a:r>
              <a:rPr lang="en-US" sz="1100" dirty="0">
                <a:solidFill>
                  <a:srgbClr val="16191D"/>
                </a:solidFill>
                <a:latin typeface="Calibri" pitchFamily="34" charset="0"/>
                <a:ea typeface="Calibri" pitchFamily="34" charset="-122"/>
                <a:cs typeface="Calibri" pitchFamily="34" charset="-120"/>
              </a:rPr>
              <a:t>wants to build order history</a:t>
            </a:r>
            <a:endParaRPr lang="en-US" sz="1100" dirty="0"/>
          </a:p>
        </p:txBody>
      </p:sp>
      <p:sp>
        <p:nvSpPr>
          <p:cNvPr id="14" name="Shape 12"/>
          <p:cNvSpPr/>
          <p:nvPr/>
        </p:nvSpPr>
        <p:spPr>
          <a:xfrm>
            <a:off x="3291840" y="3886200"/>
            <a:ext cx="402336" cy="402336"/>
          </a:xfrm>
          <a:prstGeom prst="ellipse">
            <a:avLst/>
          </a:prstGeom>
          <a:solidFill>
            <a:srgbClr val="7B3FD4"/>
          </a:solidFill>
          <a:ln w="12700">
            <a:solidFill>
              <a:srgbClr val="7B3FD4"/>
            </a:solidFill>
            <a:prstDash val="solid"/>
          </a:ln>
        </p:spPr>
      </p:sp>
      <p:sp>
        <p:nvSpPr>
          <p:cNvPr id="15" name="Text 13"/>
          <p:cNvSpPr txBox="1"/>
          <p:nvPr/>
        </p:nvSpPr>
        <p:spPr>
          <a:xfrm>
            <a:off x="3291840" y="3886200"/>
            <a:ext cx="402336"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DEV</a:t>
            </a:r>
            <a:endParaRPr lang="en-US" sz="900" dirty="0"/>
          </a:p>
        </p:txBody>
      </p:sp>
      <p:sp>
        <p:nvSpPr>
          <p:cNvPr id="16" name="Text 14"/>
          <p:cNvSpPr txBox="1"/>
          <p:nvPr/>
        </p:nvSpPr>
        <p:spPr>
          <a:xfrm>
            <a:off x="3840480" y="3886200"/>
            <a:ext cx="2377440" cy="402336"/>
          </a:xfrm>
          <a:prstGeom prst="rect">
            <a:avLst/>
          </a:prstGeom>
          <a:noFill/>
          <a:ln/>
        </p:spPr>
        <p:txBody>
          <a:bodyPr wrap="square" lIns="0" tIns="0" rIns="0" bIns="0" rtlCol="0" anchor="ctr"/>
          <a:lstStyle/>
          <a:p>
            <a:pPr indent="0" marL="0">
              <a:buNone/>
            </a:pPr>
            <a:r>
              <a:rPr lang="en-US" sz="1100" dirty="0">
                <a:solidFill>
                  <a:srgbClr val="16191D"/>
                </a:solidFill>
                <a:latin typeface="Calibri" pitchFamily="34" charset="0"/>
                <a:ea typeface="Calibri" pitchFamily="34" charset="-122"/>
                <a:cs typeface="Calibri" pitchFamily="34" charset="-120"/>
              </a:rPr>
              <a:t>wants to build product search</a:t>
            </a:r>
            <a:endParaRPr lang="en-US" sz="1100" dirty="0"/>
          </a:p>
        </p:txBody>
      </p:sp>
      <p:sp>
        <p:nvSpPr>
          <p:cNvPr id="17" name="Text 15"/>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DEMO 3 · BOTH AT THE SAME TIME</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800" b="1" dirty="0">
                <a:solidFill>
                  <a:srgbClr val="FFFFFF"/>
                </a:solidFill>
                <a:latin typeface="Arial" pitchFamily="34" charset="0"/>
                <a:ea typeface="Arial" pitchFamily="34" charset="-122"/>
                <a:cs typeface="Arial" pitchFamily="34" charset="-120"/>
              </a:rPr>
              <a:t>Two branches off main — in the same minute</a:t>
            </a:r>
            <a:endParaRPr lang="en-US" sz="2800" dirty="0"/>
          </a:p>
        </p:txBody>
      </p:sp>
      <p:sp>
        <p:nvSpPr>
          <p:cNvPr id="4" name="Shape 2"/>
          <p:cNvSpPr/>
          <p:nvPr/>
        </p:nvSpPr>
        <p:spPr>
          <a:xfrm>
            <a:off x="502920" y="1389888"/>
            <a:ext cx="329184" cy="329184"/>
          </a:xfrm>
          <a:prstGeom prst="ellipse">
            <a:avLst/>
          </a:prstGeom>
          <a:solidFill>
            <a:srgbClr val="E04A29"/>
          </a:solidFill>
          <a:ln w="12700">
            <a:solidFill>
              <a:srgbClr val="E04A29"/>
            </a:solidFill>
            <a:prstDash val="solid"/>
          </a:ln>
        </p:spPr>
      </p:sp>
      <p:sp>
        <p:nvSpPr>
          <p:cNvPr id="5" name="Text 3"/>
          <p:cNvSpPr txBox="1"/>
          <p:nvPr/>
        </p:nvSpPr>
        <p:spPr>
          <a:xfrm>
            <a:off x="502920" y="138988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TL</a:t>
            </a:r>
            <a:endParaRPr lang="en-US" sz="1000" dirty="0"/>
          </a:p>
        </p:txBody>
      </p:sp>
      <p:sp>
        <p:nvSpPr>
          <p:cNvPr id="6" name="Text 4"/>
          <p:cNvSpPr txBox="1"/>
          <p:nvPr/>
        </p:nvSpPr>
        <p:spPr>
          <a:xfrm>
            <a:off x="914400" y="1389888"/>
            <a:ext cx="1371600" cy="329184"/>
          </a:xfrm>
          <a:prstGeom prst="rect">
            <a:avLst/>
          </a:prstGeom>
          <a:noFill/>
          <a:ln/>
        </p:spPr>
        <p:txBody>
          <a:bodyPr wrap="square" lIns="0" tIns="0" rIns="0" bIns="0" rtlCol="0" anchor="ctr"/>
          <a:lstStyle/>
          <a:p>
            <a:pPr indent="0" marL="0">
              <a:buNone/>
            </a:pPr>
            <a:r>
              <a:rPr lang="en-US" sz="1150" b="1" dirty="0">
                <a:solidFill>
                  <a:srgbClr val="FFAA64"/>
                </a:solidFill>
                <a:latin typeface="Calibri" pitchFamily="34" charset="0"/>
                <a:ea typeface="Calibri" pitchFamily="34" charset="-122"/>
                <a:cs typeface="Calibri" pitchFamily="34" charset="-120"/>
              </a:rPr>
              <a:t>Meera</a:t>
            </a:r>
            <a:endParaRPr lang="en-US" sz="1150" dirty="0"/>
          </a:p>
        </p:txBody>
      </p:sp>
      <p:sp>
        <p:nvSpPr>
          <p:cNvPr id="7" name="Shape 5"/>
          <p:cNvSpPr/>
          <p:nvPr/>
        </p:nvSpPr>
        <p:spPr>
          <a:xfrm>
            <a:off x="502920" y="1783080"/>
            <a:ext cx="3931920" cy="2148840"/>
          </a:xfrm>
          <a:prstGeom prst="roundRect">
            <a:avLst>
              <a:gd name="adj" fmla="val 2128"/>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8" name="Shape 6"/>
          <p:cNvSpPr/>
          <p:nvPr/>
        </p:nvSpPr>
        <p:spPr>
          <a:xfrm>
            <a:off x="640080" y="1915668"/>
            <a:ext cx="77724" cy="77724"/>
          </a:xfrm>
          <a:prstGeom prst="ellipse">
            <a:avLst/>
          </a:prstGeom>
          <a:solidFill>
            <a:srgbClr val="FF5F56"/>
          </a:solidFill>
          <a:ln w="12700">
            <a:solidFill>
              <a:srgbClr val="FF5F56"/>
            </a:solidFill>
            <a:prstDash val="solid"/>
          </a:ln>
        </p:spPr>
      </p:sp>
      <p:sp>
        <p:nvSpPr>
          <p:cNvPr id="9" name="Shape 7"/>
          <p:cNvSpPr/>
          <p:nvPr/>
        </p:nvSpPr>
        <p:spPr>
          <a:xfrm>
            <a:off x="781812" y="1915668"/>
            <a:ext cx="77724" cy="77724"/>
          </a:xfrm>
          <a:prstGeom prst="ellipse">
            <a:avLst/>
          </a:prstGeom>
          <a:solidFill>
            <a:srgbClr val="FFBD2E"/>
          </a:solidFill>
          <a:ln w="12700">
            <a:solidFill>
              <a:srgbClr val="FFBD2E"/>
            </a:solidFill>
            <a:prstDash val="solid"/>
          </a:ln>
        </p:spPr>
      </p:sp>
      <p:sp>
        <p:nvSpPr>
          <p:cNvPr id="10" name="Shape 8"/>
          <p:cNvSpPr/>
          <p:nvPr/>
        </p:nvSpPr>
        <p:spPr>
          <a:xfrm>
            <a:off x="923544" y="1915668"/>
            <a:ext cx="77724" cy="77724"/>
          </a:xfrm>
          <a:prstGeom prst="ellipse">
            <a:avLst/>
          </a:prstGeom>
          <a:solidFill>
            <a:srgbClr val="27C93F"/>
          </a:solidFill>
          <a:ln w="12700">
            <a:solidFill>
              <a:srgbClr val="27C93F"/>
            </a:solidFill>
            <a:prstDash val="solid"/>
          </a:ln>
        </p:spPr>
      </p:sp>
      <p:sp>
        <p:nvSpPr>
          <p:cNvPr id="11" name="Text 9"/>
          <p:cNvSpPr txBox="1"/>
          <p:nvPr/>
        </p:nvSpPr>
        <p:spPr>
          <a:xfrm>
            <a:off x="1069848" y="1860804"/>
            <a:ext cx="324612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TL_campuscart</a:t>
            </a:r>
            <a:endParaRPr lang="en-US" sz="850" dirty="0"/>
          </a:p>
        </p:txBody>
      </p:sp>
      <p:sp>
        <p:nvSpPr>
          <p:cNvPr id="12" name="Text 10"/>
          <p:cNvSpPr txBox="1"/>
          <p:nvPr/>
        </p:nvSpPr>
        <p:spPr>
          <a:xfrm>
            <a:off x="704088" y="2148840"/>
            <a:ext cx="3529584" cy="1645920"/>
          </a:xfrm>
          <a:prstGeom prst="rect">
            <a:avLst/>
          </a:prstGeom>
          <a:noFill/>
          <a:ln/>
        </p:spPr>
        <p:txBody>
          <a:bodyPr wrap="square" lIns="0" tIns="0" rIns="0" bIns="0" rtlCol="0" anchor="t"/>
          <a:lstStyle/>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switch -c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feature/order-history</a:t>
            </a:r>
            <a:endParaRPr lang="en-US" sz="950" dirty="0"/>
          </a:p>
          <a:p>
            <a:pPr indent="0" marL="0">
              <a:lnSpc>
                <a:spcPct val="122000"/>
              </a:lnSpc>
              <a:buNone/>
            </a:pPr>
            <a:r>
              <a:rPr lang="en-US" sz="950" dirty="0">
                <a:solidFill>
                  <a:srgbClr val="6FD37E"/>
                </a:solidFill>
                <a:latin typeface="Courier New" pitchFamily="34" charset="0"/>
                <a:ea typeface="Courier New" pitchFamily="34" charset="-122"/>
                <a:cs typeface="Courier New" pitchFamily="34" charset="-120"/>
              </a:rPr>
              <a:t>Switched to a new branch</a:t>
            </a:r>
            <a:endParaRPr lang="en-US" sz="950" dirty="0"/>
          </a:p>
          <a:p>
            <a:pPr indent="0" marL="0">
              <a:lnSpc>
                <a:spcPct val="122000"/>
              </a:lnSpc>
              <a:buNone/>
            </a:pPr>
            <a:r>
              <a:rPr lang="en-US" sz="950" dirty="0">
                <a:solidFill>
                  <a:srgbClr val="6FD37E"/>
                </a:solidFill>
                <a:latin typeface="Courier New" pitchFamily="34" charset="0"/>
                <a:ea typeface="Courier New" pitchFamily="34" charset="-122"/>
                <a:cs typeface="Courier New" pitchFamily="34" charset="-120"/>
              </a:rPr>
              <a:t>'feature/order-history'</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branch</a:t>
            </a:r>
            <a:endParaRPr lang="en-US" sz="950" dirty="0"/>
          </a:p>
          <a:p>
            <a:pPr indent="0" marL="0">
              <a:lnSpc>
                <a:spcPct val="122000"/>
              </a:lnSpc>
              <a:buNone/>
            </a:pPr>
            <a:r>
              <a:rPr lang="en-US" sz="950" b="1" dirty="0">
                <a:solidFill>
                  <a:srgbClr val="FFAA64"/>
                </a:solidFill>
                <a:latin typeface="Courier New" pitchFamily="34" charset="0"/>
                <a:ea typeface="Courier New" pitchFamily="34" charset="-122"/>
                <a:cs typeface="Courier New" pitchFamily="34" charset="-120"/>
              </a:rPr>
              <a:t>* feature/order-history</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main</a:t>
            </a:r>
            <a:endParaRPr lang="en-US" sz="950" dirty="0"/>
          </a:p>
        </p:txBody>
      </p:sp>
      <p:sp>
        <p:nvSpPr>
          <p:cNvPr id="13" name="Shape 11"/>
          <p:cNvSpPr/>
          <p:nvPr/>
        </p:nvSpPr>
        <p:spPr>
          <a:xfrm>
            <a:off x="4754880" y="1389888"/>
            <a:ext cx="329184" cy="329184"/>
          </a:xfrm>
          <a:prstGeom prst="ellipse">
            <a:avLst/>
          </a:prstGeom>
          <a:solidFill>
            <a:srgbClr val="7B3FD4"/>
          </a:solidFill>
          <a:ln w="12700">
            <a:solidFill>
              <a:srgbClr val="7B3FD4"/>
            </a:solidFill>
            <a:prstDash val="solid"/>
          </a:ln>
        </p:spPr>
      </p:sp>
      <p:sp>
        <p:nvSpPr>
          <p:cNvPr id="14" name="Text 12"/>
          <p:cNvSpPr txBox="1"/>
          <p:nvPr/>
        </p:nvSpPr>
        <p:spPr>
          <a:xfrm>
            <a:off x="4754880" y="1389888"/>
            <a:ext cx="329184" cy="329184"/>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DEV</a:t>
            </a:r>
            <a:endParaRPr lang="en-US" sz="850" dirty="0"/>
          </a:p>
        </p:txBody>
      </p:sp>
      <p:sp>
        <p:nvSpPr>
          <p:cNvPr id="15" name="Text 13"/>
          <p:cNvSpPr txBox="1"/>
          <p:nvPr/>
        </p:nvSpPr>
        <p:spPr>
          <a:xfrm>
            <a:off x="5166360" y="1389888"/>
            <a:ext cx="1371600" cy="329184"/>
          </a:xfrm>
          <a:prstGeom prst="rect">
            <a:avLst/>
          </a:prstGeom>
          <a:noFill/>
          <a:ln/>
        </p:spPr>
        <p:txBody>
          <a:bodyPr wrap="square" lIns="0" tIns="0" rIns="0" bIns="0" rtlCol="0" anchor="ctr"/>
          <a:lstStyle/>
          <a:p>
            <a:pPr indent="0" marL="0">
              <a:buNone/>
            </a:pPr>
            <a:r>
              <a:rPr lang="en-US" sz="1150" b="1" dirty="0">
                <a:solidFill>
                  <a:srgbClr val="C4A5F5"/>
                </a:solidFill>
                <a:latin typeface="Calibri" pitchFamily="34" charset="0"/>
                <a:ea typeface="Calibri" pitchFamily="34" charset="-122"/>
                <a:cs typeface="Calibri" pitchFamily="34" charset="-120"/>
              </a:rPr>
              <a:t>Arjun</a:t>
            </a:r>
            <a:endParaRPr lang="en-US" sz="1150" dirty="0"/>
          </a:p>
        </p:txBody>
      </p:sp>
      <p:sp>
        <p:nvSpPr>
          <p:cNvPr id="16" name="Shape 14"/>
          <p:cNvSpPr/>
          <p:nvPr/>
        </p:nvSpPr>
        <p:spPr>
          <a:xfrm>
            <a:off x="4754880" y="1783080"/>
            <a:ext cx="3931920" cy="2148840"/>
          </a:xfrm>
          <a:prstGeom prst="roundRect">
            <a:avLst>
              <a:gd name="adj" fmla="val 2128"/>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17" name="Shape 15"/>
          <p:cNvSpPr/>
          <p:nvPr/>
        </p:nvSpPr>
        <p:spPr>
          <a:xfrm>
            <a:off x="4892040" y="1915668"/>
            <a:ext cx="77724" cy="77724"/>
          </a:xfrm>
          <a:prstGeom prst="ellipse">
            <a:avLst/>
          </a:prstGeom>
          <a:solidFill>
            <a:srgbClr val="FF5F56"/>
          </a:solidFill>
          <a:ln w="12700">
            <a:solidFill>
              <a:srgbClr val="FF5F56"/>
            </a:solidFill>
            <a:prstDash val="solid"/>
          </a:ln>
        </p:spPr>
      </p:sp>
      <p:sp>
        <p:nvSpPr>
          <p:cNvPr id="18" name="Shape 16"/>
          <p:cNvSpPr/>
          <p:nvPr/>
        </p:nvSpPr>
        <p:spPr>
          <a:xfrm>
            <a:off x="5033772" y="1915668"/>
            <a:ext cx="77724" cy="77724"/>
          </a:xfrm>
          <a:prstGeom prst="ellipse">
            <a:avLst/>
          </a:prstGeom>
          <a:solidFill>
            <a:srgbClr val="FFBD2E"/>
          </a:solidFill>
          <a:ln w="12700">
            <a:solidFill>
              <a:srgbClr val="FFBD2E"/>
            </a:solidFill>
            <a:prstDash val="solid"/>
          </a:ln>
        </p:spPr>
      </p:sp>
      <p:sp>
        <p:nvSpPr>
          <p:cNvPr id="19" name="Shape 17"/>
          <p:cNvSpPr/>
          <p:nvPr/>
        </p:nvSpPr>
        <p:spPr>
          <a:xfrm>
            <a:off x="5175504" y="1915668"/>
            <a:ext cx="77724" cy="77724"/>
          </a:xfrm>
          <a:prstGeom prst="ellipse">
            <a:avLst/>
          </a:prstGeom>
          <a:solidFill>
            <a:srgbClr val="27C93F"/>
          </a:solidFill>
          <a:ln w="12700">
            <a:solidFill>
              <a:srgbClr val="27C93F"/>
            </a:solidFill>
            <a:prstDash val="solid"/>
          </a:ln>
        </p:spPr>
      </p:sp>
      <p:sp>
        <p:nvSpPr>
          <p:cNvPr id="20" name="Text 18"/>
          <p:cNvSpPr txBox="1"/>
          <p:nvPr/>
        </p:nvSpPr>
        <p:spPr>
          <a:xfrm>
            <a:off x="5321808" y="1860804"/>
            <a:ext cx="324612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DEV_campuscart</a:t>
            </a:r>
            <a:endParaRPr lang="en-US" sz="850" dirty="0"/>
          </a:p>
        </p:txBody>
      </p:sp>
      <p:sp>
        <p:nvSpPr>
          <p:cNvPr id="21" name="Text 19"/>
          <p:cNvSpPr txBox="1"/>
          <p:nvPr/>
        </p:nvSpPr>
        <p:spPr>
          <a:xfrm>
            <a:off x="4956048" y="2148840"/>
            <a:ext cx="3529584" cy="1645920"/>
          </a:xfrm>
          <a:prstGeom prst="rect">
            <a:avLst/>
          </a:prstGeom>
          <a:noFill/>
          <a:ln/>
        </p:spPr>
        <p:txBody>
          <a:bodyPr wrap="square" lIns="0" tIns="0" rIns="0" bIns="0" rtlCol="0" anchor="t"/>
          <a:lstStyle/>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switch -c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feature/product-search</a:t>
            </a:r>
            <a:endParaRPr lang="en-US" sz="950" dirty="0"/>
          </a:p>
          <a:p>
            <a:pPr indent="0" marL="0">
              <a:lnSpc>
                <a:spcPct val="122000"/>
              </a:lnSpc>
              <a:buNone/>
            </a:pPr>
            <a:r>
              <a:rPr lang="en-US" sz="950" dirty="0">
                <a:solidFill>
                  <a:srgbClr val="6FD37E"/>
                </a:solidFill>
                <a:latin typeface="Courier New" pitchFamily="34" charset="0"/>
                <a:ea typeface="Courier New" pitchFamily="34" charset="-122"/>
                <a:cs typeface="Courier New" pitchFamily="34" charset="-120"/>
              </a:rPr>
              <a:t>Switched to a new branch</a:t>
            </a:r>
            <a:endParaRPr lang="en-US" sz="950" dirty="0"/>
          </a:p>
          <a:p>
            <a:pPr indent="0" marL="0">
              <a:lnSpc>
                <a:spcPct val="122000"/>
              </a:lnSpc>
              <a:buNone/>
            </a:pPr>
            <a:r>
              <a:rPr lang="en-US" sz="950" dirty="0">
                <a:solidFill>
                  <a:srgbClr val="6FD37E"/>
                </a:solidFill>
                <a:latin typeface="Courier New" pitchFamily="34" charset="0"/>
                <a:ea typeface="Courier New" pitchFamily="34" charset="-122"/>
                <a:cs typeface="Courier New" pitchFamily="34" charset="-120"/>
              </a:rPr>
              <a:t>'feature/product-search'</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branch</a:t>
            </a:r>
            <a:endParaRPr lang="en-US" sz="950" dirty="0"/>
          </a:p>
          <a:p>
            <a:pPr indent="0" marL="0">
              <a:lnSpc>
                <a:spcPct val="122000"/>
              </a:lnSpc>
              <a:buNone/>
            </a:pPr>
            <a:r>
              <a:rPr lang="en-US" sz="950" b="1" dirty="0">
                <a:solidFill>
                  <a:srgbClr val="FFAA64"/>
                </a:solidFill>
                <a:latin typeface="Courier New" pitchFamily="34" charset="0"/>
                <a:ea typeface="Courier New" pitchFamily="34" charset="-122"/>
                <a:cs typeface="Courier New" pitchFamily="34" charset="-120"/>
              </a:rPr>
              <a:t>* feature/product-search</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main</a:t>
            </a:r>
            <a:endParaRPr lang="en-US" sz="950" dirty="0"/>
          </a:p>
        </p:txBody>
      </p:sp>
      <p:sp>
        <p:nvSpPr>
          <p:cNvPr id="22" name="Shape 20"/>
          <p:cNvSpPr/>
          <p:nvPr/>
        </p:nvSpPr>
        <p:spPr>
          <a:xfrm>
            <a:off x="502920" y="4069080"/>
            <a:ext cx="8183880" cy="502920"/>
          </a:xfrm>
          <a:prstGeom prst="roundRect">
            <a:avLst>
              <a:gd name="adj" fmla="val 10909"/>
            </a:avLst>
          </a:prstGeom>
          <a:solidFill>
            <a:srgbClr val="1B2A1F"/>
          </a:solidFill>
          <a:ln w="12700">
            <a:solidFill>
              <a:srgbClr val="2F5137"/>
            </a:solidFill>
            <a:prstDash val="solid"/>
          </a:ln>
        </p:spPr>
      </p:sp>
      <p:sp>
        <p:nvSpPr>
          <p:cNvPr id="23" name="Text 21"/>
          <p:cNvSpPr txBox="1"/>
          <p:nvPr/>
        </p:nvSpPr>
        <p:spPr>
          <a:xfrm>
            <a:off x="777240" y="4069080"/>
            <a:ext cx="7772400" cy="502920"/>
          </a:xfrm>
          <a:prstGeom prst="rect">
            <a:avLst/>
          </a:prstGeom>
          <a:noFill/>
          <a:ln/>
        </p:spPr>
        <p:txBody>
          <a:bodyPr wrap="square" lIns="0" tIns="0" rIns="0" bIns="0" rtlCol="0" anchor="ctr"/>
          <a:lstStyle/>
          <a:p>
            <a:pPr indent="0" marL="0">
              <a:buNone/>
            </a:pPr>
            <a:r>
              <a:rPr lang="en-US" sz="1350" b="1" dirty="0">
                <a:solidFill>
                  <a:srgbClr val="8FE3A3"/>
                </a:solidFill>
                <a:latin typeface="Arial" pitchFamily="34" charset="0"/>
                <a:ea typeface="Arial" pitchFamily="34" charset="-122"/>
                <a:cs typeface="Arial" pitchFamily="34" charset="-120"/>
              </a:rPr>
              <a:t>Nobody asked permission. Nobody waited. Nobody touched main.</a:t>
            </a:r>
            <a:endParaRPr lang="en-US" sz="1350" dirty="0"/>
          </a:p>
        </p:txBody>
      </p:sp>
      <p:sp>
        <p:nvSpPr>
          <p:cNvPr id="24" name="Text 22"/>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WHAT THE REPOSITORY LOOKS LIKE NOW</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16191D"/>
                </a:solidFill>
                <a:latin typeface="Arial" pitchFamily="34" charset="0"/>
                <a:ea typeface="Arial" pitchFamily="34" charset="-122"/>
                <a:cs typeface="Arial" pitchFamily="34" charset="-120"/>
              </a:rPr>
              <a:t>One history, two directions</a:t>
            </a:r>
            <a:endParaRPr lang="en-US" sz="3000" dirty="0"/>
          </a:p>
        </p:txBody>
      </p:sp>
      <p:sp>
        <p:nvSpPr>
          <p:cNvPr id="4" name="Shape 2"/>
          <p:cNvSpPr/>
          <p:nvPr/>
        </p:nvSpPr>
        <p:spPr>
          <a:xfrm>
            <a:off x="1097280" y="2788920"/>
            <a:ext cx="2011680" cy="0"/>
          </a:xfrm>
          <a:prstGeom prst="line">
            <a:avLst/>
          </a:prstGeom>
          <a:noFill/>
          <a:ln w="38100">
            <a:solidFill>
              <a:srgbClr val="D5DCE3"/>
            </a:solidFill>
            <a:prstDash val="solid"/>
          </a:ln>
        </p:spPr>
      </p:sp>
      <p:sp>
        <p:nvSpPr>
          <p:cNvPr id="5" name="Shape 3"/>
          <p:cNvSpPr/>
          <p:nvPr/>
        </p:nvSpPr>
        <p:spPr>
          <a:xfrm>
            <a:off x="1234440" y="2624328"/>
            <a:ext cx="329184" cy="329184"/>
          </a:xfrm>
          <a:prstGeom prst="ellipse">
            <a:avLst/>
          </a:prstGeom>
          <a:solidFill>
            <a:srgbClr val="5A6572"/>
          </a:solidFill>
          <a:ln w="12700">
            <a:solidFill>
              <a:srgbClr val="5A6572"/>
            </a:solidFill>
            <a:prstDash val="solid"/>
          </a:ln>
        </p:spPr>
      </p:sp>
      <p:sp>
        <p:nvSpPr>
          <p:cNvPr id="6" name="Text 4"/>
          <p:cNvSpPr txBox="1"/>
          <p:nvPr/>
        </p:nvSpPr>
        <p:spPr>
          <a:xfrm>
            <a:off x="731520" y="3017520"/>
            <a:ext cx="1371600" cy="237744"/>
          </a:xfrm>
          <a:prstGeom prst="rect">
            <a:avLst/>
          </a:prstGeom>
          <a:noFill/>
          <a:ln/>
        </p:spPr>
        <p:txBody>
          <a:bodyPr wrap="square" lIns="0" tIns="0" rIns="0" bIns="0" rtlCol="0" anchor="ctr"/>
          <a:lstStyle/>
          <a:p>
            <a:pPr algn="ctr" indent="0" marL="0">
              <a:buNone/>
            </a:pPr>
            <a:r>
              <a:rPr lang="en-US" sz="1000" b="1" dirty="0">
                <a:solidFill>
                  <a:srgbClr val="5A6572"/>
                </a:solidFill>
                <a:latin typeface="Courier New" pitchFamily="34" charset="0"/>
                <a:ea typeface="Courier New" pitchFamily="34" charset="-122"/>
                <a:cs typeface="Courier New" pitchFamily="34" charset="-120"/>
              </a:rPr>
              <a:t>de088a3</a:t>
            </a:r>
            <a:endParaRPr lang="en-US" sz="1000" dirty="0"/>
          </a:p>
        </p:txBody>
      </p:sp>
      <p:sp>
        <p:nvSpPr>
          <p:cNvPr id="7" name="Shape 5"/>
          <p:cNvSpPr/>
          <p:nvPr/>
        </p:nvSpPr>
        <p:spPr>
          <a:xfrm>
            <a:off x="3108960" y="2788920"/>
            <a:ext cx="2194560" cy="-777240"/>
          </a:xfrm>
          <a:prstGeom prst="line">
            <a:avLst/>
          </a:prstGeom>
          <a:noFill/>
          <a:ln w="38100">
            <a:solidFill>
              <a:srgbClr val="E04A29"/>
            </a:solidFill>
            <a:prstDash val="solid"/>
          </a:ln>
        </p:spPr>
      </p:sp>
      <p:sp>
        <p:nvSpPr>
          <p:cNvPr id="8" name="Shape 6"/>
          <p:cNvSpPr/>
          <p:nvPr/>
        </p:nvSpPr>
        <p:spPr>
          <a:xfrm>
            <a:off x="3108960" y="2788920"/>
            <a:ext cx="2194560" cy="777240"/>
          </a:xfrm>
          <a:prstGeom prst="line">
            <a:avLst/>
          </a:prstGeom>
          <a:noFill/>
          <a:ln w="38100">
            <a:solidFill>
              <a:srgbClr val="7B3FD4"/>
            </a:solidFill>
            <a:prstDash val="solid"/>
          </a:ln>
        </p:spPr>
      </p:sp>
      <p:sp>
        <p:nvSpPr>
          <p:cNvPr id="9" name="Shape 7"/>
          <p:cNvSpPr/>
          <p:nvPr/>
        </p:nvSpPr>
        <p:spPr>
          <a:xfrm>
            <a:off x="5303520" y="2011680"/>
            <a:ext cx="1371600" cy="0"/>
          </a:xfrm>
          <a:prstGeom prst="line">
            <a:avLst/>
          </a:prstGeom>
          <a:noFill/>
          <a:ln w="38100">
            <a:solidFill>
              <a:srgbClr val="E04A29"/>
            </a:solidFill>
            <a:prstDash val="solid"/>
          </a:ln>
        </p:spPr>
      </p:sp>
      <p:sp>
        <p:nvSpPr>
          <p:cNvPr id="10" name="Shape 8"/>
          <p:cNvSpPr/>
          <p:nvPr/>
        </p:nvSpPr>
        <p:spPr>
          <a:xfrm>
            <a:off x="5303520" y="3566160"/>
            <a:ext cx="1371600" cy="0"/>
          </a:xfrm>
          <a:prstGeom prst="line">
            <a:avLst/>
          </a:prstGeom>
          <a:noFill/>
          <a:ln w="38100">
            <a:solidFill>
              <a:srgbClr val="7B3FD4"/>
            </a:solidFill>
            <a:prstDash val="solid"/>
          </a:ln>
        </p:spPr>
      </p:sp>
      <p:sp>
        <p:nvSpPr>
          <p:cNvPr id="11" name="Shape 9"/>
          <p:cNvSpPr/>
          <p:nvPr/>
        </p:nvSpPr>
        <p:spPr>
          <a:xfrm>
            <a:off x="6720840" y="1828800"/>
            <a:ext cx="1965960" cy="384048"/>
          </a:xfrm>
          <a:prstGeom prst="roundRect">
            <a:avLst>
              <a:gd name="adj" fmla="val 19048"/>
            </a:avLst>
          </a:prstGeom>
          <a:solidFill>
            <a:srgbClr val="E04A29"/>
          </a:solidFill>
          <a:ln w="12700">
            <a:solidFill>
              <a:srgbClr val="E04A29"/>
            </a:solidFill>
            <a:prstDash val="solid"/>
          </a:ln>
        </p:spPr>
      </p:sp>
      <p:sp>
        <p:nvSpPr>
          <p:cNvPr id="12" name="Text 10"/>
          <p:cNvSpPr txBox="1"/>
          <p:nvPr/>
        </p:nvSpPr>
        <p:spPr>
          <a:xfrm>
            <a:off x="6720840" y="1828800"/>
            <a:ext cx="196596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feature/order-history</a:t>
            </a:r>
            <a:endParaRPr lang="en-US" sz="900" dirty="0"/>
          </a:p>
        </p:txBody>
      </p:sp>
      <p:sp>
        <p:nvSpPr>
          <p:cNvPr id="13" name="Shape 11"/>
          <p:cNvSpPr/>
          <p:nvPr/>
        </p:nvSpPr>
        <p:spPr>
          <a:xfrm>
            <a:off x="6720840" y="3383280"/>
            <a:ext cx="1965960" cy="384048"/>
          </a:xfrm>
          <a:prstGeom prst="roundRect">
            <a:avLst>
              <a:gd name="adj" fmla="val 19048"/>
            </a:avLst>
          </a:prstGeom>
          <a:solidFill>
            <a:srgbClr val="7B3FD4"/>
          </a:solidFill>
          <a:ln w="12700">
            <a:solidFill>
              <a:srgbClr val="7B3FD4"/>
            </a:solidFill>
            <a:prstDash val="solid"/>
          </a:ln>
        </p:spPr>
      </p:sp>
      <p:sp>
        <p:nvSpPr>
          <p:cNvPr id="14" name="Text 12"/>
          <p:cNvSpPr txBox="1"/>
          <p:nvPr/>
        </p:nvSpPr>
        <p:spPr>
          <a:xfrm>
            <a:off x="6720840" y="3383280"/>
            <a:ext cx="196596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feature/product-search</a:t>
            </a:r>
            <a:endParaRPr lang="en-US" sz="900" dirty="0"/>
          </a:p>
        </p:txBody>
      </p:sp>
      <p:sp>
        <p:nvSpPr>
          <p:cNvPr id="15" name="Shape 13"/>
          <p:cNvSpPr/>
          <p:nvPr/>
        </p:nvSpPr>
        <p:spPr>
          <a:xfrm>
            <a:off x="3246120" y="2596896"/>
            <a:ext cx="914400" cy="365760"/>
          </a:xfrm>
          <a:prstGeom prst="roundRect">
            <a:avLst>
              <a:gd name="adj" fmla="val 20000"/>
            </a:avLst>
          </a:prstGeom>
          <a:solidFill>
            <a:srgbClr val="1F8A42"/>
          </a:solidFill>
          <a:ln w="12700">
            <a:solidFill>
              <a:srgbClr val="1F8A42"/>
            </a:solidFill>
            <a:prstDash val="solid"/>
          </a:ln>
        </p:spPr>
      </p:sp>
      <p:sp>
        <p:nvSpPr>
          <p:cNvPr id="16" name="Text 14"/>
          <p:cNvSpPr txBox="1"/>
          <p:nvPr/>
        </p:nvSpPr>
        <p:spPr>
          <a:xfrm>
            <a:off x="3246120" y="2596896"/>
            <a:ext cx="9144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main</a:t>
            </a:r>
            <a:endParaRPr lang="en-US" sz="1050" dirty="0"/>
          </a:p>
        </p:txBody>
      </p:sp>
      <p:sp>
        <p:nvSpPr>
          <p:cNvPr id="17" name="Text 15"/>
          <p:cNvSpPr txBox="1"/>
          <p:nvPr/>
        </p:nvSpPr>
        <p:spPr>
          <a:xfrm>
            <a:off x="502920" y="4160520"/>
            <a:ext cx="8183880" cy="292608"/>
          </a:xfrm>
          <a:prstGeom prst="rect">
            <a:avLst/>
          </a:prstGeom>
          <a:noFill/>
          <a:ln/>
        </p:spPr>
        <p:txBody>
          <a:bodyPr wrap="square" lIns="0" tIns="0" rIns="0" bIns="0" rtlCol="0" anchor="ctr"/>
          <a:lstStyle/>
          <a:p>
            <a:pPr algn="ctr" indent="0" marL="0">
              <a:buNone/>
            </a:pPr>
            <a:r>
              <a:rPr lang="en-US" sz="1300" b="1" dirty="0">
                <a:solidFill>
                  <a:srgbClr val="1F8A42"/>
                </a:solidFill>
                <a:latin typeface="Calibri" pitchFamily="34" charset="0"/>
                <a:ea typeface="Calibri" pitchFamily="34" charset="-122"/>
                <a:cs typeface="Calibri" pitchFamily="34" charset="-120"/>
              </a:rPr>
              <a:t>main has not moved. It is exactly as safe as it was this morning.</a:t>
            </a:r>
            <a:endParaRPr lang="en-US" sz="1300" dirty="0"/>
          </a:p>
        </p:txBody>
      </p:sp>
      <p:sp>
        <p:nvSpPr>
          <p:cNvPr id="18" name="Text 16"/>
          <p:cNvSpPr txBox="1"/>
          <p:nvPr/>
        </p:nvSpPr>
        <p:spPr>
          <a:xfrm>
            <a:off x="502920" y="1371600"/>
            <a:ext cx="8183880" cy="274320"/>
          </a:xfrm>
          <a:prstGeom prst="rect">
            <a:avLst/>
          </a:prstGeom>
          <a:noFill/>
          <a:ln/>
        </p:spPr>
        <p:txBody>
          <a:bodyPr wrap="square" lIns="0" tIns="0" rIns="0" bIns="0" rtlCol="0" anchor="ctr"/>
          <a:lstStyle/>
          <a:p>
            <a:pPr algn="ctr" indent="0" marL="0">
              <a:buNone/>
            </a:pPr>
            <a:r>
              <a:rPr lang="en-US" sz="1300" dirty="0">
                <a:solidFill>
                  <a:srgbClr val="5A6572"/>
                </a:solidFill>
                <a:latin typeface="Calibri" pitchFamily="34" charset="0"/>
                <a:ea typeface="Calibri" pitchFamily="34" charset="-122"/>
                <a:cs typeface="Calibri" pitchFamily="34" charset="-120"/>
              </a:rPr>
              <a:t>Two people, one shared history, two independent lines of work.</a:t>
            </a:r>
            <a:endParaRPr lang="en-US" sz="1300" dirty="0"/>
          </a:p>
        </p:txBody>
      </p:sp>
      <p:sp>
        <p:nvSpPr>
          <p:cNvPr id="19" name="Text 17"/>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TEAM CONVENTION</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16191D"/>
                </a:solidFill>
                <a:latin typeface="Arial" pitchFamily="34" charset="0"/>
                <a:ea typeface="Arial" pitchFamily="34" charset="-122"/>
                <a:cs typeface="Arial" pitchFamily="34" charset="-120"/>
              </a:rPr>
              <a:t>Name branches so nobody has to ask</a:t>
            </a:r>
            <a:endParaRPr lang="en-US" sz="3000" dirty="0"/>
          </a:p>
        </p:txBody>
      </p:sp>
      <p:sp>
        <p:nvSpPr>
          <p:cNvPr id="4" name="Shape 2"/>
          <p:cNvSpPr/>
          <p:nvPr/>
        </p:nvSpPr>
        <p:spPr>
          <a:xfrm>
            <a:off x="502920" y="1371600"/>
            <a:ext cx="8183880" cy="603504"/>
          </a:xfrm>
          <a:prstGeom prst="roundRect">
            <a:avLst>
              <a:gd name="adj" fmla="val 9091"/>
            </a:avLst>
          </a:prstGeom>
          <a:solidFill>
            <a:srgbClr val="F3F5F7"/>
          </a:solidFill>
          <a:ln w="12700">
            <a:solidFill>
              <a:srgbClr val="D5DCE3"/>
            </a:solidFill>
            <a:prstDash val="solid"/>
          </a:ln>
        </p:spPr>
      </p:sp>
      <p:sp>
        <p:nvSpPr>
          <p:cNvPr id="5" name="Text 3"/>
          <p:cNvSpPr txBox="1"/>
          <p:nvPr/>
        </p:nvSpPr>
        <p:spPr>
          <a:xfrm>
            <a:off x="731520" y="1371600"/>
            <a:ext cx="1097280" cy="603504"/>
          </a:xfrm>
          <a:prstGeom prst="rect">
            <a:avLst/>
          </a:prstGeom>
          <a:noFill/>
          <a:ln/>
        </p:spPr>
        <p:txBody>
          <a:bodyPr wrap="square" lIns="0" tIns="0" rIns="0" bIns="0" rtlCol="0" anchor="ctr"/>
          <a:lstStyle/>
          <a:p>
            <a:pPr indent="0" marL="0">
              <a:buNone/>
            </a:pPr>
            <a:r>
              <a:rPr lang="en-US" sz="1250" b="1" dirty="0">
                <a:solidFill>
                  <a:srgbClr val="7B3FD4"/>
                </a:solidFill>
                <a:latin typeface="Courier New" pitchFamily="34" charset="0"/>
                <a:ea typeface="Courier New" pitchFamily="34" charset="-122"/>
                <a:cs typeface="Courier New" pitchFamily="34" charset="-120"/>
              </a:rPr>
              <a:t>feature/</a:t>
            </a:r>
            <a:endParaRPr lang="en-US" sz="1250" dirty="0"/>
          </a:p>
        </p:txBody>
      </p:sp>
      <p:sp>
        <p:nvSpPr>
          <p:cNvPr id="6" name="Text 4"/>
          <p:cNvSpPr txBox="1"/>
          <p:nvPr/>
        </p:nvSpPr>
        <p:spPr>
          <a:xfrm>
            <a:off x="1920240" y="1371600"/>
            <a:ext cx="3108960" cy="603504"/>
          </a:xfrm>
          <a:prstGeom prst="rect">
            <a:avLst/>
          </a:prstGeom>
          <a:noFill/>
          <a:ln/>
        </p:spPr>
        <p:txBody>
          <a:bodyPr wrap="square" lIns="0" tIns="0" rIns="0" bIns="0" rtlCol="0" anchor="ctr"/>
          <a:lstStyle/>
          <a:p>
            <a:pPr indent="0" marL="0">
              <a:buNone/>
            </a:pPr>
            <a:r>
              <a:rPr lang="en-US" sz="1200" dirty="0">
                <a:solidFill>
                  <a:srgbClr val="16191D"/>
                </a:solidFill>
                <a:latin typeface="Courier New" pitchFamily="34" charset="0"/>
                <a:ea typeface="Courier New" pitchFamily="34" charset="-122"/>
                <a:cs typeface="Courier New" pitchFamily="34" charset="-120"/>
              </a:rPr>
              <a:t>feature/product-search</a:t>
            </a:r>
            <a:endParaRPr lang="en-US" sz="1200" dirty="0"/>
          </a:p>
        </p:txBody>
      </p:sp>
      <p:sp>
        <p:nvSpPr>
          <p:cNvPr id="7" name="Text 5"/>
          <p:cNvSpPr txBox="1"/>
          <p:nvPr/>
        </p:nvSpPr>
        <p:spPr>
          <a:xfrm>
            <a:off x="5212080" y="1371600"/>
            <a:ext cx="3291840" cy="603504"/>
          </a:xfrm>
          <a:prstGeom prst="rect">
            <a:avLst/>
          </a:prstGeom>
          <a:noFill/>
          <a:ln/>
        </p:spPr>
        <p:txBody>
          <a:bodyPr wrap="square" lIns="0" tIns="0" rIns="0" bIns="0" rtlCol="0" anchor="ctr"/>
          <a:lstStyle/>
          <a:p>
            <a:pPr indent="0" marL="0">
              <a:buNone/>
            </a:pPr>
            <a:r>
              <a:rPr lang="en-US" sz="1150" dirty="0">
                <a:solidFill>
                  <a:srgbClr val="5A6572"/>
                </a:solidFill>
                <a:latin typeface="Calibri" pitchFamily="34" charset="0"/>
                <a:ea typeface="Calibri" pitchFamily="34" charset="-122"/>
                <a:cs typeface="Calibri" pitchFamily="34" charset="-120"/>
              </a:rPr>
              <a:t>New functionality</a:t>
            </a:r>
            <a:endParaRPr lang="en-US" sz="1150" dirty="0"/>
          </a:p>
        </p:txBody>
      </p:sp>
      <p:sp>
        <p:nvSpPr>
          <p:cNvPr id="8" name="Shape 6"/>
          <p:cNvSpPr/>
          <p:nvPr/>
        </p:nvSpPr>
        <p:spPr>
          <a:xfrm>
            <a:off x="502920" y="2084832"/>
            <a:ext cx="8183880" cy="603504"/>
          </a:xfrm>
          <a:prstGeom prst="roundRect">
            <a:avLst>
              <a:gd name="adj" fmla="val 9091"/>
            </a:avLst>
          </a:prstGeom>
          <a:solidFill>
            <a:srgbClr val="F3F5F7"/>
          </a:solidFill>
          <a:ln w="12700">
            <a:solidFill>
              <a:srgbClr val="D5DCE3"/>
            </a:solidFill>
            <a:prstDash val="solid"/>
          </a:ln>
        </p:spPr>
      </p:sp>
      <p:sp>
        <p:nvSpPr>
          <p:cNvPr id="9" name="Text 7"/>
          <p:cNvSpPr txBox="1"/>
          <p:nvPr/>
        </p:nvSpPr>
        <p:spPr>
          <a:xfrm>
            <a:off x="731520" y="2084832"/>
            <a:ext cx="1097280" cy="603504"/>
          </a:xfrm>
          <a:prstGeom prst="rect">
            <a:avLst/>
          </a:prstGeom>
          <a:noFill/>
          <a:ln/>
        </p:spPr>
        <p:txBody>
          <a:bodyPr wrap="square" lIns="0" tIns="0" rIns="0" bIns="0" rtlCol="0" anchor="ctr"/>
          <a:lstStyle/>
          <a:p>
            <a:pPr indent="0" marL="0">
              <a:buNone/>
            </a:pPr>
            <a:r>
              <a:rPr lang="en-US" sz="1250" b="1" dirty="0">
                <a:solidFill>
                  <a:srgbClr val="E04A29"/>
                </a:solidFill>
                <a:latin typeface="Courier New" pitchFamily="34" charset="0"/>
                <a:ea typeface="Courier New" pitchFamily="34" charset="-122"/>
                <a:cs typeface="Courier New" pitchFamily="34" charset="-120"/>
              </a:rPr>
              <a:t>bugfix/</a:t>
            </a:r>
            <a:endParaRPr lang="en-US" sz="1250" dirty="0"/>
          </a:p>
        </p:txBody>
      </p:sp>
      <p:sp>
        <p:nvSpPr>
          <p:cNvPr id="10" name="Text 8"/>
          <p:cNvSpPr txBox="1"/>
          <p:nvPr/>
        </p:nvSpPr>
        <p:spPr>
          <a:xfrm>
            <a:off x="1920240" y="2084832"/>
            <a:ext cx="3108960" cy="603504"/>
          </a:xfrm>
          <a:prstGeom prst="rect">
            <a:avLst/>
          </a:prstGeom>
          <a:noFill/>
          <a:ln/>
        </p:spPr>
        <p:txBody>
          <a:bodyPr wrap="square" lIns="0" tIns="0" rIns="0" bIns="0" rtlCol="0" anchor="ctr"/>
          <a:lstStyle/>
          <a:p>
            <a:pPr indent="0" marL="0">
              <a:buNone/>
            </a:pPr>
            <a:r>
              <a:rPr lang="en-US" sz="1200" dirty="0">
                <a:solidFill>
                  <a:srgbClr val="16191D"/>
                </a:solidFill>
                <a:latin typeface="Courier New" pitchFamily="34" charset="0"/>
                <a:ea typeface="Courier New" pitchFamily="34" charset="-122"/>
                <a:cs typeface="Courier New" pitchFamily="34" charset="-120"/>
              </a:rPr>
              <a:t>bugfix/cart-total-wrong</a:t>
            </a:r>
            <a:endParaRPr lang="en-US" sz="1200" dirty="0"/>
          </a:p>
        </p:txBody>
      </p:sp>
      <p:sp>
        <p:nvSpPr>
          <p:cNvPr id="11" name="Text 9"/>
          <p:cNvSpPr txBox="1"/>
          <p:nvPr/>
        </p:nvSpPr>
        <p:spPr>
          <a:xfrm>
            <a:off x="5212080" y="2084832"/>
            <a:ext cx="3291840" cy="603504"/>
          </a:xfrm>
          <a:prstGeom prst="rect">
            <a:avLst/>
          </a:prstGeom>
          <a:noFill/>
          <a:ln/>
        </p:spPr>
        <p:txBody>
          <a:bodyPr wrap="square" lIns="0" tIns="0" rIns="0" bIns="0" rtlCol="0" anchor="ctr"/>
          <a:lstStyle/>
          <a:p>
            <a:pPr indent="0" marL="0">
              <a:buNone/>
            </a:pPr>
            <a:r>
              <a:rPr lang="en-US" sz="1150" dirty="0">
                <a:solidFill>
                  <a:srgbClr val="5A6572"/>
                </a:solidFill>
                <a:latin typeface="Calibri" pitchFamily="34" charset="0"/>
                <a:ea typeface="Calibri" pitchFamily="34" charset="-122"/>
                <a:cs typeface="Calibri" pitchFamily="34" charset="-120"/>
              </a:rPr>
              <a:t>Fixing something broken</a:t>
            </a:r>
            <a:endParaRPr lang="en-US" sz="1150" dirty="0"/>
          </a:p>
        </p:txBody>
      </p:sp>
      <p:sp>
        <p:nvSpPr>
          <p:cNvPr id="12" name="Shape 10"/>
          <p:cNvSpPr/>
          <p:nvPr/>
        </p:nvSpPr>
        <p:spPr>
          <a:xfrm>
            <a:off x="502920" y="2798064"/>
            <a:ext cx="8183880" cy="603504"/>
          </a:xfrm>
          <a:prstGeom prst="roundRect">
            <a:avLst>
              <a:gd name="adj" fmla="val 9091"/>
            </a:avLst>
          </a:prstGeom>
          <a:solidFill>
            <a:srgbClr val="F3F5F7"/>
          </a:solidFill>
          <a:ln w="12700">
            <a:solidFill>
              <a:srgbClr val="D5DCE3"/>
            </a:solidFill>
            <a:prstDash val="solid"/>
          </a:ln>
        </p:spPr>
      </p:sp>
      <p:sp>
        <p:nvSpPr>
          <p:cNvPr id="13" name="Text 11"/>
          <p:cNvSpPr txBox="1"/>
          <p:nvPr/>
        </p:nvSpPr>
        <p:spPr>
          <a:xfrm>
            <a:off x="731520" y="2798064"/>
            <a:ext cx="1097280" cy="603504"/>
          </a:xfrm>
          <a:prstGeom prst="rect">
            <a:avLst/>
          </a:prstGeom>
          <a:noFill/>
          <a:ln/>
        </p:spPr>
        <p:txBody>
          <a:bodyPr wrap="square" lIns="0" tIns="0" rIns="0" bIns="0" rtlCol="0" anchor="ctr"/>
          <a:lstStyle/>
          <a:p>
            <a:pPr indent="0" marL="0">
              <a:buNone/>
            </a:pPr>
            <a:r>
              <a:rPr lang="en-US" sz="1250" b="1" dirty="0">
                <a:solidFill>
                  <a:srgbClr val="C1211F"/>
                </a:solidFill>
                <a:latin typeface="Courier New" pitchFamily="34" charset="0"/>
                <a:ea typeface="Courier New" pitchFamily="34" charset="-122"/>
                <a:cs typeface="Courier New" pitchFamily="34" charset="-120"/>
              </a:rPr>
              <a:t>hotfix/</a:t>
            </a:r>
            <a:endParaRPr lang="en-US" sz="1250" dirty="0"/>
          </a:p>
        </p:txBody>
      </p:sp>
      <p:sp>
        <p:nvSpPr>
          <p:cNvPr id="14" name="Text 12"/>
          <p:cNvSpPr txBox="1"/>
          <p:nvPr/>
        </p:nvSpPr>
        <p:spPr>
          <a:xfrm>
            <a:off x="1920240" y="2798064"/>
            <a:ext cx="3108960" cy="603504"/>
          </a:xfrm>
          <a:prstGeom prst="rect">
            <a:avLst/>
          </a:prstGeom>
          <a:noFill/>
          <a:ln/>
        </p:spPr>
        <p:txBody>
          <a:bodyPr wrap="square" lIns="0" tIns="0" rIns="0" bIns="0" rtlCol="0" anchor="ctr"/>
          <a:lstStyle/>
          <a:p>
            <a:pPr indent="0" marL="0">
              <a:buNone/>
            </a:pPr>
            <a:r>
              <a:rPr lang="en-US" sz="1200" dirty="0">
                <a:solidFill>
                  <a:srgbClr val="16191D"/>
                </a:solidFill>
                <a:latin typeface="Courier New" pitchFamily="34" charset="0"/>
                <a:ea typeface="Courier New" pitchFamily="34" charset="-122"/>
                <a:cs typeface="Courier New" pitchFamily="34" charset="-120"/>
              </a:rPr>
              <a:t>hotfix/payment-500-error</a:t>
            </a:r>
            <a:endParaRPr lang="en-US" sz="1200" dirty="0"/>
          </a:p>
        </p:txBody>
      </p:sp>
      <p:sp>
        <p:nvSpPr>
          <p:cNvPr id="15" name="Text 13"/>
          <p:cNvSpPr txBox="1"/>
          <p:nvPr/>
        </p:nvSpPr>
        <p:spPr>
          <a:xfrm>
            <a:off x="5212080" y="2798064"/>
            <a:ext cx="3291840" cy="603504"/>
          </a:xfrm>
          <a:prstGeom prst="rect">
            <a:avLst/>
          </a:prstGeom>
          <a:noFill/>
          <a:ln/>
        </p:spPr>
        <p:txBody>
          <a:bodyPr wrap="square" lIns="0" tIns="0" rIns="0" bIns="0" rtlCol="0" anchor="ctr"/>
          <a:lstStyle/>
          <a:p>
            <a:pPr indent="0" marL="0">
              <a:buNone/>
            </a:pPr>
            <a:r>
              <a:rPr lang="en-US" sz="1150" dirty="0">
                <a:solidFill>
                  <a:srgbClr val="5A6572"/>
                </a:solidFill>
                <a:latin typeface="Calibri" pitchFamily="34" charset="0"/>
                <a:ea typeface="Calibri" pitchFamily="34" charset="-122"/>
                <a:cs typeface="Calibri" pitchFamily="34" charset="-120"/>
              </a:rPr>
              <a:t>Urgent — production is down</a:t>
            </a:r>
            <a:endParaRPr lang="en-US" sz="1150" dirty="0"/>
          </a:p>
        </p:txBody>
      </p:sp>
      <p:sp>
        <p:nvSpPr>
          <p:cNvPr id="16" name="Shape 14"/>
          <p:cNvSpPr/>
          <p:nvPr/>
        </p:nvSpPr>
        <p:spPr>
          <a:xfrm>
            <a:off x="502920" y="3511296"/>
            <a:ext cx="8183880" cy="603504"/>
          </a:xfrm>
          <a:prstGeom prst="roundRect">
            <a:avLst>
              <a:gd name="adj" fmla="val 9091"/>
            </a:avLst>
          </a:prstGeom>
          <a:solidFill>
            <a:srgbClr val="F3F5F7"/>
          </a:solidFill>
          <a:ln w="12700">
            <a:solidFill>
              <a:srgbClr val="D5DCE3"/>
            </a:solidFill>
            <a:prstDash val="solid"/>
          </a:ln>
        </p:spPr>
      </p:sp>
      <p:sp>
        <p:nvSpPr>
          <p:cNvPr id="17" name="Text 15"/>
          <p:cNvSpPr txBox="1"/>
          <p:nvPr/>
        </p:nvSpPr>
        <p:spPr>
          <a:xfrm>
            <a:off x="731520" y="3511296"/>
            <a:ext cx="1097280" cy="603504"/>
          </a:xfrm>
          <a:prstGeom prst="rect">
            <a:avLst/>
          </a:prstGeom>
          <a:noFill/>
          <a:ln/>
        </p:spPr>
        <p:txBody>
          <a:bodyPr wrap="square" lIns="0" tIns="0" rIns="0" bIns="0" rtlCol="0" anchor="ctr"/>
          <a:lstStyle/>
          <a:p>
            <a:pPr indent="0" marL="0">
              <a:buNone/>
            </a:pPr>
            <a:r>
              <a:rPr lang="en-US" sz="1250" b="1" dirty="0">
                <a:solidFill>
                  <a:srgbClr val="5A6572"/>
                </a:solidFill>
                <a:latin typeface="Courier New" pitchFamily="34" charset="0"/>
                <a:ea typeface="Courier New" pitchFamily="34" charset="-122"/>
                <a:cs typeface="Courier New" pitchFamily="34" charset="-120"/>
              </a:rPr>
              <a:t>chore/</a:t>
            </a:r>
            <a:endParaRPr lang="en-US" sz="1250" dirty="0"/>
          </a:p>
        </p:txBody>
      </p:sp>
      <p:sp>
        <p:nvSpPr>
          <p:cNvPr id="18" name="Text 16"/>
          <p:cNvSpPr txBox="1"/>
          <p:nvPr/>
        </p:nvSpPr>
        <p:spPr>
          <a:xfrm>
            <a:off x="1920240" y="3511296"/>
            <a:ext cx="3108960" cy="603504"/>
          </a:xfrm>
          <a:prstGeom prst="rect">
            <a:avLst/>
          </a:prstGeom>
          <a:noFill/>
          <a:ln/>
        </p:spPr>
        <p:txBody>
          <a:bodyPr wrap="square" lIns="0" tIns="0" rIns="0" bIns="0" rtlCol="0" anchor="ctr"/>
          <a:lstStyle/>
          <a:p>
            <a:pPr indent="0" marL="0">
              <a:buNone/>
            </a:pPr>
            <a:r>
              <a:rPr lang="en-US" sz="1200" dirty="0">
                <a:solidFill>
                  <a:srgbClr val="16191D"/>
                </a:solidFill>
                <a:latin typeface="Courier New" pitchFamily="34" charset="0"/>
                <a:ea typeface="Courier New" pitchFamily="34" charset="-122"/>
                <a:cs typeface="Courier New" pitchFamily="34" charset="-120"/>
              </a:rPr>
              <a:t>chore/update-readme</a:t>
            </a:r>
            <a:endParaRPr lang="en-US" sz="1200" dirty="0"/>
          </a:p>
        </p:txBody>
      </p:sp>
      <p:sp>
        <p:nvSpPr>
          <p:cNvPr id="19" name="Text 17"/>
          <p:cNvSpPr txBox="1"/>
          <p:nvPr/>
        </p:nvSpPr>
        <p:spPr>
          <a:xfrm>
            <a:off x="5212080" y="3511296"/>
            <a:ext cx="3291840" cy="603504"/>
          </a:xfrm>
          <a:prstGeom prst="rect">
            <a:avLst/>
          </a:prstGeom>
          <a:noFill/>
          <a:ln/>
        </p:spPr>
        <p:txBody>
          <a:bodyPr wrap="square" lIns="0" tIns="0" rIns="0" bIns="0" rtlCol="0" anchor="ctr"/>
          <a:lstStyle/>
          <a:p>
            <a:pPr indent="0" marL="0">
              <a:buNone/>
            </a:pPr>
            <a:r>
              <a:rPr lang="en-US" sz="1150" dirty="0">
                <a:solidFill>
                  <a:srgbClr val="5A6572"/>
                </a:solidFill>
                <a:latin typeface="Calibri" pitchFamily="34" charset="0"/>
                <a:ea typeface="Calibri" pitchFamily="34" charset="-122"/>
                <a:cs typeface="Calibri" pitchFamily="34" charset="-120"/>
              </a:rPr>
              <a:t>Housekeeping, no user impact</a:t>
            </a:r>
            <a:endParaRPr lang="en-US" sz="1150" dirty="0"/>
          </a:p>
        </p:txBody>
      </p:sp>
      <p:sp>
        <p:nvSpPr>
          <p:cNvPr id="20" name="Shape 18"/>
          <p:cNvSpPr/>
          <p:nvPr/>
        </p:nvSpPr>
        <p:spPr>
          <a:xfrm>
            <a:off x="502920" y="4279392"/>
            <a:ext cx="3977640" cy="566928"/>
          </a:xfrm>
          <a:prstGeom prst="roundRect">
            <a:avLst>
              <a:gd name="adj" fmla="val 9677"/>
            </a:avLst>
          </a:prstGeom>
          <a:solidFill>
            <a:srgbClr val="FBECEC"/>
          </a:solidFill>
          <a:ln w="12700">
            <a:solidFill>
              <a:srgbClr val="F0C9C9"/>
            </a:solidFill>
            <a:prstDash val="solid"/>
          </a:ln>
        </p:spPr>
      </p:sp>
      <p:sp>
        <p:nvSpPr>
          <p:cNvPr id="21" name="Text 19"/>
          <p:cNvSpPr txBox="1"/>
          <p:nvPr/>
        </p:nvSpPr>
        <p:spPr>
          <a:xfrm>
            <a:off x="731520" y="4279392"/>
            <a:ext cx="3657600" cy="566928"/>
          </a:xfrm>
          <a:prstGeom prst="rect">
            <a:avLst/>
          </a:prstGeom>
          <a:noFill/>
          <a:ln/>
        </p:spPr>
        <p:txBody>
          <a:bodyPr wrap="square" lIns="0" tIns="0" rIns="0" bIns="0" rtlCol="0" anchor="ctr"/>
          <a:lstStyle/>
          <a:p>
            <a:pPr indent="0" marL="0">
              <a:buNone/>
            </a:pPr>
            <a:r>
              <a:rPr lang="en-US" sz="1100" b="1" dirty="0">
                <a:solidFill>
                  <a:srgbClr val="C1211F"/>
                </a:solidFill>
                <a:latin typeface="Courier New" pitchFamily="34" charset="0"/>
                <a:ea typeface="Courier New" pitchFamily="34" charset="-122"/>
                <a:cs typeface="Courier New" pitchFamily="34" charset="-120"/>
              </a:rPr>
              <a:t>Never:  arjun-branch   test2   new</a:t>
            </a:r>
            <a:endParaRPr lang="en-US" sz="1100" dirty="0"/>
          </a:p>
        </p:txBody>
      </p:sp>
      <p:sp>
        <p:nvSpPr>
          <p:cNvPr id="22" name="Shape 20"/>
          <p:cNvSpPr/>
          <p:nvPr/>
        </p:nvSpPr>
        <p:spPr>
          <a:xfrm>
            <a:off x="4709160" y="4279392"/>
            <a:ext cx="3977640" cy="566928"/>
          </a:xfrm>
          <a:prstGeom prst="roundRect">
            <a:avLst>
              <a:gd name="adj" fmla="val 9677"/>
            </a:avLst>
          </a:prstGeom>
          <a:solidFill>
            <a:srgbClr val="E8F3EC"/>
          </a:solidFill>
          <a:ln w="12700">
            <a:solidFill>
              <a:srgbClr val="BCD9C6"/>
            </a:solidFill>
            <a:prstDash val="solid"/>
          </a:ln>
        </p:spPr>
      </p:sp>
      <p:sp>
        <p:nvSpPr>
          <p:cNvPr id="23" name="Text 21"/>
          <p:cNvSpPr txBox="1"/>
          <p:nvPr/>
        </p:nvSpPr>
        <p:spPr>
          <a:xfrm>
            <a:off x="4937760" y="4279392"/>
            <a:ext cx="3657600" cy="566928"/>
          </a:xfrm>
          <a:prstGeom prst="rect">
            <a:avLst/>
          </a:prstGeom>
          <a:noFill/>
          <a:ln/>
        </p:spPr>
        <p:txBody>
          <a:bodyPr wrap="square" lIns="0" tIns="0" rIns="0" bIns="0" rtlCol="0" anchor="ctr"/>
          <a:lstStyle/>
          <a:p>
            <a:pPr indent="0" marL="0">
              <a:buNone/>
            </a:pPr>
            <a:r>
              <a:rPr lang="en-US" sz="1100" b="1" dirty="0">
                <a:solidFill>
                  <a:srgbClr val="1F8A42"/>
                </a:solidFill>
                <a:latin typeface="Courier New" pitchFamily="34" charset="0"/>
                <a:ea typeface="Courier New" pitchFamily="34" charset="-122"/>
                <a:cs typeface="Courier New" pitchFamily="34" charset="-120"/>
              </a:rPr>
              <a:t>With a ticket:  feature/CC-142-search</a:t>
            </a:r>
            <a:endParaRPr lang="en-US" sz="1100" dirty="0"/>
          </a:p>
        </p:txBody>
      </p:sp>
      <p:sp>
        <p:nvSpPr>
          <p:cNvPr id="24" name="Text 22"/>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DEMO 4 · BOTH WORKING</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800" b="1" dirty="0">
                <a:solidFill>
                  <a:srgbClr val="FFFFFF"/>
                </a:solidFill>
                <a:latin typeface="Arial" pitchFamily="34" charset="0"/>
                <a:ea typeface="Arial" pitchFamily="34" charset="-122"/>
                <a:cs typeface="Arial" pitchFamily="34" charset="-120"/>
              </a:rPr>
              <a:t>Both commit — two histories, zero conflict</a:t>
            </a:r>
            <a:endParaRPr lang="en-US" sz="2800" dirty="0"/>
          </a:p>
        </p:txBody>
      </p:sp>
      <p:sp>
        <p:nvSpPr>
          <p:cNvPr id="4" name="Shape 2"/>
          <p:cNvSpPr/>
          <p:nvPr/>
        </p:nvSpPr>
        <p:spPr>
          <a:xfrm>
            <a:off x="502920" y="1371600"/>
            <a:ext cx="3931920" cy="2514600"/>
          </a:xfrm>
          <a:prstGeom prst="roundRect">
            <a:avLst>
              <a:gd name="adj" fmla="val 1818"/>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504188"/>
            <a:ext cx="77724" cy="77724"/>
          </a:xfrm>
          <a:prstGeom prst="ellipse">
            <a:avLst/>
          </a:prstGeom>
          <a:solidFill>
            <a:srgbClr val="FF5F56"/>
          </a:solidFill>
          <a:ln w="12700">
            <a:solidFill>
              <a:srgbClr val="FF5F56"/>
            </a:solidFill>
            <a:prstDash val="solid"/>
          </a:ln>
        </p:spPr>
      </p:sp>
      <p:sp>
        <p:nvSpPr>
          <p:cNvPr id="6" name="Shape 4"/>
          <p:cNvSpPr/>
          <p:nvPr/>
        </p:nvSpPr>
        <p:spPr>
          <a:xfrm>
            <a:off x="781812" y="1504188"/>
            <a:ext cx="77724" cy="77724"/>
          </a:xfrm>
          <a:prstGeom prst="ellipse">
            <a:avLst/>
          </a:prstGeom>
          <a:solidFill>
            <a:srgbClr val="FFBD2E"/>
          </a:solidFill>
          <a:ln w="12700">
            <a:solidFill>
              <a:srgbClr val="FFBD2E"/>
            </a:solidFill>
            <a:prstDash val="solid"/>
          </a:ln>
        </p:spPr>
      </p:sp>
      <p:sp>
        <p:nvSpPr>
          <p:cNvPr id="7" name="Shape 5"/>
          <p:cNvSpPr/>
          <p:nvPr/>
        </p:nvSpPr>
        <p:spPr>
          <a:xfrm>
            <a:off x="923544" y="150418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49324"/>
            <a:ext cx="324612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TL — feature/order-history</a:t>
            </a:r>
            <a:endParaRPr lang="en-US" sz="850" dirty="0"/>
          </a:p>
        </p:txBody>
      </p:sp>
      <p:sp>
        <p:nvSpPr>
          <p:cNvPr id="9" name="Text 7"/>
          <p:cNvSpPr txBox="1"/>
          <p:nvPr/>
        </p:nvSpPr>
        <p:spPr>
          <a:xfrm>
            <a:off x="704088" y="1737360"/>
            <a:ext cx="3529584" cy="2011680"/>
          </a:xfrm>
          <a:prstGeom prst="rect">
            <a:avLst/>
          </a:prstGeom>
          <a:noFill/>
          <a:ln/>
        </p:spPr>
        <p:txBody>
          <a:bodyPr wrap="square" lIns="0" tIns="0" rIns="0" bIns="0" rtlCol="0" anchor="t"/>
          <a:lstStyle/>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wrote campuscart/orders.py</a:t>
            </a:r>
            <a:endParaRPr lang="en-US" sz="950" dirty="0"/>
          </a:p>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added a route to urls.py</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add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commit -m "Add order</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history view and route"</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log --oneline</a:t>
            </a:r>
            <a:endParaRPr lang="en-US" sz="950" dirty="0"/>
          </a:p>
          <a:p>
            <a:pPr indent="0" marL="0">
              <a:lnSpc>
                <a:spcPct val="122000"/>
              </a:lnSpc>
              <a:buNone/>
            </a:pPr>
            <a:r>
              <a:rPr lang="en-US" sz="950" b="1" dirty="0">
                <a:solidFill>
                  <a:srgbClr val="FFAA64"/>
                </a:solidFill>
                <a:latin typeface="Courier New" pitchFamily="34" charset="0"/>
                <a:ea typeface="Courier New" pitchFamily="34" charset="-122"/>
                <a:cs typeface="Courier New" pitchFamily="34" charset="-120"/>
              </a:rPr>
              <a:t>8974ca0 Add order history</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de088a3 Initial commit</a:t>
            </a:r>
            <a:endParaRPr lang="en-US" sz="950" dirty="0"/>
          </a:p>
        </p:txBody>
      </p:sp>
      <p:sp>
        <p:nvSpPr>
          <p:cNvPr id="10" name="Shape 8"/>
          <p:cNvSpPr/>
          <p:nvPr/>
        </p:nvSpPr>
        <p:spPr>
          <a:xfrm>
            <a:off x="4754880" y="1371600"/>
            <a:ext cx="3931920" cy="2514600"/>
          </a:xfrm>
          <a:prstGeom prst="roundRect">
            <a:avLst>
              <a:gd name="adj" fmla="val 1818"/>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11" name="Shape 9"/>
          <p:cNvSpPr/>
          <p:nvPr/>
        </p:nvSpPr>
        <p:spPr>
          <a:xfrm>
            <a:off x="4892040" y="1504188"/>
            <a:ext cx="77724" cy="77724"/>
          </a:xfrm>
          <a:prstGeom prst="ellipse">
            <a:avLst/>
          </a:prstGeom>
          <a:solidFill>
            <a:srgbClr val="FF5F56"/>
          </a:solidFill>
          <a:ln w="12700">
            <a:solidFill>
              <a:srgbClr val="FF5F56"/>
            </a:solidFill>
            <a:prstDash val="solid"/>
          </a:ln>
        </p:spPr>
      </p:sp>
      <p:sp>
        <p:nvSpPr>
          <p:cNvPr id="12" name="Shape 10"/>
          <p:cNvSpPr/>
          <p:nvPr/>
        </p:nvSpPr>
        <p:spPr>
          <a:xfrm>
            <a:off x="5033772" y="1504188"/>
            <a:ext cx="77724" cy="77724"/>
          </a:xfrm>
          <a:prstGeom prst="ellipse">
            <a:avLst/>
          </a:prstGeom>
          <a:solidFill>
            <a:srgbClr val="FFBD2E"/>
          </a:solidFill>
          <a:ln w="12700">
            <a:solidFill>
              <a:srgbClr val="FFBD2E"/>
            </a:solidFill>
            <a:prstDash val="solid"/>
          </a:ln>
        </p:spPr>
      </p:sp>
      <p:sp>
        <p:nvSpPr>
          <p:cNvPr id="13" name="Shape 11"/>
          <p:cNvSpPr/>
          <p:nvPr/>
        </p:nvSpPr>
        <p:spPr>
          <a:xfrm>
            <a:off x="5175504" y="1504188"/>
            <a:ext cx="77724" cy="77724"/>
          </a:xfrm>
          <a:prstGeom prst="ellipse">
            <a:avLst/>
          </a:prstGeom>
          <a:solidFill>
            <a:srgbClr val="27C93F"/>
          </a:solidFill>
          <a:ln w="12700">
            <a:solidFill>
              <a:srgbClr val="27C93F"/>
            </a:solidFill>
            <a:prstDash val="solid"/>
          </a:ln>
        </p:spPr>
      </p:sp>
      <p:sp>
        <p:nvSpPr>
          <p:cNvPr id="14" name="Text 12"/>
          <p:cNvSpPr txBox="1"/>
          <p:nvPr/>
        </p:nvSpPr>
        <p:spPr>
          <a:xfrm>
            <a:off x="5321808" y="1449324"/>
            <a:ext cx="324612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DEV — feature/product-search</a:t>
            </a:r>
            <a:endParaRPr lang="en-US" sz="850" dirty="0"/>
          </a:p>
        </p:txBody>
      </p:sp>
      <p:sp>
        <p:nvSpPr>
          <p:cNvPr id="15" name="Text 13"/>
          <p:cNvSpPr txBox="1"/>
          <p:nvPr/>
        </p:nvSpPr>
        <p:spPr>
          <a:xfrm>
            <a:off x="4956048" y="1737360"/>
            <a:ext cx="3529584" cy="2011680"/>
          </a:xfrm>
          <a:prstGeom prst="rect">
            <a:avLst/>
          </a:prstGeom>
          <a:noFill/>
          <a:ln/>
        </p:spPr>
        <p:txBody>
          <a:bodyPr wrap="square" lIns="0" tIns="0" rIns="0" bIns="0" rtlCol="0" anchor="t"/>
          <a:lstStyle/>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wrote campuscart/search.py</a:t>
            </a:r>
            <a:endParaRPr lang="en-US" sz="950" dirty="0"/>
          </a:p>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added a route to urls.py</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add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commit -m "Add product</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search view and route"</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log --oneline</a:t>
            </a:r>
            <a:endParaRPr lang="en-US" sz="950" dirty="0"/>
          </a:p>
          <a:p>
            <a:pPr indent="0" marL="0">
              <a:lnSpc>
                <a:spcPct val="122000"/>
              </a:lnSpc>
              <a:buNone/>
            </a:pPr>
            <a:r>
              <a:rPr lang="en-US" sz="950" b="1" dirty="0">
                <a:solidFill>
                  <a:srgbClr val="FFAA64"/>
                </a:solidFill>
                <a:latin typeface="Courier New" pitchFamily="34" charset="0"/>
                <a:ea typeface="Courier New" pitchFamily="34" charset="-122"/>
                <a:cs typeface="Courier New" pitchFamily="34" charset="-120"/>
              </a:rPr>
              <a:t>caeb503 Add product search</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de088a3 Initial commit</a:t>
            </a:r>
            <a:endParaRPr lang="en-US" sz="950" dirty="0"/>
          </a:p>
        </p:txBody>
      </p:sp>
      <p:sp>
        <p:nvSpPr>
          <p:cNvPr id="16" name="Shape 14"/>
          <p:cNvSpPr/>
          <p:nvPr/>
        </p:nvSpPr>
        <p:spPr>
          <a:xfrm>
            <a:off x="502920" y="4023360"/>
            <a:ext cx="8183880" cy="548640"/>
          </a:xfrm>
          <a:prstGeom prst="roundRect">
            <a:avLst>
              <a:gd name="adj" fmla="val 10000"/>
            </a:avLst>
          </a:prstGeom>
          <a:solidFill>
            <a:srgbClr val="2E2A1F"/>
          </a:solidFill>
          <a:ln w="12700">
            <a:solidFill>
              <a:srgbClr val="5A5034"/>
            </a:solidFill>
            <a:prstDash val="solid"/>
          </a:ln>
        </p:spPr>
      </p:sp>
      <p:sp>
        <p:nvSpPr>
          <p:cNvPr id="17" name="Text 15"/>
          <p:cNvSpPr txBox="1"/>
          <p:nvPr/>
        </p:nvSpPr>
        <p:spPr>
          <a:xfrm>
            <a:off x="777240" y="4023360"/>
            <a:ext cx="7772400" cy="548640"/>
          </a:xfrm>
          <a:prstGeom prst="rect">
            <a:avLst/>
          </a:prstGeom>
          <a:noFill/>
          <a:ln/>
        </p:spPr>
        <p:txBody>
          <a:bodyPr wrap="square" lIns="0" tIns="0" rIns="0" bIns="0" rtlCol="0" anchor="ctr"/>
          <a:lstStyle/>
          <a:p>
            <a:pPr indent="0" marL="0">
              <a:buNone/>
            </a:pPr>
            <a:r>
              <a:rPr lang="en-US" sz="1300" b="1" dirty="0">
                <a:solidFill>
                  <a:srgbClr val="FFAA64"/>
                </a:solidFill>
                <a:latin typeface="Arial" pitchFamily="34" charset="0"/>
                <a:ea typeface="Arial" pitchFamily="34" charset="-122"/>
                <a:cs typeface="Arial" pitchFamily="34" charset="-120"/>
              </a:rPr>
              <a:t>Notice: both of them edited urls.py. Remember that. It comes back in Session 2.</a:t>
            </a:r>
            <a:endParaRPr lang="en-US" sz="1300" dirty="0"/>
          </a:p>
        </p:txBody>
      </p:sp>
      <p:sp>
        <p:nvSpPr>
          <p:cNvPr id="18" name="Text 16"/>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YOUR COMMIT MESSAGE IS A MESSAGE TO A HUMAN</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600" b="1" dirty="0">
                <a:solidFill>
                  <a:srgbClr val="16191D"/>
                </a:solidFill>
                <a:latin typeface="Arial" pitchFamily="34" charset="0"/>
                <a:ea typeface="Arial" pitchFamily="34" charset="-122"/>
                <a:cs typeface="Arial" pitchFamily="34" charset="-120"/>
              </a:rPr>
              <a:t>Bad commits vs commits a TL will thank you for</a:t>
            </a:r>
            <a:endParaRPr lang="en-US" sz="2600" dirty="0"/>
          </a:p>
        </p:txBody>
      </p:sp>
      <p:sp>
        <p:nvSpPr>
          <p:cNvPr id="4" name="Shape 2"/>
          <p:cNvSpPr/>
          <p:nvPr/>
        </p:nvSpPr>
        <p:spPr>
          <a:xfrm>
            <a:off x="502920" y="1371600"/>
            <a:ext cx="3977640" cy="2194560"/>
          </a:xfrm>
          <a:prstGeom prst="roundRect">
            <a:avLst>
              <a:gd name="adj" fmla="val 2500"/>
            </a:avLst>
          </a:prstGeom>
          <a:solidFill>
            <a:srgbClr val="FBECEC"/>
          </a:solidFill>
          <a:ln w="12700">
            <a:solidFill>
              <a:srgbClr val="F0C9C9"/>
            </a:solidFill>
            <a:prstDash val="solid"/>
          </a:ln>
        </p:spPr>
      </p:sp>
      <p:sp>
        <p:nvSpPr>
          <p:cNvPr id="5" name="Text 3"/>
          <p:cNvSpPr txBox="1"/>
          <p:nvPr/>
        </p:nvSpPr>
        <p:spPr>
          <a:xfrm>
            <a:off x="731520" y="1481328"/>
            <a:ext cx="1828800" cy="274320"/>
          </a:xfrm>
          <a:prstGeom prst="rect">
            <a:avLst/>
          </a:prstGeom>
          <a:noFill/>
          <a:ln/>
        </p:spPr>
        <p:txBody>
          <a:bodyPr wrap="square" lIns="0" tIns="0" rIns="0" bIns="0" rtlCol="0" anchor="ctr"/>
          <a:lstStyle/>
          <a:p>
            <a:pPr indent="0" marL="0">
              <a:buNone/>
            </a:pPr>
            <a:r>
              <a:rPr lang="en-US" sz="1100" b="1" spc="200" kern="0" dirty="0">
                <a:solidFill>
                  <a:srgbClr val="C1211F"/>
                </a:solidFill>
                <a:latin typeface="Arial" pitchFamily="34" charset="0"/>
                <a:ea typeface="Arial" pitchFamily="34" charset="-122"/>
                <a:cs typeface="Arial" pitchFamily="34" charset="-120"/>
              </a:rPr>
              <a:t>BAD</a:t>
            </a:r>
            <a:endParaRPr lang="en-US" sz="1100" dirty="0"/>
          </a:p>
        </p:txBody>
      </p:sp>
      <p:sp>
        <p:nvSpPr>
          <p:cNvPr id="6" name="Text 4"/>
          <p:cNvSpPr txBox="1"/>
          <p:nvPr/>
        </p:nvSpPr>
        <p:spPr>
          <a:xfrm>
            <a:off x="731520" y="1810512"/>
            <a:ext cx="3566160" cy="1417320"/>
          </a:xfrm>
          <a:prstGeom prst="rect">
            <a:avLst/>
          </a:prstGeom>
          <a:noFill/>
          <a:ln/>
        </p:spPr>
        <p:txBody>
          <a:bodyPr wrap="square" lIns="0" tIns="0" rIns="0" bIns="0" rtlCol="0" anchor="ctr"/>
          <a:lstStyle/>
          <a:p>
            <a:pPr indent="0" marL="0">
              <a:lnSpc>
                <a:spcPct val="140000"/>
              </a:lnSpc>
              <a:buNone/>
            </a:pPr>
            <a:r>
              <a:rPr lang="en-US" sz="1250" dirty="0">
                <a:solidFill>
                  <a:srgbClr val="16191D"/>
                </a:solidFill>
                <a:latin typeface="Courier New" pitchFamily="34" charset="0"/>
                <a:ea typeface="Courier New" pitchFamily="34" charset="-122"/>
                <a:cs typeface="Courier New" pitchFamily="34" charset="-120"/>
              </a:rPr>
              <a:t>changes</a:t>
            </a:r>
            <a:endParaRPr lang="en-US" sz="1250" dirty="0"/>
          </a:p>
          <a:p>
            <a:pPr indent="0" marL="0">
              <a:lnSpc>
                <a:spcPct val="140000"/>
              </a:lnSpc>
              <a:buNone/>
            </a:pPr>
            <a:r>
              <a:rPr lang="en-US" sz="1250" dirty="0">
                <a:solidFill>
                  <a:srgbClr val="16191D"/>
                </a:solidFill>
                <a:latin typeface="Courier New" pitchFamily="34" charset="0"/>
                <a:ea typeface="Courier New" pitchFamily="34" charset="-122"/>
                <a:cs typeface="Courier New" pitchFamily="34" charset="-120"/>
              </a:rPr>
              <a:t>fix</a:t>
            </a:r>
            <a:endParaRPr lang="en-US" sz="1250" dirty="0"/>
          </a:p>
          <a:p>
            <a:pPr indent="0" marL="0">
              <a:lnSpc>
                <a:spcPct val="140000"/>
              </a:lnSpc>
              <a:buNone/>
            </a:pPr>
            <a:r>
              <a:rPr lang="en-US" sz="1250" dirty="0">
                <a:solidFill>
                  <a:srgbClr val="16191D"/>
                </a:solidFill>
                <a:latin typeface="Courier New" pitchFamily="34" charset="0"/>
                <a:ea typeface="Courier New" pitchFamily="34" charset="-122"/>
                <a:cs typeface="Courier New" pitchFamily="34" charset="-120"/>
              </a:rPr>
              <a:t>updated file</a:t>
            </a:r>
            <a:endParaRPr lang="en-US" sz="1250" dirty="0"/>
          </a:p>
          <a:p>
            <a:pPr indent="0" marL="0">
              <a:lnSpc>
                <a:spcPct val="140000"/>
              </a:lnSpc>
              <a:buNone/>
            </a:pPr>
            <a:r>
              <a:rPr lang="en-US" sz="1250" dirty="0">
                <a:solidFill>
                  <a:srgbClr val="16191D"/>
                </a:solidFill>
                <a:latin typeface="Courier New" pitchFamily="34" charset="0"/>
                <a:ea typeface="Courier New" pitchFamily="34" charset="-122"/>
                <a:cs typeface="Courier New" pitchFamily="34" charset="-120"/>
              </a:rPr>
              <a:t>final</a:t>
            </a:r>
            <a:endParaRPr lang="en-US" sz="1250" dirty="0"/>
          </a:p>
          <a:p>
            <a:pPr indent="0" marL="0">
              <a:lnSpc>
                <a:spcPct val="140000"/>
              </a:lnSpc>
              <a:buNone/>
            </a:pPr>
            <a:r>
              <a:rPr lang="en-US" sz="1250" dirty="0">
                <a:solidFill>
                  <a:srgbClr val="16191D"/>
                </a:solidFill>
                <a:latin typeface="Courier New" pitchFamily="34" charset="0"/>
                <a:ea typeface="Courier New" pitchFamily="34" charset="-122"/>
                <a:cs typeface="Courier New" pitchFamily="34" charset="-120"/>
              </a:rPr>
              <a:t>asdf</a:t>
            </a:r>
            <a:endParaRPr lang="en-US" sz="1250" dirty="0"/>
          </a:p>
          <a:p>
            <a:pPr indent="0" marL="0">
              <a:lnSpc>
                <a:spcPct val="140000"/>
              </a:lnSpc>
              <a:buNone/>
            </a:pPr>
            <a:r>
              <a:rPr lang="en-US" sz="1250" dirty="0">
                <a:solidFill>
                  <a:srgbClr val="16191D"/>
                </a:solidFill>
                <a:latin typeface="Courier New" pitchFamily="34" charset="0"/>
                <a:ea typeface="Courier New" pitchFamily="34" charset="-122"/>
                <a:cs typeface="Courier New" pitchFamily="34" charset="-120"/>
              </a:rPr>
              <a:t>work done</a:t>
            </a:r>
            <a:endParaRPr lang="en-US" sz="1250" dirty="0"/>
          </a:p>
        </p:txBody>
      </p:sp>
      <p:sp>
        <p:nvSpPr>
          <p:cNvPr id="7" name="Shape 5"/>
          <p:cNvSpPr/>
          <p:nvPr/>
        </p:nvSpPr>
        <p:spPr>
          <a:xfrm>
            <a:off x="4709160" y="1371600"/>
            <a:ext cx="3977640" cy="2194560"/>
          </a:xfrm>
          <a:prstGeom prst="roundRect">
            <a:avLst>
              <a:gd name="adj" fmla="val 2500"/>
            </a:avLst>
          </a:prstGeom>
          <a:solidFill>
            <a:srgbClr val="E8F3EC"/>
          </a:solidFill>
          <a:ln w="12700">
            <a:solidFill>
              <a:srgbClr val="BCD9C6"/>
            </a:solidFill>
            <a:prstDash val="solid"/>
          </a:ln>
        </p:spPr>
      </p:sp>
      <p:sp>
        <p:nvSpPr>
          <p:cNvPr id="8" name="Text 6"/>
          <p:cNvSpPr txBox="1"/>
          <p:nvPr/>
        </p:nvSpPr>
        <p:spPr>
          <a:xfrm>
            <a:off x="4937760" y="1481328"/>
            <a:ext cx="1828800" cy="274320"/>
          </a:xfrm>
          <a:prstGeom prst="rect">
            <a:avLst/>
          </a:prstGeom>
          <a:noFill/>
          <a:ln/>
        </p:spPr>
        <p:txBody>
          <a:bodyPr wrap="square" lIns="0" tIns="0" rIns="0" bIns="0" rtlCol="0" anchor="ctr"/>
          <a:lstStyle/>
          <a:p>
            <a:pPr indent="0" marL="0">
              <a:buNone/>
            </a:pPr>
            <a:r>
              <a:rPr lang="en-US" sz="1100" b="1" spc="200" kern="0" dirty="0">
                <a:solidFill>
                  <a:srgbClr val="1F8A42"/>
                </a:solidFill>
                <a:latin typeface="Arial" pitchFamily="34" charset="0"/>
                <a:ea typeface="Arial" pitchFamily="34" charset="-122"/>
                <a:cs typeface="Arial" pitchFamily="34" charset="-120"/>
              </a:rPr>
              <a:t>GOOD</a:t>
            </a:r>
            <a:endParaRPr lang="en-US" sz="1100" dirty="0"/>
          </a:p>
        </p:txBody>
      </p:sp>
      <p:sp>
        <p:nvSpPr>
          <p:cNvPr id="9" name="Text 7"/>
          <p:cNvSpPr txBox="1"/>
          <p:nvPr/>
        </p:nvSpPr>
        <p:spPr>
          <a:xfrm>
            <a:off x="4937760" y="1810512"/>
            <a:ext cx="3566160" cy="1417320"/>
          </a:xfrm>
          <a:prstGeom prst="rect">
            <a:avLst/>
          </a:prstGeom>
          <a:noFill/>
          <a:ln/>
        </p:spPr>
        <p:txBody>
          <a:bodyPr wrap="square" lIns="0" tIns="0" rIns="0" bIns="0" rtlCol="0" anchor="ctr"/>
          <a:lstStyle/>
          <a:p>
            <a:pPr indent="0" marL="0">
              <a:lnSpc>
                <a:spcPct val="145000"/>
              </a:lnSpc>
              <a:buNone/>
            </a:pPr>
            <a:r>
              <a:rPr lang="en-US" sz="1050" dirty="0">
                <a:solidFill>
                  <a:srgbClr val="16191D"/>
                </a:solidFill>
                <a:latin typeface="Courier New" pitchFamily="34" charset="0"/>
                <a:ea typeface="Courier New" pitchFamily="34" charset="-122"/>
                <a:cs typeface="Courier New" pitchFamily="34" charset="-120"/>
              </a:rPr>
              <a:t>Add product search view and route</a:t>
            </a:r>
            <a:endParaRPr lang="en-US" sz="1050" dirty="0"/>
          </a:p>
          <a:p>
            <a:pPr indent="0" marL="0">
              <a:lnSpc>
                <a:spcPct val="145000"/>
              </a:lnSpc>
              <a:buNone/>
            </a:pPr>
            <a:r>
              <a:rPr lang="en-US" sz="1050" dirty="0">
                <a:solidFill>
                  <a:srgbClr val="16191D"/>
                </a:solidFill>
                <a:latin typeface="Courier New" pitchFamily="34" charset="0"/>
                <a:ea typeface="Courier New" pitchFamily="34" charset="-122"/>
                <a:cs typeface="Courier New" pitchFamily="34" charset="-120"/>
              </a:rPr>
              <a:t>Fix cart total ignoring discount</a:t>
            </a:r>
            <a:endParaRPr lang="en-US" sz="1050" dirty="0"/>
          </a:p>
          <a:p>
            <a:pPr indent="0" marL="0">
              <a:lnSpc>
                <a:spcPct val="145000"/>
              </a:lnSpc>
              <a:buNone/>
            </a:pPr>
            <a:r>
              <a:rPr lang="en-US" sz="1050" dirty="0">
                <a:solidFill>
                  <a:srgbClr val="16191D"/>
                </a:solidFill>
                <a:latin typeface="Courier New" pitchFamily="34" charset="0"/>
                <a:ea typeface="Courier New" pitchFamily="34" charset="-122"/>
                <a:cs typeface="Courier New" pitchFamily="34" charset="-120"/>
              </a:rPr>
              <a:t>Validate mobile number on signup</a:t>
            </a:r>
            <a:endParaRPr lang="en-US" sz="1050" dirty="0"/>
          </a:p>
          <a:p>
            <a:pPr indent="0" marL="0">
              <a:lnSpc>
                <a:spcPct val="145000"/>
              </a:lnSpc>
              <a:buNone/>
            </a:pPr>
            <a:r>
              <a:rPr lang="en-US" sz="1050" dirty="0">
                <a:solidFill>
                  <a:srgbClr val="16191D"/>
                </a:solidFill>
                <a:latin typeface="Courier New" pitchFamily="34" charset="0"/>
                <a:ea typeface="Courier New" pitchFamily="34" charset="-122"/>
                <a:cs typeface="Courier New" pitchFamily="34" charset="-120"/>
              </a:rPr>
              <a:t>Remove unused imports from views.py</a:t>
            </a:r>
            <a:endParaRPr lang="en-US" sz="1050" dirty="0"/>
          </a:p>
        </p:txBody>
      </p:sp>
      <p:sp>
        <p:nvSpPr>
          <p:cNvPr id="10" name="Shape 8"/>
          <p:cNvSpPr/>
          <p:nvPr/>
        </p:nvSpPr>
        <p:spPr>
          <a:xfrm>
            <a:off x="502920" y="3703320"/>
            <a:ext cx="8183880" cy="960120"/>
          </a:xfrm>
          <a:prstGeom prst="roundRect">
            <a:avLst>
              <a:gd name="adj" fmla="val 5714"/>
            </a:avLst>
          </a:prstGeom>
          <a:solidFill>
            <a:srgbClr val="F3F5F7"/>
          </a:solidFill>
          <a:ln w="12700">
            <a:solidFill>
              <a:srgbClr val="D5DCE3"/>
            </a:solidFill>
            <a:prstDash val="solid"/>
          </a:ln>
        </p:spPr>
      </p:sp>
      <p:sp>
        <p:nvSpPr>
          <p:cNvPr id="11" name="Text 9"/>
          <p:cNvSpPr txBox="1"/>
          <p:nvPr/>
        </p:nvSpPr>
        <p:spPr>
          <a:xfrm>
            <a:off x="777240" y="3813048"/>
            <a:ext cx="3657600" cy="256032"/>
          </a:xfrm>
          <a:prstGeom prst="rect">
            <a:avLst/>
          </a:prstGeom>
          <a:noFill/>
          <a:ln/>
        </p:spPr>
        <p:txBody>
          <a:bodyPr wrap="square" lIns="0" tIns="0" rIns="0" bIns="0" rtlCol="0" anchor="ctr"/>
          <a:lstStyle/>
          <a:p>
            <a:pPr indent="0" marL="0">
              <a:buNone/>
            </a:pPr>
            <a:r>
              <a:rPr lang="en-US" sz="1250" b="1" dirty="0">
                <a:solidFill>
                  <a:srgbClr val="16191D"/>
                </a:solidFill>
                <a:latin typeface="Arial" pitchFamily="34" charset="0"/>
                <a:ea typeface="Arial" pitchFamily="34" charset="-122"/>
                <a:cs typeface="Arial" pitchFamily="34" charset="-120"/>
              </a:rPr>
              <a:t>The test that always works</a:t>
            </a:r>
            <a:endParaRPr lang="en-US" sz="1250" dirty="0"/>
          </a:p>
        </p:txBody>
      </p:sp>
      <p:sp>
        <p:nvSpPr>
          <p:cNvPr id="12" name="Text 10"/>
          <p:cNvSpPr txBox="1"/>
          <p:nvPr/>
        </p:nvSpPr>
        <p:spPr>
          <a:xfrm>
            <a:off x="777240" y="4078224"/>
            <a:ext cx="7680960" cy="502920"/>
          </a:xfrm>
          <a:prstGeom prst="rect">
            <a:avLst/>
          </a:prstGeom>
          <a:noFill/>
          <a:ln/>
        </p:spPr>
        <p:txBody>
          <a:bodyPr wrap="square" lIns="0" tIns="0" rIns="0" bIns="0" rtlCol="0" anchor="ctr"/>
          <a:lstStyle/>
          <a:p>
            <a:pPr indent="0" marL="0">
              <a:lnSpc>
                <a:spcPct val="130000"/>
              </a:lnSpc>
              <a:buNone/>
            </a:pPr>
            <a:r>
              <a:rPr lang="en-US" sz="1150" dirty="0">
                <a:solidFill>
                  <a:srgbClr val="5A6572"/>
                </a:solidFill>
                <a:latin typeface="Calibri" pitchFamily="34" charset="0"/>
                <a:ea typeface="Calibri" pitchFamily="34" charset="-122"/>
                <a:cs typeface="Calibri" pitchFamily="34" charset="-120"/>
              </a:rPr>
              <a:t>Finish this sentence:  "If applied, this commit will ______"</a:t>
            </a:r>
            <a:endParaRPr lang="en-US" sz="1150" dirty="0"/>
          </a:p>
          <a:p>
            <a:pPr indent="0" marL="0">
              <a:lnSpc>
                <a:spcPct val="130000"/>
              </a:lnSpc>
              <a:buNone/>
            </a:pPr>
            <a:r>
              <a:rPr lang="en-US" sz="1150" dirty="0">
                <a:solidFill>
                  <a:srgbClr val="5A6572"/>
                </a:solidFill>
                <a:latin typeface="Calibri" pitchFamily="34" charset="0"/>
                <a:ea typeface="Calibri" pitchFamily="34" charset="-122"/>
                <a:cs typeface="Calibri" pitchFamily="34" charset="-120"/>
              </a:rPr>
              <a:t>"...Add product search view and route."  Start with a verb. Keep it under about 60 characters.</a:t>
            </a:r>
            <a:endParaRPr lang="en-US" sz="1150" dirty="0"/>
          </a:p>
        </p:txBody>
      </p:sp>
      <p:sp>
        <p:nvSpPr>
          <p:cNvPr id="13" name="Text 11"/>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DEMO 5 · SHARING THE WORK</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800" b="1" dirty="0">
                <a:solidFill>
                  <a:srgbClr val="FFFFFF"/>
                </a:solidFill>
                <a:latin typeface="Arial" pitchFamily="34" charset="0"/>
                <a:ea typeface="Arial" pitchFamily="34" charset="-122"/>
                <a:cs typeface="Arial" pitchFamily="34" charset="-120"/>
              </a:rPr>
              <a:t>Push both branches to GitHub</a:t>
            </a:r>
            <a:endParaRPr lang="en-US" sz="2800" dirty="0"/>
          </a:p>
        </p:txBody>
      </p:sp>
      <p:sp>
        <p:nvSpPr>
          <p:cNvPr id="4" name="Shape 2"/>
          <p:cNvSpPr/>
          <p:nvPr/>
        </p:nvSpPr>
        <p:spPr>
          <a:xfrm>
            <a:off x="502920" y="1371600"/>
            <a:ext cx="5029200" cy="2377440"/>
          </a:xfrm>
          <a:prstGeom prst="roundRect">
            <a:avLst>
              <a:gd name="adj" fmla="val 1923"/>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504188"/>
            <a:ext cx="77724" cy="77724"/>
          </a:xfrm>
          <a:prstGeom prst="ellipse">
            <a:avLst/>
          </a:prstGeom>
          <a:solidFill>
            <a:srgbClr val="FF5F56"/>
          </a:solidFill>
          <a:ln w="12700">
            <a:solidFill>
              <a:srgbClr val="FF5F56"/>
            </a:solidFill>
            <a:prstDash val="solid"/>
          </a:ln>
        </p:spPr>
      </p:sp>
      <p:sp>
        <p:nvSpPr>
          <p:cNvPr id="6" name="Shape 4"/>
          <p:cNvSpPr/>
          <p:nvPr/>
        </p:nvSpPr>
        <p:spPr>
          <a:xfrm>
            <a:off x="781812" y="1504188"/>
            <a:ext cx="77724" cy="77724"/>
          </a:xfrm>
          <a:prstGeom prst="ellipse">
            <a:avLst/>
          </a:prstGeom>
          <a:solidFill>
            <a:srgbClr val="FFBD2E"/>
          </a:solidFill>
          <a:ln w="12700">
            <a:solidFill>
              <a:srgbClr val="FFBD2E"/>
            </a:solidFill>
            <a:prstDash val="solid"/>
          </a:ln>
        </p:spPr>
      </p:sp>
      <p:sp>
        <p:nvSpPr>
          <p:cNvPr id="7" name="Shape 5"/>
          <p:cNvSpPr/>
          <p:nvPr/>
        </p:nvSpPr>
        <p:spPr>
          <a:xfrm>
            <a:off x="923544" y="150418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49324"/>
            <a:ext cx="434340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both tabs, one after the other</a:t>
            </a:r>
            <a:endParaRPr lang="en-US" sz="850" dirty="0"/>
          </a:p>
        </p:txBody>
      </p:sp>
      <p:sp>
        <p:nvSpPr>
          <p:cNvPr id="9" name="Text 7"/>
          <p:cNvSpPr txBox="1"/>
          <p:nvPr/>
        </p:nvSpPr>
        <p:spPr>
          <a:xfrm>
            <a:off x="704088" y="1737360"/>
            <a:ext cx="4626864" cy="1874520"/>
          </a:xfrm>
          <a:prstGeom prst="rect">
            <a:avLst/>
          </a:prstGeom>
          <a:noFill/>
          <a:ln/>
        </p:spPr>
        <p:txBody>
          <a:bodyPr wrap="square" lIns="0" tIns="0" rIns="0" bIns="0" rtlCol="0" anchor="t"/>
          <a:lstStyle/>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[TL]  $ git push -u origin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feature/order-history</a:t>
            </a:r>
            <a:endParaRPr lang="en-US" sz="950" dirty="0"/>
          </a:p>
          <a:p>
            <a:pPr indent="0" marL="0">
              <a:lnSpc>
                <a:spcPct val="122000"/>
              </a:lnSpc>
              <a:buNone/>
            </a:pPr>
            <a:r>
              <a:rPr lang="en-US" sz="950" dirty="0">
                <a:solidFill>
                  <a:srgbClr val="6FD37E"/>
                </a:solidFill>
                <a:latin typeface="Courier New" pitchFamily="34" charset="0"/>
                <a:ea typeface="Courier New" pitchFamily="34" charset="-122"/>
                <a:cs typeface="Courier New" pitchFamily="34" charset="-120"/>
              </a:rPr>
              <a:t> * [new branch]</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branch set up to track origin/...</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[DEV] $ git push -u origin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feature/product-search</a:t>
            </a:r>
            <a:endParaRPr lang="en-US" sz="950" dirty="0"/>
          </a:p>
          <a:p>
            <a:pPr indent="0" marL="0">
              <a:lnSpc>
                <a:spcPct val="122000"/>
              </a:lnSpc>
              <a:buNone/>
            </a:pPr>
            <a:r>
              <a:rPr lang="en-US" sz="950" dirty="0">
                <a:solidFill>
                  <a:srgbClr val="6FD37E"/>
                </a:solidFill>
                <a:latin typeface="Courier New" pitchFamily="34" charset="0"/>
                <a:ea typeface="Courier New" pitchFamily="34" charset="-122"/>
                <a:cs typeface="Courier New" pitchFamily="34" charset="-120"/>
              </a:rPr>
              <a:t> * [new branch]</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branch set up to track origin/...</a:t>
            </a:r>
            <a:endParaRPr lang="en-US" sz="950" dirty="0"/>
          </a:p>
        </p:txBody>
      </p:sp>
      <p:sp>
        <p:nvSpPr>
          <p:cNvPr id="10" name="Shape 8"/>
          <p:cNvSpPr/>
          <p:nvPr/>
        </p:nvSpPr>
        <p:spPr>
          <a:xfrm>
            <a:off x="5715000" y="1371600"/>
            <a:ext cx="2971800" cy="2377440"/>
          </a:xfrm>
          <a:prstGeom prst="roundRect">
            <a:avLst>
              <a:gd name="adj" fmla="val 2308"/>
            </a:avLst>
          </a:prstGeom>
          <a:solidFill>
            <a:srgbClr val="20252B"/>
          </a:solidFill>
          <a:ln w="12700">
            <a:solidFill>
              <a:srgbClr val="3A424C"/>
            </a:solidFill>
            <a:prstDash val="solid"/>
          </a:ln>
        </p:spPr>
      </p:sp>
      <p:sp>
        <p:nvSpPr>
          <p:cNvPr id="11" name="Text 9"/>
          <p:cNvSpPr txBox="1"/>
          <p:nvPr/>
        </p:nvSpPr>
        <p:spPr>
          <a:xfrm>
            <a:off x="5943600" y="1490472"/>
            <a:ext cx="2560320" cy="237744"/>
          </a:xfrm>
          <a:prstGeom prst="rect">
            <a:avLst/>
          </a:prstGeom>
          <a:noFill/>
          <a:ln/>
        </p:spPr>
        <p:txBody>
          <a:bodyPr wrap="square" lIns="0" tIns="0" rIns="0" bIns="0" rtlCol="0" anchor="ctr"/>
          <a:lstStyle/>
          <a:p>
            <a:pPr indent="0" marL="0">
              <a:buNone/>
            </a:pPr>
            <a:r>
              <a:rPr lang="en-US" sz="950" b="1" spc="180" kern="0" dirty="0">
                <a:solidFill>
                  <a:srgbClr val="8B949E"/>
                </a:solidFill>
                <a:latin typeface="Arial" pitchFamily="34" charset="0"/>
                <a:ea typeface="Arial" pitchFamily="34" charset="-122"/>
                <a:cs typeface="Arial" pitchFamily="34" charset="-120"/>
              </a:rPr>
              <a:t>ON GITHUB NOW</a:t>
            </a:r>
            <a:endParaRPr lang="en-US" sz="950" dirty="0"/>
          </a:p>
        </p:txBody>
      </p:sp>
      <p:sp>
        <p:nvSpPr>
          <p:cNvPr id="12" name="Shape 10"/>
          <p:cNvSpPr/>
          <p:nvPr/>
        </p:nvSpPr>
        <p:spPr>
          <a:xfrm>
            <a:off x="5943600" y="1801368"/>
            <a:ext cx="2514600" cy="329184"/>
          </a:xfrm>
          <a:prstGeom prst="roundRect">
            <a:avLst>
              <a:gd name="adj" fmla="val 22222"/>
            </a:avLst>
          </a:prstGeom>
          <a:solidFill>
            <a:srgbClr val="1F8A42"/>
          </a:solidFill>
          <a:ln w="12700">
            <a:solidFill>
              <a:srgbClr val="1F8A42"/>
            </a:solidFill>
            <a:prstDash val="solid"/>
          </a:ln>
        </p:spPr>
      </p:sp>
      <p:sp>
        <p:nvSpPr>
          <p:cNvPr id="13" name="Text 11"/>
          <p:cNvSpPr txBox="1"/>
          <p:nvPr/>
        </p:nvSpPr>
        <p:spPr>
          <a:xfrm>
            <a:off x="5943600" y="1801368"/>
            <a:ext cx="251460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main</a:t>
            </a:r>
            <a:endParaRPr lang="en-US" sz="1000" dirty="0"/>
          </a:p>
        </p:txBody>
      </p:sp>
      <p:sp>
        <p:nvSpPr>
          <p:cNvPr id="14" name="Shape 12"/>
          <p:cNvSpPr/>
          <p:nvPr/>
        </p:nvSpPr>
        <p:spPr>
          <a:xfrm>
            <a:off x="5943600" y="2212848"/>
            <a:ext cx="2514600" cy="329184"/>
          </a:xfrm>
          <a:prstGeom prst="roundRect">
            <a:avLst>
              <a:gd name="adj" fmla="val 22222"/>
            </a:avLst>
          </a:prstGeom>
          <a:solidFill>
            <a:srgbClr val="E04A29"/>
          </a:solidFill>
          <a:ln w="12700">
            <a:solidFill>
              <a:srgbClr val="E04A29"/>
            </a:solidFill>
            <a:prstDash val="solid"/>
          </a:ln>
        </p:spPr>
      </p:sp>
      <p:sp>
        <p:nvSpPr>
          <p:cNvPr id="15" name="Text 13"/>
          <p:cNvSpPr txBox="1"/>
          <p:nvPr/>
        </p:nvSpPr>
        <p:spPr>
          <a:xfrm>
            <a:off x="5943600" y="2212848"/>
            <a:ext cx="251460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feature/order-history</a:t>
            </a:r>
            <a:endParaRPr lang="en-US" sz="900" dirty="0"/>
          </a:p>
        </p:txBody>
      </p:sp>
      <p:sp>
        <p:nvSpPr>
          <p:cNvPr id="16" name="Shape 14"/>
          <p:cNvSpPr/>
          <p:nvPr/>
        </p:nvSpPr>
        <p:spPr>
          <a:xfrm>
            <a:off x="5943600" y="2624328"/>
            <a:ext cx="2514600" cy="329184"/>
          </a:xfrm>
          <a:prstGeom prst="roundRect">
            <a:avLst>
              <a:gd name="adj" fmla="val 22222"/>
            </a:avLst>
          </a:prstGeom>
          <a:solidFill>
            <a:srgbClr val="7B3FD4"/>
          </a:solidFill>
          <a:ln w="12700">
            <a:solidFill>
              <a:srgbClr val="7B3FD4"/>
            </a:solidFill>
            <a:prstDash val="solid"/>
          </a:ln>
        </p:spPr>
      </p:sp>
      <p:sp>
        <p:nvSpPr>
          <p:cNvPr id="17" name="Text 15"/>
          <p:cNvSpPr txBox="1"/>
          <p:nvPr/>
        </p:nvSpPr>
        <p:spPr>
          <a:xfrm>
            <a:off x="5943600" y="2624328"/>
            <a:ext cx="251460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feature/product-search</a:t>
            </a:r>
            <a:endParaRPr lang="en-US" sz="900" dirty="0"/>
          </a:p>
        </p:txBody>
      </p:sp>
      <p:sp>
        <p:nvSpPr>
          <p:cNvPr id="18" name="Text 16"/>
          <p:cNvSpPr txBox="1"/>
          <p:nvPr/>
        </p:nvSpPr>
        <p:spPr>
          <a:xfrm>
            <a:off x="5943600" y="3063240"/>
            <a:ext cx="2560320" cy="548640"/>
          </a:xfrm>
          <a:prstGeom prst="rect">
            <a:avLst/>
          </a:prstGeom>
          <a:noFill/>
          <a:ln/>
        </p:spPr>
        <p:txBody>
          <a:bodyPr wrap="square" lIns="0" tIns="0" rIns="0" bIns="0" rtlCol="0" anchor="ctr"/>
          <a:lstStyle/>
          <a:p>
            <a:pPr indent="0" marL="0">
              <a:lnSpc>
                <a:spcPct val="120000"/>
              </a:lnSpc>
              <a:buNone/>
            </a:pPr>
            <a:r>
              <a:rPr lang="en-US" sz="1050" dirty="0">
                <a:solidFill>
                  <a:srgbClr val="8B949E"/>
                </a:solidFill>
                <a:latin typeface="Calibri" pitchFamily="34" charset="0"/>
                <a:ea typeface="Calibri" pitchFamily="34" charset="-122"/>
                <a:cs typeface="Calibri" pitchFamily="34" charset="-120"/>
              </a:rPr>
              <a:t>3 branches. Both features visible to the whole team, neither one merged yet.</a:t>
            </a:r>
            <a:endParaRPr lang="en-US" sz="1050" dirty="0"/>
          </a:p>
        </p:txBody>
      </p:sp>
      <p:sp>
        <p:nvSpPr>
          <p:cNvPr id="19" name="Shape 17"/>
          <p:cNvSpPr/>
          <p:nvPr/>
        </p:nvSpPr>
        <p:spPr>
          <a:xfrm>
            <a:off x="502920" y="3886200"/>
            <a:ext cx="8183880" cy="658368"/>
          </a:xfrm>
          <a:prstGeom prst="roundRect">
            <a:avLst>
              <a:gd name="adj" fmla="val 8333"/>
            </a:avLst>
          </a:prstGeom>
          <a:solidFill>
            <a:srgbClr val="20252B"/>
          </a:solidFill>
          <a:ln w="12700">
            <a:solidFill>
              <a:srgbClr val="3A424C"/>
            </a:solidFill>
            <a:prstDash val="solid"/>
          </a:ln>
        </p:spPr>
      </p:sp>
      <p:sp>
        <p:nvSpPr>
          <p:cNvPr id="20" name="Text 18"/>
          <p:cNvSpPr txBox="1"/>
          <p:nvPr/>
        </p:nvSpPr>
        <p:spPr>
          <a:xfrm>
            <a:off x="777240" y="3968496"/>
            <a:ext cx="3291840" cy="256032"/>
          </a:xfrm>
          <a:prstGeom prst="rect">
            <a:avLst/>
          </a:prstGeom>
          <a:noFill/>
          <a:ln/>
        </p:spPr>
        <p:txBody>
          <a:bodyPr wrap="square" lIns="0" tIns="0" rIns="0" bIns="0" rtlCol="0" anchor="ctr"/>
          <a:lstStyle/>
          <a:p>
            <a:pPr indent="0" marL="0">
              <a:buNone/>
            </a:pPr>
            <a:r>
              <a:rPr lang="en-US" sz="1200" b="1" dirty="0">
                <a:solidFill>
                  <a:srgbClr val="FFAA64"/>
                </a:solidFill>
                <a:latin typeface="Arial" pitchFamily="34" charset="0"/>
                <a:ea typeface="Arial" pitchFamily="34" charset="-122"/>
                <a:cs typeface="Arial" pitchFamily="34" charset="-120"/>
              </a:rPr>
              <a:t>Push is a backup AND a broadcast</a:t>
            </a:r>
            <a:endParaRPr lang="en-US" sz="1200" dirty="0"/>
          </a:p>
        </p:txBody>
      </p:sp>
      <p:sp>
        <p:nvSpPr>
          <p:cNvPr id="21" name="Text 19"/>
          <p:cNvSpPr txBox="1"/>
          <p:nvPr/>
        </p:nvSpPr>
        <p:spPr>
          <a:xfrm>
            <a:off x="777240" y="4224528"/>
            <a:ext cx="7680960" cy="274320"/>
          </a:xfrm>
          <a:prstGeom prst="rect">
            <a:avLst/>
          </a:prstGeom>
          <a:noFill/>
          <a:ln/>
        </p:spPr>
        <p:txBody>
          <a:bodyPr wrap="square" lIns="0" tIns="0" rIns="0" bIns="0" rtlCol="0" anchor="ctr"/>
          <a:lstStyle/>
          <a:p>
            <a:pPr indent="0" marL="0">
              <a:buNone/>
            </a:pPr>
            <a:r>
              <a:rPr lang="en-US" sz="1100" dirty="0">
                <a:solidFill>
                  <a:srgbClr val="C9D1D9"/>
                </a:solidFill>
                <a:latin typeface="Calibri" pitchFamily="34" charset="0"/>
                <a:ea typeface="Calibri" pitchFamily="34" charset="-122"/>
                <a:cs typeface="Calibri" pitchFamily="34" charset="-120"/>
              </a:rPr>
              <a:t>If your laptop dies tonight, your work is safe. And your teammates can now pull your branch and test it.</a:t>
            </a:r>
            <a:endParaRPr lang="en-US" sz="1100" dirty="0"/>
          </a:p>
        </p:txBody>
      </p:sp>
      <p:sp>
        <p:nvSpPr>
          <p:cNvPr id="22" name="Text 20"/>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IN 45 MINUTES</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100" b="1" dirty="0">
                <a:solidFill>
                  <a:srgbClr val="16191D"/>
                </a:solidFill>
                <a:latin typeface="Arial" pitchFamily="34" charset="0"/>
                <a:ea typeface="Arial" pitchFamily="34" charset="-122"/>
                <a:cs typeface="Arial" pitchFamily="34" charset="-120"/>
              </a:rPr>
              <a:t>What you just watched</a:t>
            </a:r>
            <a:endParaRPr lang="en-US" sz="3100" dirty="0"/>
          </a:p>
        </p:txBody>
      </p:sp>
      <p:sp>
        <p:nvSpPr>
          <p:cNvPr id="4" name="Text 2"/>
          <p:cNvSpPr txBox="1"/>
          <p:nvPr/>
        </p:nvSpPr>
        <p:spPr>
          <a:xfrm>
            <a:off x="502920" y="1463040"/>
            <a:ext cx="1920240" cy="822960"/>
          </a:xfrm>
          <a:prstGeom prst="rect">
            <a:avLst/>
          </a:prstGeom>
          <a:noFill/>
          <a:ln/>
        </p:spPr>
        <p:txBody>
          <a:bodyPr wrap="square" lIns="0" tIns="0" rIns="0" bIns="0" rtlCol="0" anchor="ctr"/>
          <a:lstStyle/>
          <a:p>
            <a:pPr algn="l" indent="0" marL="0">
              <a:buNone/>
            </a:pPr>
            <a:r>
              <a:rPr lang="en-US" sz="4800" b="1" dirty="0">
                <a:solidFill>
                  <a:srgbClr val="E04A29"/>
                </a:solidFill>
                <a:latin typeface="Arial" pitchFamily="34" charset="0"/>
                <a:ea typeface="Arial" pitchFamily="34" charset="-122"/>
                <a:cs typeface="Arial" pitchFamily="34" charset="-120"/>
              </a:rPr>
              <a:t>2</a:t>
            </a:r>
            <a:endParaRPr lang="en-US" sz="4800" dirty="0"/>
          </a:p>
        </p:txBody>
      </p:sp>
      <p:sp>
        <p:nvSpPr>
          <p:cNvPr id="5" name="Text 3"/>
          <p:cNvSpPr txBox="1"/>
          <p:nvPr/>
        </p:nvSpPr>
        <p:spPr>
          <a:xfrm>
            <a:off x="502920" y="2249424"/>
            <a:ext cx="1920240" cy="457200"/>
          </a:xfrm>
          <a:prstGeom prst="rect">
            <a:avLst/>
          </a:prstGeom>
          <a:noFill/>
          <a:ln/>
        </p:spPr>
        <p:txBody>
          <a:bodyPr wrap="square" lIns="0" tIns="0" rIns="0" bIns="0" rtlCol="0" anchor="t"/>
          <a:lstStyle/>
          <a:p>
            <a:pPr algn="l" indent="0" marL="0">
              <a:buNone/>
            </a:pPr>
            <a:r>
              <a:rPr lang="en-US" sz="1200" dirty="0">
                <a:solidFill>
                  <a:srgbClr val="5A6572"/>
                </a:solidFill>
                <a:latin typeface="Calibri" pitchFamily="34" charset="0"/>
                <a:ea typeface="Calibri" pitchFamily="34" charset="-122"/>
                <a:cs typeface="Calibri" pitchFamily="34" charset="-120"/>
              </a:rPr>
              <a:t>people working on</a:t>
            </a:r>
            <a:endParaRPr lang="en-US" sz="1200" dirty="0"/>
          </a:p>
          <a:p>
            <a:pPr algn="l" indent="0" marL="0">
              <a:buNone/>
            </a:pPr>
            <a:r>
              <a:rPr lang="en-US" sz="1200" dirty="0">
                <a:solidFill>
                  <a:srgbClr val="5A6572"/>
                </a:solidFill>
                <a:latin typeface="Calibri" pitchFamily="34" charset="0"/>
                <a:ea typeface="Calibri" pitchFamily="34" charset="-122"/>
                <a:cs typeface="Calibri" pitchFamily="34" charset="-120"/>
              </a:rPr>
              <a:t>one repository</a:t>
            </a:r>
            <a:endParaRPr lang="en-US" sz="1200" dirty="0"/>
          </a:p>
        </p:txBody>
      </p:sp>
      <p:sp>
        <p:nvSpPr>
          <p:cNvPr id="6" name="Text 4"/>
          <p:cNvSpPr txBox="1"/>
          <p:nvPr/>
        </p:nvSpPr>
        <p:spPr>
          <a:xfrm>
            <a:off x="2606040" y="1463040"/>
            <a:ext cx="1920240" cy="822960"/>
          </a:xfrm>
          <a:prstGeom prst="rect">
            <a:avLst/>
          </a:prstGeom>
          <a:noFill/>
          <a:ln/>
        </p:spPr>
        <p:txBody>
          <a:bodyPr wrap="square" lIns="0" tIns="0" rIns="0" bIns="0" rtlCol="0" anchor="ctr"/>
          <a:lstStyle/>
          <a:p>
            <a:pPr algn="l" indent="0" marL="0">
              <a:buNone/>
            </a:pPr>
            <a:r>
              <a:rPr lang="en-US" sz="4800" b="1" dirty="0">
                <a:solidFill>
                  <a:srgbClr val="1F8A42"/>
                </a:solidFill>
                <a:latin typeface="Arial" pitchFamily="34" charset="0"/>
                <a:ea typeface="Arial" pitchFamily="34" charset="-122"/>
                <a:cs typeface="Arial" pitchFamily="34" charset="-120"/>
              </a:rPr>
              <a:t>0</a:t>
            </a:r>
            <a:endParaRPr lang="en-US" sz="4800" dirty="0"/>
          </a:p>
        </p:txBody>
      </p:sp>
      <p:sp>
        <p:nvSpPr>
          <p:cNvPr id="7" name="Text 5"/>
          <p:cNvSpPr txBox="1"/>
          <p:nvPr/>
        </p:nvSpPr>
        <p:spPr>
          <a:xfrm>
            <a:off x="2606040" y="2249424"/>
            <a:ext cx="1920240" cy="457200"/>
          </a:xfrm>
          <a:prstGeom prst="rect">
            <a:avLst/>
          </a:prstGeom>
          <a:noFill/>
          <a:ln/>
        </p:spPr>
        <p:txBody>
          <a:bodyPr wrap="square" lIns="0" tIns="0" rIns="0" bIns="0" rtlCol="0" anchor="t"/>
          <a:lstStyle/>
          <a:p>
            <a:pPr algn="l" indent="0" marL="0">
              <a:buNone/>
            </a:pPr>
            <a:r>
              <a:rPr lang="en-US" sz="1200" dirty="0">
                <a:solidFill>
                  <a:srgbClr val="5A6572"/>
                </a:solidFill>
                <a:latin typeface="Calibri" pitchFamily="34" charset="0"/>
                <a:ea typeface="Calibri" pitchFamily="34" charset="-122"/>
                <a:cs typeface="Calibri" pitchFamily="34" charset="-120"/>
              </a:rPr>
              <a:t>lines of work lost</a:t>
            </a:r>
            <a:endParaRPr lang="en-US" sz="1200" dirty="0"/>
          </a:p>
          <a:p>
            <a:pPr algn="l" indent="0" marL="0">
              <a:buNone/>
            </a:pPr>
            <a:r>
              <a:rPr lang="en-US" sz="1200" dirty="0">
                <a:solidFill>
                  <a:srgbClr val="5A6572"/>
                </a:solidFill>
                <a:latin typeface="Calibri" pitchFamily="34" charset="0"/>
                <a:ea typeface="Calibri" pitchFamily="34" charset="-122"/>
                <a:cs typeface="Calibri" pitchFamily="34" charset="-120"/>
              </a:rPr>
              <a:t>or overwritten</a:t>
            </a:r>
            <a:endParaRPr lang="en-US" sz="1200" dirty="0"/>
          </a:p>
        </p:txBody>
      </p:sp>
      <p:sp>
        <p:nvSpPr>
          <p:cNvPr id="8" name="Text 6"/>
          <p:cNvSpPr txBox="1"/>
          <p:nvPr/>
        </p:nvSpPr>
        <p:spPr>
          <a:xfrm>
            <a:off x="4709160" y="1463040"/>
            <a:ext cx="1920240" cy="822960"/>
          </a:xfrm>
          <a:prstGeom prst="rect">
            <a:avLst/>
          </a:prstGeom>
          <a:noFill/>
          <a:ln/>
        </p:spPr>
        <p:txBody>
          <a:bodyPr wrap="square" lIns="0" tIns="0" rIns="0" bIns="0" rtlCol="0" anchor="ctr"/>
          <a:lstStyle/>
          <a:p>
            <a:pPr algn="l" indent="0" marL="0">
              <a:buNone/>
            </a:pPr>
            <a:r>
              <a:rPr lang="en-US" sz="4800" b="1" dirty="0">
                <a:solidFill>
                  <a:srgbClr val="7B3FD4"/>
                </a:solidFill>
                <a:latin typeface="Arial" pitchFamily="34" charset="0"/>
                <a:ea typeface="Arial" pitchFamily="34" charset="-122"/>
                <a:cs typeface="Arial" pitchFamily="34" charset="-120"/>
              </a:rPr>
              <a:t>0</a:t>
            </a:r>
            <a:endParaRPr lang="en-US" sz="4800" dirty="0"/>
          </a:p>
        </p:txBody>
      </p:sp>
      <p:sp>
        <p:nvSpPr>
          <p:cNvPr id="9" name="Text 7"/>
          <p:cNvSpPr txBox="1"/>
          <p:nvPr/>
        </p:nvSpPr>
        <p:spPr>
          <a:xfrm>
            <a:off x="4709160" y="2249424"/>
            <a:ext cx="1920240" cy="457200"/>
          </a:xfrm>
          <a:prstGeom prst="rect">
            <a:avLst/>
          </a:prstGeom>
          <a:noFill/>
          <a:ln/>
        </p:spPr>
        <p:txBody>
          <a:bodyPr wrap="square" lIns="0" tIns="0" rIns="0" bIns="0" rtlCol="0" anchor="t"/>
          <a:lstStyle/>
          <a:p>
            <a:pPr algn="l" indent="0" marL="0">
              <a:buNone/>
            </a:pPr>
            <a:r>
              <a:rPr lang="en-US" sz="1200" dirty="0">
                <a:solidFill>
                  <a:srgbClr val="5A6572"/>
                </a:solidFill>
                <a:latin typeface="Calibri" pitchFamily="34" charset="0"/>
                <a:ea typeface="Calibri" pitchFamily="34" charset="-122"/>
                <a:cs typeface="Calibri" pitchFamily="34" charset="-120"/>
              </a:rPr>
              <a:t>minutes either of</a:t>
            </a:r>
            <a:endParaRPr lang="en-US" sz="1200" dirty="0"/>
          </a:p>
          <a:p>
            <a:pPr algn="l" indent="0" marL="0">
              <a:buNone/>
            </a:pPr>
            <a:r>
              <a:rPr lang="en-US" sz="1200" dirty="0">
                <a:solidFill>
                  <a:srgbClr val="5A6572"/>
                </a:solidFill>
                <a:latin typeface="Calibri" pitchFamily="34" charset="0"/>
                <a:ea typeface="Calibri" pitchFamily="34" charset="-122"/>
                <a:cs typeface="Calibri" pitchFamily="34" charset="-120"/>
              </a:rPr>
              <a:t>them spent waiting</a:t>
            </a:r>
            <a:endParaRPr lang="en-US" sz="1200" dirty="0"/>
          </a:p>
        </p:txBody>
      </p:sp>
      <p:sp>
        <p:nvSpPr>
          <p:cNvPr id="10" name="Text 8"/>
          <p:cNvSpPr txBox="1"/>
          <p:nvPr/>
        </p:nvSpPr>
        <p:spPr>
          <a:xfrm>
            <a:off x="6812280" y="1463040"/>
            <a:ext cx="1920240" cy="822960"/>
          </a:xfrm>
          <a:prstGeom prst="rect">
            <a:avLst/>
          </a:prstGeom>
          <a:noFill/>
          <a:ln/>
        </p:spPr>
        <p:txBody>
          <a:bodyPr wrap="square" lIns="0" tIns="0" rIns="0" bIns="0" rtlCol="0" anchor="ctr"/>
          <a:lstStyle/>
          <a:p>
            <a:pPr algn="l" indent="0" marL="0">
              <a:buNone/>
            </a:pPr>
            <a:r>
              <a:rPr lang="en-US" sz="4800" b="1" dirty="0">
                <a:solidFill>
                  <a:srgbClr val="16191D"/>
                </a:solidFill>
                <a:latin typeface="Arial" pitchFamily="34" charset="0"/>
                <a:ea typeface="Arial" pitchFamily="34" charset="-122"/>
                <a:cs typeface="Arial" pitchFamily="34" charset="-120"/>
              </a:rPr>
              <a:t>0</a:t>
            </a:r>
            <a:endParaRPr lang="en-US" sz="4800" dirty="0"/>
          </a:p>
        </p:txBody>
      </p:sp>
      <p:sp>
        <p:nvSpPr>
          <p:cNvPr id="11" name="Text 9"/>
          <p:cNvSpPr txBox="1"/>
          <p:nvPr/>
        </p:nvSpPr>
        <p:spPr>
          <a:xfrm>
            <a:off x="6812280" y="2249424"/>
            <a:ext cx="1920240" cy="457200"/>
          </a:xfrm>
          <a:prstGeom prst="rect">
            <a:avLst/>
          </a:prstGeom>
          <a:noFill/>
          <a:ln/>
        </p:spPr>
        <p:txBody>
          <a:bodyPr wrap="square" lIns="0" tIns="0" rIns="0" bIns="0" rtlCol="0" anchor="t"/>
          <a:lstStyle/>
          <a:p>
            <a:pPr algn="l" indent="0" marL="0">
              <a:buNone/>
            </a:pPr>
            <a:r>
              <a:rPr lang="en-US" sz="1200" dirty="0">
                <a:solidFill>
                  <a:srgbClr val="5A6572"/>
                </a:solidFill>
                <a:latin typeface="Calibri" pitchFamily="34" charset="0"/>
                <a:ea typeface="Calibri" pitchFamily="34" charset="-122"/>
                <a:cs typeface="Calibri" pitchFamily="34" charset="-120"/>
              </a:rPr>
              <a:t>zip files sent on</a:t>
            </a:r>
            <a:endParaRPr lang="en-US" sz="1200" dirty="0"/>
          </a:p>
          <a:p>
            <a:pPr algn="l" indent="0" marL="0">
              <a:buNone/>
            </a:pPr>
            <a:r>
              <a:rPr lang="en-US" sz="1200" dirty="0">
                <a:solidFill>
                  <a:srgbClr val="5A6572"/>
                </a:solidFill>
                <a:latin typeface="Calibri" pitchFamily="34" charset="0"/>
                <a:ea typeface="Calibri" pitchFamily="34" charset="-122"/>
                <a:cs typeface="Calibri" pitchFamily="34" charset="-120"/>
              </a:rPr>
              <a:t>WhatsApp</a:t>
            </a:r>
            <a:endParaRPr lang="en-US" sz="1200" dirty="0"/>
          </a:p>
        </p:txBody>
      </p:sp>
      <p:sp>
        <p:nvSpPr>
          <p:cNvPr id="12" name="Shape 10"/>
          <p:cNvSpPr/>
          <p:nvPr/>
        </p:nvSpPr>
        <p:spPr>
          <a:xfrm>
            <a:off x="502920" y="3063240"/>
            <a:ext cx="8183880" cy="1325880"/>
          </a:xfrm>
          <a:prstGeom prst="roundRect">
            <a:avLst>
              <a:gd name="adj" fmla="val 4138"/>
            </a:avLst>
          </a:prstGeom>
          <a:solidFill>
            <a:srgbClr val="16191D"/>
          </a:solidFill>
          <a:ln w="12700">
            <a:solidFill>
              <a:srgbClr val="16191D"/>
            </a:solidFill>
            <a:prstDash val="solid"/>
          </a:ln>
        </p:spPr>
      </p:sp>
      <p:sp>
        <p:nvSpPr>
          <p:cNvPr id="13" name="Text 11"/>
          <p:cNvSpPr txBox="1"/>
          <p:nvPr/>
        </p:nvSpPr>
        <p:spPr>
          <a:xfrm>
            <a:off x="777240" y="3200400"/>
            <a:ext cx="768096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Every problem from the WhatsApp slide is now solved</a:t>
            </a:r>
            <a:endParaRPr lang="en-US" sz="1500" dirty="0"/>
          </a:p>
        </p:txBody>
      </p:sp>
      <p:sp>
        <p:nvSpPr>
          <p:cNvPr id="14" name="Text 12"/>
          <p:cNvSpPr txBox="1"/>
          <p:nvPr/>
        </p:nvSpPr>
        <p:spPr>
          <a:xfrm>
            <a:off x="777240" y="3566160"/>
            <a:ext cx="7680960" cy="685800"/>
          </a:xfrm>
          <a:prstGeom prst="rect">
            <a:avLst/>
          </a:prstGeom>
          <a:noFill/>
          <a:ln/>
        </p:spPr>
        <p:txBody>
          <a:bodyPr wrap="square" lIns="0" tIns="0" rIns="0" bIns="0" rtlCol="0" anchor="ctr"/>
          <a:lstStyle/>
          <a:p>
            <a:pPr indent="0" marL="0">
              <a:lnSpc>
                <a:spcPct val="145000"/>
              </a:lnSpc>
              <a:buNone/>
            </a:pPr>
            <a:r>
              <a:rPr lang="en-US" sz="1150" dirty="0">
                <a:solidFill>
                  <a:srgbClr val="C9D1D9"/>
                </a:solidFill>
                <a:latin typeface="Calibri" pitchFamily="34" charset="0"/>
                <a:ea typeface="Calibri" pitchFamily="34" charset="-122"/>
                <a:cs typeface="Calibri" pitchFamily="34" charset="-120"/>
              </a:rPr>
              <a:t>Which one is latest?  →  main, always.          Who changed this?  →  git log tells you, with a date.</a:t>
            </a:r>
            <a:endParaRPr lang="en-US" sz="1150" dirty="0"/>
          </a:p>
          <a:p>
            <a:pPr indent="0" marL="0">
              <a:lnSpc>
                <a:spcPct val="145000"/>
              </a:lnSpc>
              <a:buNone/>
            </a:pPr>
            <a:r>
              <a:rPr lang="en-US" sz="1150" dirty="0">
                <a:solidFill>
                  <a:srgbClr val="C9D1D9"/>
                </a:solidFill>
                <a:latin typeface="Calibri" pitchFamily="34" charset="0"/>
                <a:ea typeface="Calibri" pitchFamily="34" charset="-122"/>
                <a:cs typeface="Calibri" pitchFamily="34" charset="-120"/>
              </a:rPr>
              <a:t>Work overwritten?  →  impossible, separate branches.     Go back to Tuesday?  →  one command.</a:t>
            </a:r>
            <a:endParaRPr lang="en-US" sz="1150" dirty="0"/>
          </a:p>
        </p:txBody>
      </p:sp>
      <p:sp>
        <p:nvSpPr>
          <p:cNvPr id="15" name="Text 13"/>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NON-NEGOTIABLE FROM TODAY</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FFFFFF"/>
                </a:solidFill>
                <a:latin typeface="Arial" pitchFamily="34" charset="0"/>
                <a:ea typeface="Arial" pitchFamily="34" charset="-122"/>
                <a:cs typeface="Arial" pitchFamily="34" charset="-120"/>
              </a:rPr>
              <a:t>Four rules you follow from now on</a:t>
            </a:r>
            <a:endParaRPr lang="en-US" sz="2900" dirty="0"/>
          </a:p>
        </p:txBody>
      </p:sp>
      <p:sp>
        <p:nvSpPr>
          <p:cNvPr id="4" name="Shape 2"/>
          <p:cNvSpPr/>
          <p:nvPr/>
        </p:nvSpPr>
        <p:spPr>
          <a:xfrm>
            <a:off x="502920" y="1371600"/>
            <a:ext cx="8183880" cy="685800"/>
          </a:xfrm>
          <a:prstGeom prst="roundRect">
            <a:avLst>
              <a:gd name="adj" fmla="val 8000"/>
            </a:avLst>
          </a:prstGeom>
          <a:solidFill>
            <a:srgbClr val="20252B"/>
          </a:solidFill>
          <a:ln w="12700">
            <a:solidFill>
              <a:srgbClr val="3A424C"/>
            </a:solidFill>
            <a:prstDash val="solid"/>
          </a:ln>
        </p:spPr>
      </p:sp>
      <p:sp>
        <p:nvSpPr>
          <p:cNvPr id="5" name="Shape 3"/>
          <p:cNvSpPr/>
          <p:nvPr/>
        </p:nvSpPr>
        <p:spPr>
          <a:xfrm>
            <a:off x="713232" y="1517904"/>
            <a:ext cx="384048" cy="384048"/>
          </a:xfrm>
          <a:prstGeom prst="ellipse">
            <a:avLst/>
          </a:prstGeom>
          <a:solidFill>
            <a:srgbClr val="E04A29"/>
          </a:solidFill>
          <a:ln w="12700">
            <a:solidFill>
              <a:srgbClr val="E04A29"/>
            </a:solidFill>
            <a:prstDash val="solid"/>
          </a:ln>
        </p:spPr>
      </p:sp>
      <p:sp>
        <p:nvSpPr>
          <p:cNvPr id="6" name="Text 4"/>
          <p:cNvSpPr txBox="1"/>
          <p:nvPr/>
        </p:nvSpPr>
        <p:spPr>
          <a:xfrm>
            <a:off x="713232" y="1517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261872" y="1463040"/>
            <a:ext cx="3749040" cy="51206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Never commit directly to main</a:t>
            </a:r>
            <a:endParaRPr lang="en-US" sz="1400" dirty="0"/>
          </a:p>
        </p:txBody>
      </p:sp>
      <p:sp>
        <p:nvSpPr>
          <p:cNvPr id="8" name="Text 6"/>
          <p:cNvSpPr txBox="1"/>
          <p:nvPr/>
        </p:nvSpPr>
        <p:spPr>
          <a:xfrm>
            <a:off x="5120640" y="1463040"/>
            <a:ext cx="3383280" cy="512064"/>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Not "usually not". Never. Not even a typo fix.</a:t>
            </a:r>
            <a:endParaRPr lang="en-US" sz="1100" dirty="0"/>
          </a:p>
        </p:txBody>
      </p:sp>
      <p:sp>
        <p:nvSpPr>
          <p:cNvPr id="9" name="Shape 7"/>
          <p:cNvSpPr/>
          <p:nvPr/>
        </p:nvSpPr>
        <p:spPr>
          <a:xfrm>
            <a:off x="502920" y="2167128"/>
            <a:ext cx="8183880" cy="685800"/>
          </a:xfrm>
          <a:prstGeom prst="roundRect">
            <a:avLst>
              <a:gd name="adj" fmla="val 8000"/>
            </a:avLst>
          </a:prstGeom>
          <a:solidFill>
            <a:srgbClr val="20252B"/>
          </a:solidFill>
          <a:ln w="12700">
            <a:solidFill>
              <a:srgbClr val="3A424C"/>
            </a:solidFill>
            <a:prstDash val="solid"/>
          </a:ln>
        </p:spPr>
      </p:sp>
      <p:sp>
        <p:nvSpPr>
          <p:cNvPr id="10" name="Shape 8"/>
          <p:cNvSpPr/>
          <p:nvPr/>
        </p:nvSpPr>
        <p:spPr>
          <a:xfrm>
            <a:off x="713232" y="2313432"/>
            <a:ext cx="384048" cy="384048"/>
          </a:xfrm>
          <a:prstGeom prst="ellipse">
            <a:avLst/>
          </a:prstGeom>
          <a:solidFill>
            <a:srgbClr val="E04A29"/>
          </a:solidFill>
          <a:ln w="12700">
            <a:solidFill>
              <a:srgbClr val="E04A29"/>
            </a:solidFill>
            <a:prstDash val="solid"/>
          </a:ln>
        </p:spPr>
      </p:sp>
      <p:sp>
        <p:nvSpPr>
          <p:cNvPr id="11" name="Text 9"/>
          <p:cNvSpPr txBox="1"/>
          <p:nvPr/>
        </p:nvSpPr>
        <p:spPr>
          <a:xfrm>
            <a:off x="713232" y="2313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1261872" y="2258568"/>
            <a:ext cx="3749040" cy="51206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One branch per task</a:t>
            </a:r>
            <a:endParaRPr lang="en-US" sz="1400" dirty="0"/>
          </a:p>
        </p:txBody>
      </p:sp>
      <p:sp>
        <p:nvSpPr>
          <p:cNvPr id="13" name="Text 11"/>
          <p:cNvSpPr txBox="1"/>
          <p:nvPr/>
        </p:nvSpPr>
        <p:spPr>
          <a:xfrm>
            <a:off x="5120640" y="2258568"/>
            <a:ext cx="3383280" cy="512064"/>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New task, new branch — off an up-to-date main.</a:t>
            </a:r>
            <a:endParaRPr lang="en-US" sz="1100" dirty="0"/>
          </a:p>
        </p:txBody>
      </p:sp>
      <p:sp>
        <p:nvSpPr>
          <p:cNvPr id="14" name="Shape 12"/>
          <p:cNvSpPr/>
          <p:nvPr/>
        </p:nvSpPr>
        <p:spPr>
          <a:xfrm>
            <a:off x="502920" y="2962656"/>
            <a:ext cx="8183880" cy="685800"/>
          </a:xfrm>
          <a:prstGeom prst="roundRect">
            <a:avLst>
              <a:gd name="adj" fmla="val 8000"/>
            </a:avLst>
          </a:prstGeom>
          <a:solidFill>
            <a:srgbClr val="20252B"/>
          </a:solidFill>
          <a:ln w="12700">
            <a:solidFill>
              <a:srgbClr val="3A424C"/>
            </a:solidFill>
            <a:prstDash val="solid"/>
          </a:ln>
        </p:spPr>
      </p:sp>
      <p:sp>
        <p:nvSpPr>
          <p:cNvPr id="15" name="Shape 13"/>
          <p:cNvSpPr/>
          <p:nvPr/>
        </p:nvSpPr>
        <p:spPr>
          <a:xfrm>
            <a:off x="713232" y="3108960"/>
            <a:ext cx="384048" cy="384048"/>
          </a:xfrm>
          <a:prstGeom prst="ellipse">
            <a:avLst/>
          </a:prstGeom>
          <a:solidFill>
            <a:srgbClr val="E04A29"/>
          </a:solidFill>
          <a:ln w="12700">
            <a:solidFill>
              <a:srgbClr val="E04A29"/>
            </a:solidFill>
            <a:prstDash val="solid"/>
          </a:ln>
        </p:spPr>
      </p:sp>
      <p:sp>
        <p:nvSpPr>
          <p:cNvPr id="16" name="Text 14"/>
          <p:cNvSpPr txBox="1"/>
          <p:nvPr/>
        </p:nvSpPr>
        <p:spPr>
          <a:xfrm>
            <a:off x="713232"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1261872" y="3054096"/>
            <a:ext cx="3749040" cy="51206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Pull main before you branch</a:t>
            </a:r>
            <a:endParaRPr lang="en-US" sz="1400" dirty="0"/>
          </a:p>
        </p:txBody>
      </p:sp>
      <p:sp>
        <p:nvSpPr>
          <p:cNvPr id="18" name="Text 16"/>
          <p:cNvSpPr txBox="1"/>
          <p:nvPr/>
        </p:nvSpPr>
        <p:spPr>
          <a:xfrm>
            <a:off x="5120640" y="3054096"/>
            <a:ext cx="3383280" cy="512064"/>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Start from today's code, not last week's.</a:t>
            </a:r>
            <a:endParaRPr lang="en-US" sz="1100" dirty="0"/>
          </a:p>
        </p:txBody>
      </p:sp>
      <p:sp>
        <p:nvSpPr>
          <p:cNvPr id="19" name="Shape 17"/>
          <p:cNvSpPr/>
          <p:nvPr/>
        </p:nvSpPr>
        <p:spPr>
          <a:xfrm>
            <a:off x="502920" y="3758184"/>
            <a:ext cx="8183880" cy="685800"/>
          </a:xfrm>
          <a:prstGeom prst="roundRect">
            <a:avLst>
              <a:gd name="adj" fmla="val 8000"/>
            </a:avLst>
          </a:prstGeom>
          <a:solidFill>
            <a:srgbClr val="20252B"/>
          </a:solidFill>
          <a:ln w="12700">
            <a:solidFill>
              <a:srgbClr val="3A424C"/>
            </a:solidFill>
            <a:prstDash val="solid"/>
          </a:ln>
        </p:spPr>
      </p:sp>
      <p:sp>
        <p:nvSpPr>
          <p:cNvPr id="20" name="Shape 18"/>
          <p:cNvSpPr/>
          <p:nvPr/>
        </p:nvSpPr>
        <p:spPr>
          <a:xfrm>
            <a:off x="713232" y="3904488"/>
            <a:ext cx="384048" cy="384048"/>
          </a:xfrm>
          <a:prstGeom prst="ellipse">
            <a:avLst/>
          </a:prstGeom>
          <a:solidFill>
            <a:srgbClr val="E04A29"/>
          </a:solidFill>
          <a:ln w="12700">
            <a:solidFill>
              <a:srgbClr val="E04A29"/>
            </a:solidFill>
            <a:prstDash val="solid"/>
          </a:ln>
        </p:spPr>
      </p:sp>
      <p:sp>
        <p:nvSpPr>
          <p:cNvPr id="21" name="Text 19"/>
          <p:cNvSpPr txBox="1"/>
          <p:nvPr/>
        </p:nvSpPr>
        <p:spPr>
          <a:xfrm>
            <a:off x="713232" y="3904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20"/>
          <p:cNvSpPr txBox="1"/>
          <p:nvPr/>
        </p:nvSpPr>
        <p:spPr>
          <a:xfrm>
            <a:off x="1261872" y="3849624"/>
            <a:ext cx="3749040" cy="51206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Commit small, commit often</a:t>
            </a:r>
            <a:endParaRPr lang="en-US" sz="1400" dirty="0"/>
          </a:p>
        </p:txBody>
      </p:sp>
      <p:sp>
        <p:nvSpPr>
          <p:cNvPr id="23" name="Text 21"/>
          <p:cNvSpPr txBox="1"/>
          <p:nvPr/>
        </p:nvSpPr>
        <p:spPr>
          <a:xfrm>
            <a:off x="5120640" y="3849624"/>
            <a:ext cx="3383280" cy="512064"/>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One idea per commit, with a message a human can read.</a:t>
            </a:r>
            <a:endParaRPr lang="en-US" sz="1100" dirty="0"/>
          </a:p>
        </p:txBody>
      </p:sp>
      <p:sp>
        <p:nvSpPr>
          <p:cNvPr id="24" name="Text 22"/>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5A6572"/>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BEFORE THE NEXT SESSION</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FFFFFF"/>
                </a:solidFill>
                <a:latin typeface="Arial" pitchFamily="34" charset="0"/>
                <a:ea typeface="Arial" pitchFamily="34" charset="-122"/>
                <a:cs typeface="Arial" pitchFamily="34" charset="-120"/>
              </a:rPr>
              <a:t>Do this tonight — with a partner</a:t>
            </a:r>
            <a:endParaRPr lang="en-US" sz="3000" dirty="0"/>
          </a:p>
        </p:txBody>
      </p:sp>
      <p:sp>
        <p:nvSpPr>
          <p:cNvPr id="4" name="Shape 2"/>
          <p:cNvSpPr/>
          <p:nvPr/>
        </p:nvSpPr>
        <p:spPr>
          <a:xfrm>
            <a:off x="502920" y="1325880"/>
            <a:ext cx="4937760" cy="2423160"/>
          </a:xfrm>
          <a:prstGeom prst="roundRect">
            <a:avLst>
              <a:gd name="adj" fmla="val 2264"/>
            </a:avLst>
          </a:prstGeom>
          <a:solidFill>
            <a:srgbClr val="20252B"/>
          </a:solidFill>
          <a:ln w="12700">
            <a:solidFill>
              <a:srgbClr val="3A424C"/>
            </a:solidFill>
            <a:prstDash val="solid"/>
          </a:ln>
        </p:spPr>
      </p:sp>
      <p:sp>
        <p:nvSpPr>
          <p:cNvPr id="5" name="Text 3"/>
          <p:cNvSpPr txBox="1"/>
          <p:nvPr/>
        </p:nvSpPr>
        <p:spPr>
          <a:xfrm>
            <a:off x="777240" y="1508760"/>
            <a:ext cx="4480560" cy="2103120"/>
          </a:xfrm>
          <a:prstGeom prst="rect">
            <a:avLst/>
          </a:prstGeom>
          <a:noFill/>
          <a:ln/>
        </p:spPr>
        <p:txBody>
          <a:bodyPr wrap="square" lIns="0" tIns="0" rIns="0" bIns="0" rtlCol="0" anchor="t"/>
          <a:lstStyle/>
          <a:p>
            <a:pPr marL="177800" indent="-177800">
              <a:spcAft>
                <a:spcPts val="900"/>
              </a:spcAft>
              <a:buSzPct val="100000"/>
              <a:buChar char="•"/>
            </a:pPr>
            <a:r>
              <a:rPr lang="en-US" sz="1150" dirty="0">
                <a:solidFill>
                  <a:srgbClr val="C9D1D9"/>
                </a:solidFill>
                <a:latin typeface="Calibri" pitchFamily="34" charset="0"/>
                <a:ea typeface="Calibri" pitchFamily="34" charset="-122"/>
                <a:cs typeface="Calibri" pitchFamily="34" charset="-120"/>
              </a:rPr>
              <a:t>Pair up. One of you creates a repo called campuscart-practice</a:t>
            </a:r>
            <a:endParaRPr lang="en-US" sz="1150" dirty="0"/>
          </a:p>
          <a:p>
            <a:pPr marL="177800" indent="-177800">
              <a:spcAft>
                <a:spcPts val="900"/>
              </a:spcAft>
              <a:buSzPct val="100000"/>
              <a:buChar char="•"/>
            </a:pPr>
            <a:r>
              <a:rPr lang="en-US" sz="1150" dirty="0">
                <a:solidFill>
                  <a:srgbClr val="C9D1D9"/>
                </a:solidFill>
                <a:latin typeface="Calibri" pitchFamily="34" charset="0"/>
                <a:ea typeface="Calibri" pitchFamily="34" charset="-122"/>
                <a:cs typeface="Calibri" pitchFamily="34" charset="-120"/>
              </a:rPr>
              <a:t>Add your partner as a collaborator with Write access</a:t>
            </a:r>
            <a:endParaRPr lang="en-US" sz="1150" dirty="0"/>
          </a:p>
          <a:p>
            <a:pPr marL="177800" indent="-177800">
              <a:spcAft>
                <a:spcPts val="900"/>
              </a:spcAft>
              <a:buSzPct val="100000"/>
              <a:buChar char="•"/>
            </a:pPr>
            <a:r>
              <a:rPr lang="en-US" sz="1150" dirty="0">
                <a:solidFill>
                  <a:srgbClr val="C9D1D9"/>
                </a:solidFill>
                <a:latin typeface="Calibri" pitchFamily="34" charset="0"/>
                <a:ea typeface="Calibri" pitchFamily="34" charset="-122"/>
                <a:cs typeface="Calibri" pitchFamily="34" charset="-120"/>
              </a:rPr>
              <a:t>Partner clones it — check git log shows YOUR commit</a:t>
            </a:r>
            <a:endParaRPr lang="en-US" sz="1150" dirty="0"/>
          </a:p>
          <a:p>
            <a:pPr marL="177800" indent="-177800">
              <a:spcAft>
                <a:spcPts val="900"/>
              </a:spcAft>
              <a:buSzPct val="100000"/>
              <a:buChar char="•"/>
            </a:pPr>
            <a:r>
              <a:rPr lang="en-US" sz="1150" dirty="0">
                <a:solidFill>
                  <a:srgbClr val="C9D1D9"/>
                </a:solidFill>
                <a:latin typeface="Calibri" pitchFamily="34" charset="0"/>
                <a:ea typeface="Calibri" pitchFamily="34" charset="-122"/>
                <a:cs typeface="Calibri" pitchFamily="34" charset="-120"/>
              </a:rPr>
              <a:t>Each of you creates a branch off main: feature/your-name</a:t>
            </a:r>
            <a:endParaRPr lang="en-US" sz="1150" dirty="0"/>
          </a:p>
          <a:p>
            <a:pPr marL="177800" indent="-177800">
              <a:spcAft>
                <a:spcPts val="900"/>
              </a:spcAft>
              <a:buSzPct val="100000"/>
              <a:buChar char="•"/>
            </a:pPr>
            <a:r>
              <a:rPr lang="en-US" sz="1150" dirty="0">
                <a:solidFill>
                  <a:srgbClr val="C9D1D9"/>
                </a:solidFill>
                <a:latin typeface="Calibri" pitchFamily="34" charset="0"/>
                <a:ea typeface="Calibri" pitchFamily="34" charset="-122"/>
                <a:cs typeface="Calibri" pitchFamily="34" charset="-120"/>
              </a:rPr>
              <a:t>Each of you commits something and pushes the branch</a:t>
            </a:r>
            <a:endParaRPr lang="en-US" sz="1150" dirty="0"/>
          </a:p>
          <a:p>
            <a:pPr marL="177800" indent="-177800">
              <a:spcAft>
                <a:spcPts val="900"/>
              </a:spcAft>
              <a:buSzPct val="100000"/>
              <a:buChar char="•"/>
            </a:pPr>
            <a:r>
              <a:rPr lang="en-US" sz="1150" dirty="0">
                <a:solidFill>
                  <a:srgbClr val="C9D1D9"/>
                </a:solidFill>
                <a:latin typeface="Calibri" pitchFamily="34" charset="0"/>
                <a:ea typeface="Calibri" pitchFamily="34" charset="-122"/>
                <a:cs typeface="Calibri" pitchFamily="34" charset="-120"/>
              </a:rPr>
              <a:t>Confirm on GitHub: 3 branches, main untouched</a:t>
            </a:r>
            <a:endParaRPr lang="en-US" sz="1150" dirty="0"/>
          </a:p>
        </p:txBody>
      </p:sp>
      <p:sp>
        <p:nvSpPr>
          <p:cNvPr id="6" name="Shape 4"/>
          <p:cNvSpPr/>
          <p:nvPr/>
        </p:nvSpPr>
        <p:spPr>
          <a:xfrm>
            <a:off x="5715000" y="1325880"/>
            <a:ext cx="2971800" cy="2423160"/>
          </a:xfrm>
          <a:prstGeom prst="roundRect">
            <a:avLst>
              <a:gd name="adj" fmla="val 2264"/>
            </a:avLst>
          </a:prstGeom>
          <a:solidFill>
            <a:srgbClr val="2E2A1F"/>
          </a:solidFill>
          <a:ln w="12700">
            <a:solidFill>
              <a:srgbClr val="5A5034"/>
            </a:solidFill>
            <a:prstDash val="solid"/>
          </a:ln>
        </p:spPr>
      </p:sp>
      <p:sp>
        <p:nvSpPr>
          <p:cNvPr id="7" name="Text 5"/>
          <p:cNvSpPr txBox="1"/>
          <p:nvPr/>
        </p:nvSpPr>
        <p:spPr>
          <a:xfrm>
            <a:off x="5943600" y="1463040"/>
            <a:ext cx="2560320" cy="237744"/>
          </a:xfrm>
          <a:prstGeom prst="rect">
            <a:avLst/>
          </a:prstGeom>
          <a:noFill/>
          <a:ln/>
        </p:spPr>
        <p:txBody>
          <a:bodyPr wrap="square" lIns="0" tIns="0" rIns="0" bIns="0" rtlCol="0" anchor="ctr"/>
          <a:lstStyle/>
          <a:p>
            <a:pPr indent="0" marL="0">
              <a:buNone/>
            </a:pPr>
            <a:r>
              <a:rPr lang="en-US" sz="950" b="1" spc="180" kern="0" dirty="0">
                <a:solidFill>
                  <a:srgbClr val="FFAA64"/>
                </a:solidFill>
                <a:latin typeface="Arial" pitchFamily="34" charset="0"/>
                <a:ea typeface="Arial" pitchFamily="34" charset="-122"/>
                <a:cs typeface="Arial" pitchFamily="34" charset="-120"/>
              </a:rPr>
              <a:t>NEXT SESSION</a:t>
            </a:r>
            <a:endParaRPr lang="en-US" sz="950" dirty="0"/>
          </a:p>
        </p:txBody>
      </p:sp>
      <p:sp>
        <p:nvSpPr>
          <p:cNvPr id="8" name="Text 6"/>
          <p:cNvSpPr txBox="1"/>
          <p:nvPr/>
        </p:nvSpPr>
        <p:spPr>
          <a:xfrm>
            <a:off x="5943600" y="1755648"/>
            <a:ext cx="2560320" cy="548640"/>
          </a:xfrm>
          <a:prstGeom prst="rect">
            <a:avLst/>
          </a:prstGeom>
          <a:noFill/>
          <a:ln/>
        </p:spPr>
        <p:txBody>
          <a:bodyPr wrap="square" lIns="0" tIns="0" rIns="0" bIns="0" rtlCol="0" anchor="ctr"/>
          <a:lstStyle/>
          <a:p>
            <a:pPr indent="0" marL="0">
              <a:lnSpc>
                <a:spcPct val="120000"/>
              </a:lnSpc>
              <a:buNone/>
            </a:pPr>
            <a:r>
              <a:rPr lang="en-US" sz="1400" b="1" dirty="0">
                <a:solidFill>
                  <a:srgbClr val="FFFFFF"/>
                </a:solidFill>
                <a:latin typeface="Arial" pitchFamily="34" charset="0"/>
                <a:ea typeface="Arial" pitchFamily="34" charset="-122"/>
                <a:cs typeface="Arial" pitchFamily="34" charset="-120"/>
              </a:rPr>
              <a:t>Those two branches have to become one project again.</a:t>
            </a:r>
            <a:endParaRPr lang="en-US" sz="1400" dirty="0"/>
          </a:p>
        </p:txBody>
      </p:sp>
      <p:sp>
        <p:nvSpPr>
          <p:cNvPr id="9" name="Text 7"/>
          <p:cNvSpPr txBox="1"/>
          <p:nvPr/>
        </p:nvSpPr>
        <p:spPr>
          <a:xfrm>
            <a:off x="5943600" y="2377440"/>
            <a:ext cx="2560320" cy="1234440"/>
          </a:xfrm>
          <a:prstGeom prst="rect">
            <a:avLst/>
          </a:prstGeom>
          <a:noFill/>
          <a:ln/>
        </p:spPr>
        <p:txBody>
          <a:bodyPr wrap="square" lIns="0" tIns="0" rIns="0" bIns="0" rtlCol="0" anchor="ctr"/>
          <a:lstStyle/>
          <a:p>
            <a:pPr indent="0" marL="0">
              <a:lnSpc>
                <a:spcPct val="130000"/>
              </a:lnSpc>
              <a:buNone/>
            </a:pPr>
            <a:r>
              <a:rPr lang="en-US" sz="1100" dirty="0">
                <a:solidFill>
                  <a:srgbClr val="C9D1D9"/>
                </a:solidFill>
                <a:latin typeface="Calibri" pitchFamily="34" charset="0"/>
                <a:ea typeface="Calibri" pitchFamily="34" charset="-122"/>
                <a:cs typeface="Calibri" pitchFamily="34" charset="-120"/>
              </a:rPr>
              <a:t>Pull Requests, code review, and what happens when two people edited the same file.</a:t>
            </a:r>
            <a:endParaRPr lang="en-US" sz="1100" dirty="0"/>
          </a:p>
          <a:p>
            <a:pPr indent="0" marL="0">
              <a:lnSpc>
                <a:spcPct val="130000"/>
              </a:lnSpc>
              <a:buNone/>
            </a:pPr>
            <a:endParaRPr lang="en-US" sz="1100" dirty="0"/>
          </a:p>
          <a:p>
            <a:pPr indent="0" marL="0">
              <a:lnSpc>
                <a:spcPct val="130000"/>
              </a:lnSpc>
              <a:buNone/>
            </a:pPr>
            <a:r>
              <a:rPr lang="en-US" sz="1100" dirty="0">
                <a:solidFill>
                  <a:srgbClr val="C9D1D9"/>
                </a:solidFill>
                <a:latin typeface="Calibri" pitchFamily="34" charset="0"/>
                <a:ea typeface="Calibri" pitchFamily="34" charset="-122"/>
                <a:cs typeface="Calibri" pitchFamily="34" charset="-120"/>
              </a:rPr>
              <a:t>Bring your laptop.</a:t>
            </a:r>
            <a:endParaRPr lang="en-US" sz="1100" dirty="0"/>
          </a:p>
        </p:txBody>
      </p:sp>
      <p:sp>
        <p:nvSpPr>
          <p:cNvPr id="10" name="Shape 8"/>
          <p:cNvSpPr/>
          <p:nvPr/>
        </p:nvSpPr>
        <p:spPr>
          <a:xfrm>
            <a:off x="502920" y="3886200"/>
            <a:ext cx="8183880" cy="548640"/>
          </a:xfrm>
          <a:prstGeom prst="roundRect">
            <a:avLst>
              <a:gd name="adj" fmla="val 10000"/>
            </a:avLst>
          </a:prstGeom>
          <a:solidFill>
            <a:srgbClr val="20252B"/>
          </a:solidFill>
          <a:ln w="12700">
            <a:solidFill>
              <a:srgbClr val="3A424C"/>
            </a:solidFill>
            <a:prstDash val="solid"/>
          </a:ln>
        </p:spPr>
      </p:sp>
      <p:sp>
        <p:nvSpPr>
          <p:cNvPr id="11" name="Text 9"/>
          <p:cNvSpPr txBox="1"/>
          <p:nvPr/>
        </p:nvSpPr>
        <p:spPr>
          <a:xfrm>
            <a:off x="777240" y="3886200"/>
            <a:ext cx="7772400" cy="548640"/>
          </a:xfrm>
          <a:prstGeom prst="rect">
            <a:avLst/>
          </a:prstGeom>
          <a:noFill/>
          <a:ln/>
        </p:spPr>
        <p:txBody>
          <a:bodyPr wrap="square" lIns="0" tIns="0" rIns="0" bIns="0" rtlCol="0" anchor="ctr"/>
          <a:lstStyle/>
          <a:p>
            <a:pPr indent="0" marL="0">
              <a:buNone/>
            </a:pPr>
            <a:r>
              <a:rPr lang="en-US" sz="1150" i="1" dirty="0">
                <a:solidFill>
                  <a:srgbClr val="8B949E"/>
                </a:solidFill>
                <a:latin typeface="Calibri" pitchFamily="34" charset="0"/>
                <a:ea typeface="Calibri" pitchFamily="34" charset="-122"/>
                <a:cs typeface="Calibri" pitchFamily="34" charset="-120"/>
              </a:rPr>
              <a:t>Stuck? Bring the exact error message to class. Reading errors is half of being a developer.</a:t>
            </a:r>
            <a:endParaRPr lang="en-US" sz="1150" dirty="0"/>
          </a:p>
        </p:txBody>
      </p:sp>
      <p:sp>
        <p:nvSpPr>
          <p:cNvPr id="12" name="Text 10"/>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5A6572"/>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KSR Trainings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&amp; GitHub — Working as a Team (Session 1)</dc:title>
  <dc:subject>KSR Trainings · Python Full Stack</dc:subject>
  <dc:creator>KSR Trainings</dc:creator>
  <cp:lastModifiedBy>KSR Trainings</cp:lastModifiedBy>
  <cp:revision>1</cp:revision>
  <dcterms:created xsi:type="dcterms:W3CDTF">2026-09-14T14:53:34Z</dcterms:created>
  <dcterms:modified xsi:type="dcterms:W3CDTF">2026-09-14T14:53:34Z</dcterms:modified>
</cp:coreProperties>
</file>